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9.xml" ContentType="application/vnd.openxmlformats-officedocument.presentationml.notesSlide+xml"/>
  <Override PartName="/ppt/tags/tag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tags/tag8.xml" ContentType="application/vnd.openxmlformats-officedocument.presentationml.tags+xml"/>
  <Override PartName="/ppt/notesSlides/notesSlide16.xml" ContentType="application/vnd.openxmlformats-officedocument.presentationml.notesSlide+xml"/>
  <Override PartName="/ppt/tags/tag9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076138130" r:id="rId3"/>
    <p:sldId id="349" r:id="rId4"/>
    <p:sldId id="402" r:id="rId5"/>
    <p:sldId id="2076138114" r:id="rId6"/>
    <p:sldId id="2076138053" r:id="rId7"/>
    <p:sldId id="2076138117" r:id="rId8"/>
    <p:sldId id="2076138002" r:id="rId9"/>
    <p:sldId id="363" r:id="rId10"/>
    <p:sldId id="406" r:id="rId11"/>
    <p:sldId id="417" r:id="rId12"/>
    <p:sldId id="327" r:id="rId13"/>
    <p:sldId id="2147483578" r:id="rId14"/>
    <p:sldId id="2147483574" r:id="rId15"/>
    <p:sldId id="2147483572" r:id="rId16"/>
    <p:sldId id="394" r:id="rId17"/>
    <p:sldId id="410" r:id="rId18"/>
    <p:sldId id="2076138010" r:id="rId19"/>
    <p:sldId id="2147483576" r:id="rId20"/>
    <p:sldId id="2076138134" r:id="rId21"/>
    <p:sldId id="2147483579" r:id="rId22"/>
    <p:sldId id="2076138125" r:id="rId23"/>
    <p:sldId id="2076138129" r:id="rId24"/>
    <p:sldId id="265" r:id="rId25"/>
    <p:sldId id="260" r:id="rId26"/>
    <p:sldId id="259" r:id="rId27"/>
    <p:sldId id="2147483580" r:id="rId28"/>
    <p:sldId id="2076137996" r:id="rId29"/>
    <p:sldId id="2076138120" r:id="rId30"/>
    <p:sldId id="2076138118" r:id="rId31"/>
    <p:sldId id="415" r:id="rId32"/>
    <p:sldId id="2076138123" r:id="rId33"/>
    <p:sldId id="39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D3FF"/>
    <a:srgbClr val="4F4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85714" autoAdjust="0"/>
  </p:normalViewPr>
  <p:slideViewPr>
    <p:cSldViewPr snapToGrid="0">
      <p:cViewPr varScale="1">
        <p:scale>
          <a:sx n="126" d="100"/>
          <a:sy n="126" d="100"/>
        </p:scale>
        <p:origin x="149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icrosoft-my.sharepoint.com/personal/harshasi_microsoft_com/Documents/SIFT_1M_100M_exp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100M</a:t>
            </a:r>
            <a:r>
              <a:rPr lang="en-US" baseline="0"/>
              <a:t> point BIGANN dataset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1"/>
          <c:order val="0"/>
          <c:tx>
            <c:v>DiskANN graph 64 degree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SIFT100M!$G$32:$G$43</c:f>
              <c:numCache>
                <c:formatCode>General</c:formatCode>
                <c:ptCount val="12"/>
                <c:pt idx="0">
                  <c:v>75.14</c:v>
                </c:pt>
                <c:pt idx="1">
                  <c:v>86.15</c:v>
                </c:pt>
                <c:pt idx="2">
                  <c:v>90.94</c:v>
                </c:pt>
                <c:pt idx="3">
                  <c:v>93.5</c:v>
                </c:pt>
                <c:pt idx="4">
                  <c:v>95.06</c:v>
                </c:pt>
                <c:pt idx="5">
                  <c:v>96.12</c:v>
                </c:pt>
                <c:pt idx="6">
                  <c:v>96.9</c:v>
                </c:pt>
                <c:pt idx="7">
                  <c:v>97.46</c:v>
                </c:pt>
                <c:pt idx="8">
                  <c:v>97.85</c:v>
                </c:pt>
                <c:pt idx="9">
                  <c:v>98.14</c:v>
                </c:pt>
                <c:pt idx="10">
                  <c:v>98.38</c:v>
                </c:pt>
                <c:pt idx="11">
                  <c:v>98.59</c:v>
                </c:pt>
              </c:numCache>
            </c:numRef>
          </c:xVal>
          <c:yVal>
            <c:numRef>
              <c:f>SIFT100M!$D$32:$D$43</c:f>
              <c:numCache>
                <c:formatCode>General</c:formatCode>
                <c:ptCount val="12"/>
                <c:pt idx="0">
                  <c:v>976.88</c:v>
                </c:pt>
                <c:pt idx="1">
                  <c:v>1410.38</c:v>
                </c:pt>
                <c:pt idx="2">
                  <c:v>1824.3</c:v>
                </c:pt>
                <c:pt idx="3">
                  <c:v>2226.66</c:v>
                </c:pt>
                <c:pt idx="4">
                  <c:v>2622.72</c:v>
                </c:pt>
                <c:pt idx="5">
                  <c:v>3012.36</c:v>
                </c:pt>
                <c:pt idx="6">
                  <c:v>3396.89</c:v>
                </c:pt>
                <c:pt idx="7">
                  <c:v>3775.88</c:v>
                </c:pt>
                <c:pt idx="8">
                  <c:v>4147.1899999999996</c:v>
                </c:pt>
                <c:pt idx="9">
                  <c:v>4516.95</c:v>
                </c:pt>
                <c:pt idx="10">
                  <c:v>4880.5200000000004</c:v>
                </c:pt>
                <c:pt idx="11">
                  <c:v>5240.7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84C-4B3C-966D-621E26A5EB24}"/>
            </c:ext>
          </c:extLst>
        </c:ser>
        <c:ser>
          <c:idx val="2"/>
          <c:order val="1"/>
          <c:tx>
            <c:v>Clustering (10K centers)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SIFT100M!$C$14:$C$20</c:f>
              <c:numCache>
                <c:formatCode>General</c:formatCode>
                <c:ptCount val="7"/>
                <c:pt idx="0">
                  <c:v>36.816000000000003</c:v>
                </c:pt>
                <c:pt idx="1">
                  <c:v>54.021999999999991</c:v>
                </c:pt>
                <c:pt idx="2">
                  <c:v>71.318000000000012</c:v>
                </c:pt>
                <c:pt idx="3">
                  <c:v>84.962000000000003</c:v>
                </c:pt>
                <c:pt idx="4">
                  <c:v>93.703999999999994</c:v>
                </c:pt>
                <c:pt idx="5">
                  <c:v>98.059999999999988</c:v>
                </c:pt>
                <c:pt idx="6">
                  <c:v>99.481999999999999</c:v>
                </c:pt>
              </c:numCache>
            </c:numRef>
          </c:xVal>
          <c:yVal>
            <c:numRef>
              <c:f>SIFT100M!$D$14:$D$20</c:f>
              <c:numCache>
                <c:formatCode>General</c:formatCode>
                <c:ptCount val="7"/>
                <c:pt idx="0">
                  <c:v>2000</c:v>
                </c:pt>
                <c:pt idx="1">
                  <c:v>4000</c:v>
                </c:pt>
                <c:pt idx="2">
                  <c:v>8000</c:v>
                </c:pt>
                <c:pt idx="3">
                  <c:v>16000</c:v>
                </c:pt>
                <c:pt idx="4">
                  <c:v>32000</c:v>
                </c:pt>
                <c:pt idx="5">
                  <c:v>64000</c:v>
                </c:pt>
                <c:pt idx="6">
                  <c:v>128000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84C-4B3C-966D-621E26A5EB24}"/>
            </c:ext>
          </c:extLst>
        </c:ser>
        <c:ser>
          <c:idx val="0"/>
          <c:order val="2"/>
          <c:tx>
            <c:v>Cross-Polytope LSH (FALCON)</c:v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SIFT100M!$I$48:$I$95</c:f>
              <c:numCache>
                <c:formatCode>General</c:formatCode>
                <c:ptCount val="48"/>
                <c:pt idx="0">
                  <c:v>96.12</c:v>
                </c:pt>
                <c:pt idx="1">
                  <c:v>86.66</c:v>
                </c:pt>
                <c:pt idx="2">
                  <c:v>92.96</c:v>
                </c:pt>
                <c:pt idx="3">
                  <c:v>78.100000000000009</c:v>
                </c:pt>
                <c:pt idx="4">
                  <c:v>96.92</c:v>
                </c:pt>
                <c:pt idx="5">
                  <c:v>89.9</c:v>
                </c:pt>
                <c:pt idx="6">
                  <c:v>95.009999999999991</c:v>
                </c:pt>
                <c:pt idx="7">
                  <c:v>81.93</c:v>
                </c:pt>
                <c:pt idx="8">
                  <c:v>97.960000000000008</c:v>
                </c:pt>
                <c:pt idx="9">
                  <c:v>86.550000000000011</c:v>
                </c:pt>
                <c:pt idx="10">
                  <c:v>93.28</c:v>
                </c:pt>
                <c:pt idx="11">
                  <c:v>77.61</c:v>
                </c:pt>
                <c:pt idx="12">
                  <c:v>96.98</c:v>
                </c:pt>
                <c:pt idx="13">
                  <c:v>82.33</c:v>
                </c:pt>
                <c:pt idx="14">
                  <c:v>89.51</c:v>
                </c:pt>
                <c:pt idx="15">
                  <c:v>72.8</c:v>
                </c:pt>
                <c:pt idx="16">
                  <c:v>94.96</c:v>
                </c:pt>
                <c:pt idx="17">
                  <c:v>88.4</c:v>
                </c:pt>
                <c:pt idx="18">
                  <c:v>94.399999999999991</c:v>
                </c:pt>
                <c:pt idx="19">
                  <c:v>79.92</c:v>
                </c:pt>
                <c:pt idx="20">
                  <c:v>97.8</c:v>
                </c:pt>
                <c:pt idx="21">
                  <c:v>84.88</c:v>
                </c:pt>
                <c:pt idx="22">
                  <c:v>91.74</c:v>
                </c:pt>
                <c:pt idx="23">
                  <c:v>75.98</c:v>
                </c:pt>
                <c:pt idx="24">
                  <c:v>96.12</c:v>
                </c:pt>
                <c:pt idx="25">
                  <c:v>86.66</c:v>
                </c:pt>
                <c:pt idx="26">
                  <c:v>92.96</c:v>
                </c:pt>
                <c:pt idx="27">
                  <c:v>78.100000000000009</c:v>
                </c:pt>
                <c:pt idx="28">
                  <c:v>96.92</c:v>
                </c:pt>
                <c:pt idx="29">
                  <c:v>89.9</c:v>
                </c:pt>
                <c:pt idx="30">
                  <c:v>95.009999999999991</c:v>
                </c:pt>
                <c:pt idx="31">
                  <c:v>81.93</c:v>
                </c:pt>
                <c:pt idx="32">
                  <c:v>97.960000000000008</c:v>
                </c:pt>
                <c:pt idx="33">
                  <c:v>86.550000000000011</c:v>
                </c:pt>
                <c:pt idx="34">
                  <c:v>93.28</c:v>
                </c:pt>
                <c:pt idx="35">
                  <c:v>77.61</c:v>
                </c:pt>
                <c:pt idx="36">
                  <c:v>96.98</c:v>
                </c:pt>
                <c:pt idx="37">
                  <c:v>82.33</c:v>
                </c:pt>
                <c:pt idx="38">
                  <c:v>89.51</c:v>
                </c:pt>
                <c:pt idx="39">
                  <c:v>72.8</c:v>
                </c:pt>
                <c:pt idx="40">
                  <c:v>94.96</c:v>
                </c:pt>
                <c:pt idx="41">
                  <c:v>84.350000000000009</c:v>
                </c:pt>
                <c:pt idx="42">
                  <c:v>91.33</c:v>
                </c:pt>
                <c:pt idx="43">
                  <c:v>75.11</c:v>
                </c:pt>
                <c:pt idx="44">
                  <c:v>95.740000000000009</c:v>
                </c:pt>
                <c:pt idx="45">
                  <c:v>87.570000000000007</c:v>
                </c:pt>
                <c:pt idx="46">
                  <c:v>93.51</c:v>
                </c:pt>
                <c:pt idx="47">
                  <c:v>78.95</c:v>
                </c:pt>
              </c:numCache>
            </c:numRef>
          </c:xVal>
          <c:yVal>
            <c:numRef>
              <c:f>SIFT100M!$H$48:$H$96</c:f>
              <c:numCache>
                <c:formatCode>General</c:formatCode>
                <c:ptCount val="49"/>
                <c:pt idx="0">
                  <c:v>1703905.6832000001</c:v>
                </c:pt>
                <c:pt idx="1">
                  <c:v>932603.80350000004</c:v>
                </c:pt>
                <c:pt idx="2">
                  <c:v>1404776.4996</c:v>
                </c:pt>
                <c:pt idx="3">
                  <c:v>615321.45169999998</c:v>
                </c:pt>
                <c:pt idx="4">
                  <c:v>2097478.5655</c:v>
                </c:pt>
                <c:pt idx="5">
                  <c:v>1418912.6724</c:v>
                </c:pt>
                <c:pt idx="6">
                  <c:v>2115158.9208999998</c:v>
                </c:pt>
                <c:pt idx="7">
                  <c:v>943559.43070000003</c:v>
                </c:pt>
                <c:pt idx="8">
                  <c:v>3133357.7324999999</c:v>
                </c:pt>
                <c:pt idx="9">
                  <c:v>1150119.1274000001</c:v>
                </c:pt>
                <c:pt idx="10">
                  <c:v>1719539.4484000001</c:v>
                </c:pt>
                <c:pt idx="11">
                  <c:v>762975.8835</c:v>
                </c:pt>
                <c:pt idx="12">
                  <c:v>2539770.8988999999</c:v>
                </c:pt>
                <c:pt idx="13">
                  <c:v>737708.50959999999</c:v>
                </c:pt>
                <c:pt idx="14">
                  <c:v>1106455.6972000001</c:v>
                </c:pt>
                <c:pt idx="15">
                  <c:v>488701.84730000002</c:v>
                </c:pt>
                <c:pt idx="16">
                  <c:v>1636885.1804</c:v>
                </c:pt>
                <c:pt idx="17">
                  <c:v>1153998.3566000001</c:v>
                </c:pt>
                <c:pt idx="18">
                  <c:v>1724914.308</c:v>
                </c:pt>
                <c:pt idx="19">
                  <c:v>763380.9497</c:v>
                </c:pt>
                <c:pt idx="20">
                  <c:v>2560927.6985999998</c:v>
                </c:pt>
                <c:pt idx="21">
                  <c:v>766447.14450000005</c:v>
                </c:pt>
                <c:pt idx="22">
                  <c:v>1146622.2186</c:v>
                </c:pt>
                <c:pt idx="23">
                  <c:v>502610.81929999997</c:v>
                </c:pt>
                <c:pt idx="24">
                  <c:v>1703905.6832000001</c:v>
                </c:pt>
                <c:pt idx="25">
                  <c:v>932603.80350000004</c:v>
                </c:pt>
                <c:pt idx="26">
                  <c:v>1404776.4996</c:v>
                </c:pt>
                <c:pt idx="27">
                  <c:v>615321.45169999998</c:v>
                </c:pt>
                <c:pt idx="28">
                  <c:v>2097478.5655</c:v>
                </c:pt>
                <c:pt idx="29">
                  <c:v>1418912.6724</c:v>
                </c:pt>
                <c:pt idx="30">
                  <c:v>2115158.9208999998</c:v>
                </c:pt>
                <c:pt idx="31">
                  <c:v>943559.43070000003</c:v>
                </c:pt>
                <c:pt idx="32">
                  <c:v>3133357.7324999999</c:v>
                </c:pt>
                <c:pt idx="33">
                  <c:v>1150119.1274000001</c:v>
                </c:pt>
                <c:pt idx="34">
                  <c:v>1719539.4484000001</c:v>
                </c:pt>
                <c:pt idx="35">
                  <c:v>762975.8835</c:v>
                </c:pt>
                <c:pt idx="36">
                  <c:v>2539770.8988999999</c:v>
                </c:pt>
                <c:pt idx="37">
                  <c:v>737708.50959999999</c:v>
                </c:pt>
                <c:pt idx="38">
                  <c:v>1106455.6972000001</c:v>
                </c:pt>
                <c:pt idx="39">
                  <c:v>488701.84730000002</c:v>
                </c:pt>
                <c:pt idx="40">
                  <c:v>1636885.1804</c:v>
                </c:pt>
                <c:pt idx="41">
                  <c:v>910992.2548</c:v>
                </c:pt>
                <c:pt idx="42">
                  <c:v>1378761.3421</c:v>
                </c:pt>
                <c:pt idx="43">
                  <c:v>601012.7084</c:v>
                </c:pt>
                <c:pt idx="44">
                  <c:v>2051574.365</c:v>
                </c:pt>
                <c:pt idx="45">
                  <c:v>1386989.7993000001</c:v>
                </c:pt>
                <c:pt idx="46">
                  <c:v>2073645.0660999999</c:v>
                </c:pt>
                <c:pt idx="47">
                  <c:v>934925.62959999999</c:v>
                </c:pt>
                <c:pt idx="48">
                  <c:v>3047971.2439999999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84C-4B3C-966D-621E26A5EB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55161152"/>
        <c:axId val="1055161480"/>
      </c:scatterChart>
      <c:valAx>
        <c:axId val="1055161152"/>
        <c:scaling>
          <c:orientation val="minMax"/>
          <c:max val="100"/>
          <c:min val="7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/>
                  <a:t>recall@5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161480"/>
        <c:crosses val="autoZero"/>
        <c:crossBetween val="midCat"/>
      </c:valAx>
      <c:valAx>
        <c:axId val="1055161480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/>
                  <a:t>Distnance comparisons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516115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Queries/sec vs recall@10 (bigann-1B)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Queries/sec vs recall@10</c:v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lt1"/>
              </a:solidFill>
              <a:ln w="15875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SIFT1B_R100_L100!$I$2:$I$8</c:f>
              <c:numCache>
                <c:formatCode>General</c:formatCode>
                <c:ptCount val="7"/>
                <c:pt idx="0">
                  <c:v>89.59</c:v>
                </c:pt>
                <c:pt idx="1">
                  <c:v>92.51</c:v>
                </c:pt>
                <c:pt idx="2">
                  <c:v>94.24</c:v>
                </c:pt>
                <c:pt idx="3">
                  <c:v>95.54</c:v>
                </c:pt>
                <c:pt idx="4">
                  <c:v>96.38</c:v>
                </c:pt>
                <c:pt idx="5">
                  <c:v>96.98</c:v>
                </c:pt>
                <c:pt idx="6">
                  <c:v>97.46</c:v>
                </c:pt>
              </c:numCache>
            </c:numRef>
          </c:xVal>
          <c:yVal>
            <c:numRef>
              <c:f>SIFT1B_R100_L100!$D$2:$D$8</c:f>
              <c:numCache>
                <c:formatCode>General</c:formatCode>
                <c:ptCount val="7"/>
                <c:pt idx="0">
                  <c:v>10365.799999999999</c:v>
                </c:pt>
                <c:pt idx="1">
                  <c:v>8785.5400000000009</c:v>
                </c:pt>
                <c:pt idx="2">
                  <c:v>7535.12</c:v>
                </c:pt>
                <c:pt idx="3">
                  <c:v>6675.76</c:v>
                </c:pt>
                <c:pt idx="4">
                  <c:v>5955.53</c:v>
                </c:pt>
                <c:pt idx="5">
                  <c:v>5295.22</c:v>
                </c:pt>
                <c:pt idx="6">
                  <c:v>4719.13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16B-4B6A-BAF9-3C4667384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0401488"/>
        <c:axId val="950396240"/>
      </c:scatterChart>
      <c:valAx>
        <c:axId val="950401488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/>
                  <a:t>recall@10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0396240"/>
        <c:crosses val="autoZero"/>
        <c:crossBetween val="midCat"/>
      </c:valAx>
      <c:valAx>
        <c:axId val="950396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dirty="0"/>
                  <a:t>Queries/second with 24 cores</a:t>
                </a:r>
              </a:p>
            </c:rich>
          </c:tx>
          <c:layout>
            <c:manualLayout>
              <c:xMode val="edge"/>
              <c:yMode val="edge"/>
              <c:x val="3.1850573794099182E-2"/>
              <c:y val="0.2049944552713358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0401488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Mean latency vs</a:t>
            </a:r>
            <a:r>
              <a:rPr lang="en-US" baseline="0"/>
              <a:t> </a:t>
            </a:r>
            <a:r>
              <a:rPr lang="en-US"/>
              <a:t>recall@10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Queries/sec vs recall@10</c:v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lt1"/>
              </a:solidFill>
              <a:ln w="15875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SIFT1B_R100_L100!$I$2:$I$8</c:f>
              <c:numCache>
                <c:formatCode>General</c:formatCode>
                <c:ptCount val="7"/>
                <c:pt idx="0">
                  <c:v>89.59</c:v>
                </c:pt>
                <c:pt idx="1">
                  <c:v>92.51</c:v>
                </c:pt>
                <c:pt idx="2">
                  <c:v>94.24</c:v>
                </c:pt>
                <c:pt idx="3">
                  <c:v>95.54</c:v>
                </c:pt>
                <c:pt idx="4">
                  <c:v>96.38</c:v>
                </c:pt>
                <c:pt idx="5">
                  <c:v>96.98</c:v>
                </c:pt>
                <c:pt idx="6">
                  <c:v>97.46</c:v>
                </c:pt>
              </c:numCache>
            </c:numRef>
          </c:xVal>
          <c:yVal>
            <c:numRef>
              <c:f>SIFT1B_R100_L100!$E$2:$E$8</c:f>
              <c:numCache>
                <c:formatCode>General</c:formatCode>
                <c:ptCount val="7"/>
                <c:pt idx="0">
                  <c:v>2299.88</c:v>
                </c:pt>
                <c:pt idx="1">
                  <c:v>2716.32</c:v>
                </c:pt>
                <c:pt idx="2">
                  <c:v>3168.58</c:v>
                </c:pt>
                <c:pt idx="3">
                  <c:v>3578.46</c:v>
                </c:pt>
                <c:pt idx="4">
                  <c:v>4013.46</c:v>
                </c:pt>
                <c:pt idx="5">
                  <c:v>4513.58</c:v>
                </c:pt>
                <c:pt idx="6">
                  <c:v>5065.78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7BA-49DF-B45B-E5EE77645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0401488"/>
        <c:axId val="950396240"/>
      </c:scatterChart>
      <c:valAx>
        <c:axId val="950401488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/>
                  <a:t>recall@10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0396240"/>
        <c:crosses val="autoZero"/>
        <c:crossBetween val="midCat"/>
      </c:valAx>
      <c:valAx>
        <c:axId val="950396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dirty="0"/>
                  <a:t>Mean latency (microseconds)</a:t>
                </a:r>
              </a:p>
            </c:rich>
          </c:tx>
          <c:layout>
            <c:manualLayout>
              <c:xMode val="edge"/>
              <c:yMode val="edge"/>
              <c:x val="3.2193156686881975E-2"/>
              <c:y val="0.188998375729035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0401488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/>
              <a:t>Mean IOs/query vs</a:t>
            </a:r>
            <a:r>
              <a:rPr lang="en-US" baseline="0"/>
              <a:t> </a:t>
            </a:r>
            <a:r>
              <a:rPr lang="en-US"/>
              <a:t>recall@10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Queries/sec vs recall@10</c:v>
          </c:tx>
          <c:spPr>
            <a:ln w="25400" cap="rnd">
              <a:noFill/>
              <a:round/>
            </a:ln>
            <a:effectLst/>
          </c:spPr>
          <c:marker>
            <c:symbol val="diamond"/>
            <c:size val="6"/>
            <c:spPr>
              <a:solidFill>
                <a:schemeClr val="lt1"/>
              </a:solidFill>
              <a:ln w="15875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SIFT1B_R100_L100!$I$2:$I$8</c:f>
              <c:numCache>
                <c:formatCode>General</c:formatCode>
                <c:ptCount val="7"/>
                <c:pt idx="0">
                  <c:v>89.59</c:v>
                </c:pt>
                <c:pt idx="1">
                  <c:v>92.51</c:v>
                </c:pt>
                <c:pt idx="2">
                  <c:v>94.24</c:v>
                </c:pt>
                <c:pt idx="3">
                  <c:v>95.54</c:v>
                </c:pt>
                <c:pt idx="4">
                  <c:v>96.38</c:v>
                </c:pt>
                <c:pt idx="5">
                  <c:v>96.98</c:v>
                </c:pt>
                <c:pt idx="6">
                  <c:v>97.46</c:v>
                </c:pt>
              </c:numCache>
            </c:numRef>
          </c:xVal>
          <c:yVal>
            <c:numRef>
              <c:f>SIFT1B_R100_L100!$G$2:$G$8</c:f>
              <c:numCache>
                <c:formatCode>General</c:formatCode>
                <c:ptCount val="7"/>
                <c:pt idx="0">
                  <c:v>41.02</c:v>
                </c:pt>
                <c:pt idx="1">
                  <c:v>50.28</c:v>
                </c:pt>
                <c:pt idx="2">
                  <c:v>59.63</c:v>
                </c:pt>
                <c:pt idx="3">
                  <c:v>69.22</c:v>
                </c:pt>
                <c:pt idx="4">
                  <c:v>78.819999999999993</c:v>
                </c:pt>
                <c:pt idx="5">
                  <c:v>88.54</c:v>
                </c:pt>
                <c:pt idx="6">
                  <c:v>98.25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A70A-4085-8D6F-B8E7FB1F41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50401488"/>
        <c:axId val="950396240"/>
      </c:scatterChart>
      <c:valAx>
        <c:axId val="950401488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50"/>
                  <a:t>recall@10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0396240"/>
        <c:crosses val="autoZero"/>
        <c:crossBetween val="midCat"/>
      </c:valAx>
      <c:valAx>
        <c:axId val="9503962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 dirty="0"/>
                  <a:t>Random 4KB reads from SSD/query</a:t>
                </a:r>
              </a:p>
            </c:rich>
          </c:tx>
          <c:layout>
            <c:manualLayout>
              <c:xMode val="edge"/>
              <c:yMode val="edge"/>
              <c:x val="3.2193156686881975E-2"/>
              <c:y val="0.1889983757290357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0401488"/>
        <c:crosses val="autoZero"/>
        <c:crossBetween val="midCat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99DC9-495A-40AB-87BB-C4BC2C57739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1BC31-7BFA-4730-BE77-4E51CBCF2C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36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1BC31-7BFA-4730-BE77-4E51CBCF2CA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24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808DAE5-2BE2-BAEF-0957-DBDEA306D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1m scale, in-memory , single threaded, static builds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1BC31-7BFA-4730-BE77-4E51CBCF2CA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96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BD47433D-5298-9C7A-CCC1-A286B934C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31D78-D730-73EA-FBF0-03A5A6FD1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15ACE0-89C4-74B8-11EF-E4518AB582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1FDDA-C0D4-8442-1F16-5A99F1E99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181A74-380E-B7A2-502A-1565C13D21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5C115-FBC8-449C-8903-740F9B69BC7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55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1BC31-7BFA-4730-BE77-4E51CBCF2CA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951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Amplifies the impact of new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1BC31-7BFA-4730-BE77-4E51CBCF2CA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04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1BC31-7BFA-4730-BE77-4E51CBCF2CA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13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75612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98584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178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8D0D-8533-80DB-0651-0528D409B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2409C-A508-23FE-8A25-8436CA146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2011DF-F6DB-1B8B-9C7D-9FA4F615A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AC439-3EC9-482D-3A62-A3C8F798F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825C2-5770-3AA0-18A7-6ECA204FC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1BD7-5A3D-4E0A-B498-153FAB473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942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097CE-5B94-456C-AE21-A26A73AF9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2599C-58C4-2ABA-B231-665A99776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D319F-6A28-0827-0102-9FE82A2B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D96E-0EB5-CF1C-4103-DE23E5EA5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100F9-A254-249D-3BAD-592E81EF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1BD7-5A3D-4E0A-B498-153FAB4739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25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8DBDF-D650-FB63-AA0D-1233673DC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B2124-CA3B-B8E7-C4D1-30816F605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B0516-473E-15C8-A79A-B9241DE5C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FA6A89-D431-C4D5-9352-A4646997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4035E-EA8B-85B5-F6FE-217C1861E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1BD7-5A3D-4E0A-B498-153FAB473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07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A2B3-BDA8-5285-CC40-F76F4A722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D8213-4AD9-31C6-75F1-8877D268B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85A2A-616C-7D1F-3DC4-942A0242A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1F05E-1AA6-18D2-879C-95C99A84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4CDDF-BEA5-85C4-26AB-3F5361FAD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A25EA-FE3A-AD5D-1F45-6976C3DA5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1BD7-5A3D-4E0A-B498-153FAB473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97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55DB0-B985-3844-5797-DB8E70CFA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EAC96-BCB0-2A27-72A2-D070FEE43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D245A-6043-786A-1413-E1F99FAF4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1C172C-E8EB-ACA0-0979-FC4AACB17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CCFE32-E84C-CB54-1D32-4E9725BDE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AD8B6-F7B5-EF3F-A21F-9B97A2987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A7A8F0-6B19-87CF-0AB8-54CE51CFE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D1E6CD-1D58-3ACB-654E-019F62ED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1BD7-5A3D-4E0A-B498-153FAB473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70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B292-B1B3-AB40-9BD6-82575B914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7B9216-4610-EFD0-1999-1648FA0E4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BA1D7-FB5D-0E54-7906-328B9DD34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BDA341-5503-3499-4206-5DF66DD7D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1BD7-5A3D-4E0A-B498-153FAB473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1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151754-EF8A-2550-3699-BF6E80F5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2FFD-02D9-6948-5F26-741A0EF8A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E76FC-A8BE-33A8-2FB6-621CD0B3B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1BD7-5A3D-4E0A-B498-153FAB473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3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E0912-E733-A307-3CC5-F781A44BF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BC2C0-8954-82E9-1519-1A9F00734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7C4AF-5BDC-B004-EA73-C855DCE28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6888C9-6BC3-DC0B-C711-3A454FD75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61B52-D842-F291-434B-40F9D257C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4F4ED-A0BB-6813-5642-64DC35F3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1BD7-5A3D-4E0A-B498-153FAB473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74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2DDA5-8306-FF75-2231-26CEA0F73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281EDD-6C1A-AD60-A1F7-1568219DCC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B3F11-78D9-959A-D5AB-C06510B83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29653-E43B-F041-73F7-213DE3A38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79B34-1F71-9493-48B7-74F5A9AB5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D7F4B-8B4D-046E-19A1-6004AA98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1BD7-5A3D-4E0A-B498-153FAB473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28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0B4D-B04F-B5A3-FE43-5C4642604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90B08-0ADB-03B7-2826-EBC56315C5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E488D-C0C7-8A87-4EA0-CBCD4A7D7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AA7F8-2B42-F8A0-62A7-D6DDF1062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4084A-5A5A-79C6-B0D4-DF33A7FB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1BD7-5A3D-4E0A-B498-153FAB473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73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88DD0B-2805-18D6-6BDD-C4D56EFD55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0F3C1D-A63A-4B96-4F36-C437978BE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16866-533E-1A2A-F330-D87573D0E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1C5C7-B86F-E7E1-373C-822E5BD3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056A9-1290-58A8-674F-4FFDC999C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B1BD7-5A3D-4E0A-B498-153FAB473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08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3E19EC-EB6C-5EE9-3421-05A487E2F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2D805-7AC6-BD5F-42B6-42C852349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4DE2E1-7B81-0B0A-514A-054E9FAF6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7A24C8-9CD0-40E7-A691-8539D4178F2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B2A4D-8A4A-C867-24D5-2D1FBCB44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AF772-6501-23F3-8E5B-7BF6D8240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7B1BD7-5A3D-4E0A-B498-153FAB4739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21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gif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svg"/><Relationship Id="rId10" Type="http://schemas.openxmlformats.org/officeDocument/2006/relationships/image" Target="../media/image25.png"/><Relationship Id="rId4" Type="http://schemas.openxmlformats.org/officeDocument/2006/relationships/image" Target="../media/image19.sv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i.facebook.com/blog/using-ai-to-detect-covid-19-misinformation-and-exploitative-content" TargetMode="External"/><Relationship Id="rId7" Type="http://schemas.openxmlformats.org/officeDocument/2006/relationships/hyperlink" Target="https://arxiv.org/abs/1409.4842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v-foundation.org/openaccess/content_cvpr_2016/app/S09-38.pdf" TargetMode="External"/><Relationship Id="rId5" Type="http://schemas.openxmlformats.org/officeDocument/2006/relationships/hyperlink" Target="https://dl.acm.org/doi/10.1145/2505515.2505665" TargetMode="External"/><Relationship Id="rId4" Type="http://schemas.openxmlformats.org/officeDocument/2006/relationships/hyperlink" Target="https://arxiv.org/abs/1709.01507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105.09613" TargetMode="External"/><Relationship Id="rId3" Type="http://schemas.openxmlformats.org/officeDocument/2006/relationships/hyperlink" Target="https://github.com/microsoft/DiskANN" TargetMode="External"/><Relationship Id="rId7" Type="http://schemas.openxmlformats.org/officeDocument/2006/relationships/hyperlink" Target="https://creativecommons.org/licenses/by-nc-sa/4.0/" TargetMode="External"/><Relationship Id="rId2" Type="http://schemas.openxmlformats.org/officeDocument/2006/relationships/hyperlink" Target="https://creativecommons.org/licenses/by/4.0/deed.e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huggingface.co/naver/splade-cocondenser-ensembledistil/tree/main" TargetMode="External"/><Relationship Id="rId5" Type="http://schemas.openxmlformats.org/officeDocument/2006/relationships/hyperlink" Target="https://microsoft.github.io/msmarco/" TargetMode="External"/><Relationship Id="rId4" Type="http://schemas.openxmlformats.org/officeDocument/2006/relationships/hyperlink" Target="https://arxiv.org/abs/2301.10622" TargetMode="External"/><Relationship Id="rId9" Type="http://schemas.openxmlformats.org/officeDocument/2006/relationships/hyperlink" Target="https://github.com/microsoft/SPTAG/blob/main/datasets/SPACEV1B/LICENSE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BE148-A868-7839-BC6F-4673ED9A7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6899" y="1122363"/>
            <a:ext cx="10745919" cy="2387600"/>
          </a:xfrm>
        </p:spPr>
        <p:txBody>
          <a:bodyPr>
            <a:normAutofit fontScale="90000"/>
          </a:bodyPr>
          <a:lstStyle/>
          <a:p>
            <a:br>
              <a:rPr lang="en-US" sz="5300" i="1" dirty="0"/>
            </a:br>
            <a:br>
              <a:rPr lang="en-US" dirty="0"/>
            </a:br>
            <a:r>
              <a:rPr lang="en-US" dirty="0"/>
              <a:t>The DiskANN Vector Indexing Library: </a:t>
            </a:r>
            <a:br>
              <a:rPr lang="en-US" dirty="0"/>
            </a:br>
            <a:r>
              <a:rPr lang="en-US" dirty="0"/>
              <a:t>From Ideas to Microsoft Scale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B0E18-B178-F821-83A0-B90531FDCC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2724"/>
            <a:ext cx="9144000" cy="965075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B050"/>
                </a:solidFill>
              </a:rPr>
              <a:t>Harsha</a:t>
            </a:r>
            <a:r>
              <a:rPr lang="en-US" sz="4000" b="1" dirty="0">
                <a:solidFill>
                  <a:srgbClr val="00B050"/>
                </a:solidFill>
              </a:rPr>
              <a:t> </a:t>
            </a:r>
            <a:r>
              <a:rPr lang="en-US" sz="4000" dirty="0">
                <a:solidFill>
                  <a:srgbClr val="00B050"/>
                </a:solidFill>
              </a:rPr>
              <a:t>Simhadri</a:t>
            </a:r>
          </a:p>
          <a:p>
            <a:endParaRPr lang="en-US" sz="4000" dirty="0">
              <a:solidFill>
                <a:srgbClr val="00B050"/>
              </a:solidFill>
            </a:endParaRPr>
          </a:p>
          <a:p>
            <a:endParaRPr lang="en-US" sz="2800" b="1" i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635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ADB2-C80F-DD21-B023-81069310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5A2E7-5680-B9F3-08AA-66FAD99E0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2429" cy="4351338"/>
          </a:xfrm>
        </p:spPr>
        <p:txBody>
          <a:bodyPr/>
          <a:lstStyle/>
          <a:p>
            <a:r>
              <a:rPr lang="en-US" dirty="0"/>
              <a:t>Why DiskANN?</a:t>
            </a:r>
          </a:p>
          <a:p>
            <a:pPr lvl="1"/>
            <a:endParaRPr lang="en-US" dirty="0"/>
          </a:p>
          <a:p>
            <a:r>
              <a:rPr lang="en-US" dirty="0"/>
              <a:t>New algorithms to solve challenges of scale and missing features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new architecture to bring these ideas to any database or store</a:t>
            </a:r>
          </a:p>
        </p:txBody>
      </p:sp>
    </p:spTree>
    <p:extLst>
      <p:ext uri="{BB962C8B-B14F-4D97-AF65-F5344CB8AC3E}">
        <p14:creationId xmlns:p14="http://schemas.microsoft.com/office/powerpoint/2010/main" val="4130415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B06C9798-F513-4A9D-8BFE-E0FCD7E74C9A}"/>
              </a:ext>
            </a:extLst>
          </p:cNvPr>
          <p:cNvGrpSpPr/>
          <p:nvPr/>
        </p:nvGrpSpPr>
        <p:grpSpPr>
          <a:xfrm>
            <a:off x="1446109" y="1487722"/>
            <a:ext cx="5030163" cy="778373"/>
            <a:chOff x="1587425" y="2362198"/>
            <a:chExt cx="5030163" cy="77837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A5CAEE9-FA25-451F-BEAD-6A13426C76B2}"/>
                </a:ext>
              </a:extLst>
            </p:cNvPr>
            <p:cNvGrpSpPr/>
            <p:nvPr/>
          </p:nvGrpSpPr>
          <p:grpSpPr>
            <a:xfrm>
              <a:off x="1587425" y="2362198"/>
              <a:ext cx="5030163" cy="778373"/>
              <a:chOff x="2093298" y="2738005"/>
              <a:chExt cx="5030163" cy="778373"/>
            </a:xfrm>
          </p:grpSpPr>
          <p:sp>
            <p:nvSpPr>
              <p:cNvPr id="5" name="Rectangle: Single Corner Snipped 4">
                <a:extLst>
                  <a:ext uri="{FF2B5EF4-FFF2-40B4-BE49-F238E27FC236}">
                    <a16:creationId xmlns:a16="http://schemas.microsoft.com/office/drawing/2014/main" id="{7EA5B24D-EA25-4391-B615-C6530544A502}"/>
                  </a:ext>
                </a:extLst>
              </p:cNvPr>
              <p:cNvSpPr/>
              <p:nvPr/>
            </p:nvSpPr>
            <p:spPr>
              <a:xfrm flipH="1">
                <a:off x="2093298" y="2738005"/>
                <a:ext cx="724619" cy="713117"/>
              </a:xfrm>
              <a:prstGeom prst="snip1Rect">
                <a:avLst>
                  <a:gd name="adj" fmla="val 37635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 Light" panose="020F0302020204030204"/>
                    <a:ea typeface="+mn-ea"/>
                    <a:cs typeface="+mn-cs"/>
                  </a:rPr>
                  <a:t>Obj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510BF5EB-FF84-4B2D-90A0-0671AEFE7654}"/>
                  </a:ext>
                </a:extLst>
              </p:cNvPr>
              <p:cNvSpPr/>
              <p:nvPr/>
            </p:nvSpPr>
            <p:spPr>
              <a:xfrm>
                <a:off x="7027606" y="3416957"/>
                <a:ext cx="95855" cy="9942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endParaRPr>
              </a:p>
            </p:txBody>
          </p: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1D5E3A1B-32CC-4603-9B52-0427810FAB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03169" y="3454161"/>
                <a:ext cx="4253933" cy="1171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27A0294-7724-4961-9DD5-FF1B0C2D46DE}"/>
                </a:ext>
              </a:extLst>
            </p:cNvPr>
            <p:cNvSpPr txBox="1"/>
            <p:nvPr/>
          </p:nvSpPr>
          <p:spPr>
            <a:xfrm>
              <a:off x="3554895" y="2621813"/>
              <a:ext cx="10518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Embed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D21B95-4750-4DCD-9AA9-A9D738A9F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064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Semantic retrieval with embeddings + ANNS</a:t>
            </a:r>
            <a:endParaRPr lang="en-US" sz="5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D0CE2-ABDE-4DC2-A6BE-5AA37E827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49B7A6-39A2-4D6B-BF18-27EA3B1AC6B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11/13/2025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65D794-DD06-4A1F-9C14-69AB3343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A31737-66ED-4538-8E4A-5B6F08D0267E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F4E98B4-013C-4109-B5CE-0C1E081B557D}"/>
              </a:ext>
            </a:extLst>
          </p:cNvPr>
          <p:cNvGrpSpPr/>
          <p:nvPr/>
        </p:nvGrpSpPr>
        <p:grpSpPr>
          <a:xfrm>
            <a:off x="4079718" y="1296644"/>
            <a:ext cx="4424516" cy="3218481"/>
            <a:chOff x="5552768" y="2458220"/>
            <a:chExt cx="4424516" cy="3640238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4BC9147-4FA8-4B5F-AE96-69E9703186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2695" y="3104532"/>
              <a:ext cx="3510117" cy="231549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A5E5966D-425B-4E5F-BD22-8844BBD6580A}"/>
                </a:ext>
              </a:extLst>
            </p:cNvPr>
            <p:cNvCxnSpPr>
              <a:cxnSpLocks/>
            </p:cNvCxnSpPr>
            <p:nvPr/>
          </p:nvCxnSpPr>
          <p:spPr>
            <a:xfrm>
              <a:off x="5552768" y="4328652"/>
              <a:ext cx="4424516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DF890C16-8C6B-4674-B81E-BE97A18563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9273" y="2458220"/>
              <a:ext cx="0" cy="3640238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: Single Corner Snipped 32">
            <a:extLst>
              <a:ext uri="{FF2B5EF4-FFF2-40B4-BE49-F238E27FC236}">
                <a16:creationId xmlns:a16="http://schemas.microsoft.com/office/drawing/2014/main" id="{E16E2A92-AC0B-48C7-B17F-57235EF46DA2}"/>
              </a:ext>
            </a:extLst>
          </p:cNvPr>
          <p:cNvSpPr/>
          <p:nvPr/>
        </p:nvSpPr>
        <p:spPr>
          <a:xfrm flipH="1">
            <a:off x="1613717" y="1640122"/>
            <a:ext cx="724619" cy="713117"/>
          </a:xfrm>
          <a:prstGeom prst="snip1Rect">
            <a:avLst>
              <a:gd name="adj" fmla="val 3763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Doc </a:t>
            </a:r>
          </a:p>
        </p:txBody>
      </p:sp>
      <p:sp>
        <p:nvSpPr>
          <p:cNvPr id="34" name="Rectangle: Single Corner Snipped 33">
            <a:extLst>
              <a:ext uri="{FF2B5EF4-FFF2-40B4-BE49-F238E27FC236}">
                <a16:creationId xmlns:a16="http://schemas.microsoft.com/office/drawing/2014/main" id="{C4EE7AB5-E639-4DD8-B2DC-B7B70E2CE2B3}"/>
              </a:ext>
            </a:extLst>
          </p:cNvPr>
          <p:cNvSpPr/>
          <p:nvPr/>
        </p:nvSpPr>
        <p:spPr>
          <a:xfrm flipH="1">
            <a:off x="1766117" y="1792522"/>
            <a:ext cx="724619" cy="713117"/>
          </a:xfrm>
          <a:prstGeom prst="snip1Rect">
            <a:avLst>
              <a:gd name="adj" fmla="val 3763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Doc </a:t>
            </a:r>
          </a:p>
        </p:txBody>
      </p:sp>
      <p:sp>
        <p:nvSpPr>
          <p:cNvPr id="35" name="Rectangle: Single Corner Snipped 34">
            <a:extLst>
              <a:ext uri="{FF2B5EF4-FFF2-40B4-BE49-F238E27FC236}">
                <a16:creationId xmlns:a16="http://schemas.microsoft.com/office/drawing/2014/main" id="{A5FE76F6-186E-4A12-90E6-8944E66E1D8C}"/>
              </a:ext>
            </a:extLst>
          </p:cNvPr>
          <p:cNvSpPr/>
          <p:nvPr/>
        </p:nvSpPr>
        <p:spPr>
          <a:xfrm flipH="1">
            <a:off x="1918517" y="1944922"/>
            <a:ext cx="724619" cy="713117"/>
          </a:xfrm>
          <a:prstGeom prst="snip1Rect">
            <a:avLst>
              <a:gd name="adj" fmla="val 3763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Doc </a:t>
            </a:r>
          </a:p>
        </p:txBody>
      </p:sp>
      <p:sp>
        <p:nvSpPr>
          <p:cNvPr id="36" name="Rectangle: Single Corner Snipped 35">
            <a:extLst>
              <a:ext uri="{FF2B5EF4-FFF2-40B4-BE49-F238E27FC236}">
                <a16:creationId xmlns:a16="http://schemas.microsoft.com/office/drawing/2014/main" id="{BC04DE9A-5FF6-4DC8-BC1C-13BC0361AC35}"/>
              </a:ext>
            </a:extLst>
          </p:cNvPr>
          <p:cNvSpPr/>
          <p:nvPr/>
        </p:nvSpPr>
        <p:spPr>
          <a:xfrm flipH="1">
            <a:off x="2070917" y="2097322"/>
            <a:ext cx="724619" cy="713117"/>
          </a:xfrm>
          <a:prstGeom prst="snip1Rect">
            <a:avLst>
              <a:gd name="adj" fmla="val 3763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Doc </a:t>
            </a:r>
          </a:p>
        </p:txBody>
      </p:sp>
      <p:sp>
        <p:nvSpPr>
          <p:cNvPr id="37" name="Rectangle: Single Corner Snipped 36">
            <a:extLst>
              <a:ext uri="{FF2B5EF4-FFF2-40B4-BE49-F238E27FC236}">
                <a16:creationId xmlns:a16="http://schemas.microsoft.com/office/drawing/2014/main" id="{8EBF57EF-F519-4F15-B456-F5F94F885C86}"/>
              </a:ext>
            </a:extLst>
          </p:cNvPr>
          <p:cNvSpPr/>
          <p:nvPr/>
        </p:nvSpPr>
        <p:spPr>
          <a:xfrm flipH="1">
            <a:off x="2223317" y="2249722"/>
            <a:ext cx="724619" cy="713117"/>
          </a:xfrm>
          <a:prstGeom prst="snip1Rect">
            <a:avLst>
              <a:gd name="adj" fmla="val 3763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Doc </a:t>
            </a:r>
          </a:p>
        </p:txBody>
      </p:sp>
      <p:sp>
        <p:nvSpPr>
          <p:cNvPr id="38" name="Rectangle: Single Corner Snipped 37">
            <a:extLst>
              <a:ext uri="{FF2B5EF4-FFF2-40B4-BE49-F238E27FC236}">
                <a16:creationId xmlns:a16="http://schemas.microsoft.com/office/drawing/2014/main" id="{4B270A62-ECC2-43DF-9EC2-C7FF9FC19A73}"/>
              </a:ext>
            </a:extLst>
          </p:cNvPr>
          <p:cNvSpPr/>
          <p:nvPr/>
        </p:nvSpPr>
        <p:spPr>
          <a:xfrm flipH="1">
            <a:off x="2375717" y="2402122"/>
            <a:ext cx="724619" cy="713117"/>
          </a:xfrm>
          <a:prstGeom prst="snip1Rect">
            <a:avLst>
              <a:gd name="adj" fmla="val 3763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Doc </a:t>
            </a:r>
          </a:p>
        </p:txBody>
      </p:sp>
      <p:sp>
        <p:nvSpPr>
          <p:cNvPr id="39" name="Rectangle: Single Corner Snipped 38">
            <a:extLst>
              <a:ext uri="{FF2B5EF4-FFF2-40B4-BE49-F238E27FC236}">
                <a16:creationId xmlns:a16="http://schemas.microsoft.com/office/drawing/2014/main" id="{66E86C37-8150-494D-AA3A-EA34AC267F21}"/>
              </a:ext>
            </a:extLst>
          </p:cNvPr>
          <p:cNvSpPr/>
          <p:nvPr/>
        </p:nvSpPr>
        <p:spPr>
          <a:xfrm flipH="1">
            <a:off x="2528117" y="2554522"/>
            <a:ext cx="724619" cy="713117"/>
          </a:xfrm>
          <a:prstGeom prst="snip1Rect">
            <a:avLst>
              <a:gd name="adj" fmla="val 3763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Doc </a:t>
            </a:r>
          </a:p>
        </p:txBody>
      </p:sp>
      <p:sp>
        <p:nvSpPr>
          <p:cNvPr id="40" name="Rectangle: Single Corner Snipped 39">
            <a:extLst>
              <a:ext uri="{FF2B5EF4-FFF2-40B4-BE49-F238E27FC236}">
                <a16:creationId xmlns:a16="http://schemas.microsoft.com/office/drawing/2014/main" id="{FC113D77-04EB-4778-85E0-4940D85165BF}"/>
              </a:ext>
            </a:extLst>
          </p:cNvPr>
          <p:cNvSpPr/>
          <p:nvPr/>
        </p:nvSpPr>
        <p:spPr>
          <a:xfrm flipH="1">
            <a:off x="2680517" y="2706922"/>
            <a:ext cx="724619" cy="713117"/>
          </a:xfrm>
          <a:prstGeom prst="snip1Rect">
            <a:avLst>
              <a:gd name="adj" fmla="val 3763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Doc </a:t>
            </a:r>
          </a:p>
        </p:txBody>
      </p:sp>
      <p:sp>
        <p:nvSpPr>
          <p:cNvPr id="41" name="Rectangle: Single Corner Snipped 40">
            <a:extLst>
              <a:ext uri="{FF2B5EF4-FFF2-40B4-BE49-F238E27FC236}">
                <a16:creationId xmlns:a16="http://schemas.microsoft.com/office/drawing/2014/main" id="{4D2C968D-CA19-4742-9461-E57E61B702C5}"/>
              </a:ext>
            </a:extLst>
          </p:cNvPr>
          <p:cNvSpPr/>
          <p:nvPr/>
        </p:nvSpPr>
        <p:spPr>
          <a:xfrm flipH="1">
            <a:off x="2832917" y="2859322"/>
            <a:ext cx="724619" cy="713117"/>
          </a:xfrm>
          <a:prstGeom prst="snip1Rect">
            <a:avLst>
              <a:gd name="adj" fmla="val 37635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Obj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9ACD2FD-44C9-4CDE-8228-23A267BD41F0}"/>
              </a:ext>
            </a:extLst>
          </p:cNvPr>
          <p:cNvSpPr txBox="1"/>
          <p:nvPr/>
        </p:nvSpPr>
        <p:spPr>
          <a:xfrm>
            <a:off x="649286" y="3554732"/>
            <a:ext cx="37128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Database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= 10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or 10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or 10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12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points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2B46A85-3FF6-4BC7-9113-427DAE9AD1EB}"/>
              </a:ext>
            </a:extLst>
          </p:cNvPr>
          <p:cNvSpPr/>
          <p:nvPr/>
        </p:nvSpPr>
        <p:spPr>
          <a:xfrm>
            <a:off x="6532817" y="2319074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A003606-6C06-4B22-978E-2AA496A79DC1}"/>
              </a:ext>
            </a:extLst>
          </p:cNvPr>
          <p:cNvSpPr/>
          <p:nvPr/>
        </p:nvSpPr>
        <p:spPr>
          <a:xfrm>
            <a:off x="5842431" y="2301480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9788145-1BAA-4CDC-B2C8-F073B1AC7523}"/>
              </a:ext>
            </a:extLst>
          </p:cNvPr>
          <p:cNvSpPr/>
          <p:nvPr/>
        </p:nvSpPr>
        <p:spPr>
          <a:xfrm>
            <a:off x="5584389" y="3519829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44F27F9-49AA-4D10-B9CD-2E2A7C7042AF}"/>
              </a:ext>
            </a:extLst>
          </p:cNvPr>
          <p:cNvSpPr/>
          <p:nvPr/>
        </p:nvSpPr>
        <p:spPr>
          <a:xfrm>
            <a:off x="6976026" y="2791453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B4AE08A-E911-4D67-9D8A-A51CA2F3B5A8}"/>
              </a:ext>
            </a:extLst>
          </p:cNvPr>
          <p:cNvSpPr/>
          <p:nvPr/>
        </p:nvSpPr>
        <p:spPr>
          <a:xfrm>
            <a:off x="5432478" y="3273300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33658B9-4370-4EBE-A56D-0973D69E6EDA}"/>
              </a:ext>
            </a:extLst>
          </p:cNvPr>
          <p:cNvSpPr/>
          <p:nvPr/>
        </p:nvSpPr>
        <p:spPr>
          <a:xfrm>
            <a:off x="5584878" y="3425700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D41AEB1-F721-426F-AD4C-3350E0B193BD}"/>
              </a:ext>
            </a:extLst>
          </p:cNvPr>
          <p:cNvSpPr/>
          <p:nvPr/>
        </p:nvSpPr>
        <p:spPr>
          <a:xfrm>
            <a:off x="7020630" y="3391640"/>
            <a:ext cx="102501" cy="10158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5CEFC55-8629-40BA-AE8C-B2E7A15FE7A4}"/>
              </a:ext>
            </a:extLst>
          </p:cNvPr>
          <p:cNvSpPr/>
          <p:nvPr/>
        </p:nvSpPr>
        <p:spPr>
          <a:xfrm>
            <a:off x="5906756" y="2767306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0C77AB47-7B73-4246-B64A-54E946B6F164}"/>
              </a:ext>
            </a:extLst>
          </p:cNvPr>
          <p:cNvSpPr/>
          <p:nvPr/>
        </p:nvSpPr>
        <p:spPr>
          <a:xfrm>
            <a:off x="5986603" y="3828374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D4CC784-2C07-48E1-AC0B-FCA0708792F9}"/>
              </a:ext>
            </a:extLst>
          </p:cNvPr>
          <p:cNvSpPr/>
          <p:nvPr/>
        </p:nvSpPr>
        <p:spPr>
          <a:xfrm>
            <a:off x="6521883" y="3668036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6B88A745-30E3-4739-8E3D-B8E149963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257" y="2526663"/>
            <a:ext cx="97544" cy="97544"/>
          </a:xfrm>
          <a:prstGeom prst="rect">
            <a:avLst/>
          </a:prstGeom>
        </p:spPr>
      </p:pic>
      <p:sp>
        <p:nvSpPr>
          <p:cNvPr id="60" name="Oval 59">
            <a:extLst>
              <a:ext uri="{FF2B5EF4-FFF2-40B4-BE49-F238E27FC236}">
                <a16:creationId xmlns:a16="http://schemas.microsoft.com/office/drawing/2014/main" id="{1E9D3D1F-61D3-4976-8757-C02275219E98}"/>
              </a:ext>
            </a:extLst>
          </p:cNvPr>
          <p:cNvSpPr/>
          <p:nvPr/>
        </p:nvSpPr>
        <p:spPr>
          <a:xfrm>
            <a:off x="5584389" y="3102704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D5BC781-BDBB-4B0B-ADBB-935091AE277C}"/>
              </a:ext>
            </a:extLst>
          </p:cNvPr>
          <p:cNvSpPr/>
          <p:nvPr/>
        </p:nvSpPr>
        <p:spPr>
          <a:xfrm>
            <a:off x="5432478" y="2856175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0888CFCC-26F1-4C22-BFBE-BFEBACDE1D22}"/>
              </a:ext>
            </a:extLst>
          </p:cNvPr>
          <p:cNvSpPr/>
          <p:nvPr/>
        </p:nvSpPr>
        <p:spPr>
          <a:xfrm>
            <a:off x="5843445" y="3263284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8ADD01BB-152C-4A57-A9C0-E0C93058B4FF}"/>
              </a:ext>
            </a:extLst>
          </p:cNvPr>
          <p:cNvSpPr/>
          <p:nvPr/>
        </p:nvSpPr>
        <p:spPr>
          <a:xfrm>
            <a:off x="7020630" y="2974515"/>
            <a:ext cx="102501" cy="10158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D80BE831-21F6-41E3-B0A9-0428F76C8957}"/>
              </a:ext>
            </a:extLst>
          </p:cNvPr>
          <p:cNvSpPr/>
          <p:nvPr/>
        </p:nvSpPr>
        <p:spPr>
          <a:xfrm>
            <a:off x="6512827" y="3250911"/>
            <a:ext cx="104912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43FB1620-66DE-4C8F-B474-8C640D75B8E1}"/>
              </a:ext>
            </a:extLst>
          </p:cNvPr>
          <p:cNvSpPr/>
          <p:nvPr/>
        </p:nvSpPr>
        <p:spPr>
          <a:xfrm>
            <a:off x="6301603" y="3190650"/>
            <a:ext cx="102501" cy="10158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311226B-DD9D-47B5-B9EE-120BD0950864}"/>
              </a:ext>
            </a:extLst>
          </p:cNvPr>
          <p:cNvSpPr/>
          <p:nvPr/>
        </p:nvSpPr>
        <p:spPr>
          <a:xfrm>
            <a:off x="5802856" y="3467046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C9163819-F41E-495E-9510-B6AD56865A36}"/>
              </a:ext>
            </a:extLst>
          </p:cNvPr>
          <p:cNvSpPr/>
          <p:nvPr/>
        </p:nvSpPr>
        <p:spPr>
          <a:xfrm>
            <a:off x="6551723" y="2531026"/>
            <a:ext cx="95855" cy="9942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066B981-5597-47FD-82C7-ECD4D5D27417}"/>
              </a:ext>
            </a:extLst>
          </p:cNvPr>
          <p:cNvSpPr/>
          <p:nvPr/>
        </p:nvSpPr>
        <p:spPr>
          <a:xfrm>
            <a:off x="6596327" y="3131213"/>
            <a:ext cx="102501" cy="10158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348D995F-C502-4476-B214-BBD0EFAAE473}"/>
              </a:ext>
            </a:extLst>
          </p:cNvPr>
          <p:cNvSpPr/>
          <p:nvPr/>
        </p:nvSpPr>
        <p:spPr>
          <a:xfrm>
            <a:off x="6596327" y="2714088"/>
            <a:ext cx="102501" cy="10158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4F09A68-88F3-4F9F-8C6E-D6770D8774CF}"/>
              </a:ext>
            </a:extLst>
          </p:cNvPr>
          <p:cNvSpPr txBox="1"/>
          <p:nvPr/>
        </p:nvSpPr>
        <p:spPr>
          <a:xfrm>
            <a:off x="5423594" y="4528248"/>
            <a:ext cx="2278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</a:t>
            </a:r>
            <a:r>
              <a:rPr kumimoji="0" lang="en-US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    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d~100-1000</a:t>
            </a:r>
            <a:endParaRPr kumimoji="0" lang="en-US" sz="1600" b="0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B2221BD-E8DC-424C-AE45-6D4B15742254}"/>
              </a:ext>
            </a:extLst>
          </p:cNvPr>
          <p:cNvGrpSpPr/>
          <p:nvPr/>
        </p:nvGrpSpPr>
        <p:grpSpPr>
          <a:xfrm>
            <a:off x="6438724" y="2987923"/>
            <a:ext cx="4669130" cy="671103"/>
            <a:chOff x="6674133" y="3877257"/>
            <a:chExt cx="4669130" cy="704412"/>
          </a:xfrm>
        </p:grpSpPr>
        <p:sp>
          <p:nvSpPr>
            <p:cNvPr id="73" name="Rectangle: Single Corner Snipped 72">
              <a:extLst>
                <a:ext uri="{FF2B5EF4-FFF2-40B4-BE49-F238E27FC236}">
                  <a16:creationId xmlns:a16="http://schemas.microsoft.com/office/drawing/2014/main" id="{E0115CB9-4C26-4D97-A9F0-421BB3E3948A}"/>
                </a:ext>
              </a:extLst>
            </p:cNvPr>
            <p:cNvSpPr/>
            <p:nvPr/>
          </p:nvSpPr>
          <p:spPr>
            <a:xfrm>
              <a:off x="10266753" y="4068287"/>
              <a:ext cx="1076510" cy="513382"/>
            </a:xfrm>
            <a:prstGeom prst="snip1Rect">
              <a:avLst>
                <a:gd name="adj" fmla="val 37635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Query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05DD833-4302-4C88-BF75-5B7E7E1E240D}"/>
                </a:ext>
              </a:extLst>
            </p:cNvPr>
            <p:cNvSpPr/>
            <p:nvPr/>
          </p:nvSpPr>
          <p:spPr>
            <a:xfrm>
              <a:off x="6674133" y="4294515"/>
              <a:ext cx="102501" cy="101587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789C1135-4F54-464C-9CE6-C460C7EC94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31305" y="4336780"/>
              <a:ext cx="3514806" cy="474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2C75BFF-10AD-48B2-8762-6CF97409EB8A}"/>
                </a:ext>
              </a:extLst>
            </p:cNvPr>
            <p:cNvSpPr txBox="1"/>
            <p:nvPr/>
          </p:nvSpPr>
          <p:spPr>
            <a:xfrm>
              <a:off x="7853307" y="3877257"/>
              <a:ext cx="1051891" cy="4845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Embed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021D038-949C-4EB6-A5BD-C99B84B27399}"/>
              </a:ext>
            </a:extLst>
          </p:cNvPr>
          <p:cNvGrpSpPr/>
          <p:nvPr/>
        </p:nvGrpSpPr>
        <p:grpSpPr>
          <a:xfrm>
            <a:off x="6342399" y="3171125"/>
            <a:ext cx="4690211" cy="2035190"/>
            <a:chOff x="6554054" y="4076869"/>
            <a:chExt cx="4420150" cy="2035190"/>
          </a:xfrm>
        </p:grpSpPr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4A2D93F9-3B77-48B8-8DF7-138F599D6256}"/>
                </a:ext>
              </a:extLst>
            </p:cNvPr>
            <p:cNvCxnSpPr>
              <a:cxnSpLocks/>
            </p:cNvCxnSpPr>
            <p:nvPr/>
          </p:nvCxnSpPr>
          <p:spPr>
            <a:xfrm>
              <a:off x="6799975" y="4175796"/>
              <a:ext cx="2321431" cy="1327012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D21D933D-3BE8-4BF7-BEFC-684FF91A7654}"/>
                </a:ext>
              </a:extLst>
            </p:cNvPr>
            <p:cNvCxnSpPr>
              <a:cxnSpLocks/>
            </p:cNvCxnSpPr>
            <p:nvPr/>
          </p:nvCxnSpPr>
          <p:spPr>
            <a:xfrm>
              <a:off x="6835569" y="4076869"/>
              <a:ext cx="2276132" cy="129895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4FF3C90A-834B-40D3-8A3D-021B44CCFAAF}"/>
                </a:ext>
              </a:extLst>
            </p:cNvPr>
            <p:cNvCxnSpPr>
              <a:cxnSpLocks/>
            </p:cNvCxnSpPr>
            <p:nvPr/>
          </p:nvCxnSpPr>
          <p:spPr>
            <a:xfrm>
              <a:off x="6554054" y="4147011"/>
              <a:ext cx="2500446" cy="146166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189D2627-EC8A-48D3-837A-41C3BD23EF2C}"/>
                </a:ext>
              </a:extLst>
            </p:cNvPr>
            <p:cNvCxnSpPr>
              <a:cxnSpLocks/>
            </p:cNvCxnSpPr>
            <p:nvPr/>
          </p:nvCxnSpPr>
          <p:spPr>
            <a:xfrm>
              <a:off x="6748277" y="4600556"/>
              <a:ext cx="2276132" cy="1298950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0B78F962-F314-493B-96B9-CC65E97F7F88}"/>
                </a:ext>
              </a:extLst>
            </p:cNvPr>
            <p:cNvSpPr txBox="1"/>
            <p:nvPr/>
          </p:nvSpPr>
          <p:spPr>
            <a:xfrm>
              <a:off x="9054500" y="5281062"/>
              <a:ext cx="191970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K=4 nearest neighbors (</a:t>
              </a:r>
              <a:r>
                <a:rPr kumimoji="0" lang="en-US" sz="2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l</a:t>
              </a:r>
              <a:r>
                <a:rPr kumimoji="0" lang="en-US" sz="2400" b="0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2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)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04954C3-CB99-4A83-BA8B-6B9B5B182731}"/>
              </a:ext>
            </a:extLst>
          </p:cNvPr>
          <p:cNvSpPr txBox="1"/>
          <p:nvPr/>
        </p:nvSpPr>
        <p:spPr>
          <a:xfrm>
            <a:off x="1063960" y="5422717"/>
            <a:ext cx="9232568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Exact retrieval might need exhaustive scan, settle for approximate retrieval.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Measure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Recall@k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fraction of output candidates that are true top-k nearest neighbors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3138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912"/>
    </mc:Choice>
    <mc:Fallback xmlns="">
      <p:transition spd="slow" advTm="479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B0EB5E5-0B5E-E988-153A-54A9457A73BE}"/>
              </a:ext>
            </a:extLst>
          </p:cNvPr>
          <p:cNvSpPr txBox="1"/>
          <p:nvPr/>
        </p:nvSpPr>
        <p:spPr>
          <a:xfrm>
            <a:off x="6295697" y="1460938"/>
            <a:ext cx="988643" cy="2570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2EFEE2-2CD8-40C0-A9EC-57106AC03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28" y="675665"/>
            <a:ext cx="9692640" cy="672704"/>
          </a:xfrm>
        </p:spPr>
        <p:txBody>
          <a:bodyPr>
            <a:noAutofit/>
          </a:bodyPr>
          <a:lstStyle/>
          <a:p>
            <a:r>
              <a:rPr lang="en-US" sz="3600" dirty="0"/>
              <a:t>Long history of work..</a:t>
            </a:r>
            <a:br>
              <a:rPr lang="en-US" sz="3600" dirty="0"/>
            </a:br>
            <a:r>
              <a:rPr lang="en-US" sz="3600" dirty="0"/>
              <a:t>In academia and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BF269-CE0C-4664-AA43-0B7A5F462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828" y="1717962"/>
            <a:ext cx="5194202" cy="4751100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Trees: k-d trees [Bentley, C.ACM’75], cover trees [</a:t>
            </a:r>
            <a:r>
              <a:rPr lang="en-US" sz="1600" dirty="0" err="1"/>
              <a:t>Beygelzimer</a:t>
            </a:r>
            <a:r>
              <a:rPr lang="en-US" sz="1600" dirty="0"/>
              <a:t>, </a:t>
            </a:r>
            <a:r>
              <a:rPr lang="en-US" sz="1600" dirty="0" err="1"/>
              <a:t>Kakade</a:t>
            </a:r>
            <a:r>
              <a:rPr lang="en-US" sz="1600" dirty="0"/>
              <a:t>, Langford, ICML’06]…</a:t>
            </a:r>
          </a:p>
          <a:p>
            <a:r>
              <a:rPr lang="en-US" sz="1600" dirty="0"/>
              <a:t>Clustering: IVF [FAISS, </a:t>
            </a:r>
            <a:r>
              <a:rPr lang="en-US" sz="1600" b="0" i="0" dirty="0" err="1">
                <a:solidFill>
                  <a:srgbClr val="24292F"/>
                </a:solidFill>
                <a:effectLst/>
                <a:latin typeface="-apple-system"/>
              </a:rPr>
              <a:t>Babenko</a:t>
            </a:r>
            <a:r>
              <a:rPr lang="en-US" sz="1600" b="0" i="0" dirty="0">
                <a:solidFill>
                  <a:srgbClr val="24292F"/>
                </a:solidFill>
                <a:effectLst/>
                <a:latin typeface="-apple-system"/>
              </a:rPr>
              <a:t> &amp; </a:t>
            </a:r>
            <a:r>
              <a:rPr lang="en-US" sz="1600" b="0" i="0" dirty="0" err="1">
                <a:solidFill>
                  <a:srgbClr val="24292F"/>
                </a:solidFill>
                <a:effectLst/>
                <a:latin typeface="-apple-system"/>
              </a:rPr>
              <a:t>Lempitsky</a:t>
            </a:r>
            <a:r>
              <a:rPr lang="en-US" sz="1600" b="0" i="0" dirty="0">
                <a:solidFill>
                  <a:srgbClr val="24292F"/>
                </a:solidFill>
                <a:effectLst/>
                <a:latin typeface="-apple-system"/>
              </a:rPr>
              <a:t>, CVPR 2012, </a:t>
            </a:r>
            <a:r>
              <a:rPr lang="en-US" sz="1600" b="0" i="0" dirty="0" err="1">
                <a:solidFill>
                  <a:srgbClr val="24292F"/>
                </a:solidFill>
                <a:effectLst/>
                <a:latin typeface="-apple-system"/>
              </a:rPr>
              <a:t>Tavenard</a:t>
            </a:r>
            <a:r>
              <a:rPr lang="en-US" sz="1600" b="0" i="0" dirty="0">
                <a:solidFill>
                  <a:srgbClr val="24292F"/>
                </a:solidFill>
                <a:effectLst/>
                <a:latin typeface="-apple-system"/>
              </a:rPr>
              <a:t> et al., ICASSP’11], </a:t>
            </a:r>
            <a:r>
              <a:rPr lang="en-US" sz="1600" dirty="0"/>
              <a:t>…</a:t>
            </a:r>
          </a:p>
          <a:p>
            <a:r>
              <a:rPr lang="en-US" sz="1600" dirty="0"/>
              <a:t>Hashing: LSH[Indyk, Motwani, STOC’98; Charikar, STOC’02], Data dependent hashing [</a:t>
            </a:r>
            <a:r>
              <a:rPr lang="en-US" sz="1600" dirty="0" err="1"/>
              <a:t>Andoni</a:t>
            </a:r>
            <a:r>
              <a:rPr lang="en-US" sz="1600" dirty="0"/>
              <a:t>, Razenshteyn, STOC’15],… </a:t>
            </a:r>
          </a:p>
          <a:p>
            <a:r>
              <a:rPr lang="en-US" sz="1600" dirty="0"/>
              <a:t>Graph based: NSW, HNSW[</a:t>
            </a:r>
            <a:r>
              <a:rPr lang="da-DK" sz="1600" b="0" i="0" dirty="0">
                <a:solidFill>
                  <a:srgbClr val="24292F"/>
                </a:solidFill>
                <a:effectLst/>
                <a:latin typeface="-apple-system"/>
              </a:rPr>
              <a:t>Malkov, Yashunin, T.PAMI’18]</a:t>
            </a:r>
            <a:r>
              <a:rPr lang="en-US" sz="1600" dirty="0"/>
              <a:t>, NSG</a:t>
            </a:r>
            <a:r>
              <a:rPr lang="en-US" sz="1600" b="0" i="0" dirty="0">
                <a:solidFill>
                  <a:srgbClr val="24292F"/>
                </a:solidFill>
                <a:effectLst/>
                <a:latin typeface="-apple-system"/>
              </a:rPr>
              <a:t> [Fu et al, VLDB’19]</a:t>
            </a:r>
            <a:r>
              <a:rPr lang="en-US" sz="1600" dirty="0"/>
              <a:t>, NGT [Iwasaki], SPTAG[Wang et al., CVPR’12], HCNNG[Muñoz et al., Pattern Recognition 96], …</a:t>
            </a:r>
          </a:p>
          <a:p>
            <a:r>
              <a:rPr lang="en-US" sz="1600" dirty="0"/>
              <a:t>Compression techniques</a:t>
            </a:r>
          </a:p>
          <a:p>
            <a:pPr lvl="1"/>
            <a:r>
              <a:rPr lang="en-US" sz="1400" dirty="0"/>
              <a:t>PQ [Jegou et al., PAMI’11], OPQ</a:t>
            </a:r>
            <a:r>
              <a:rPr lang="en-US" sz="1600" b="0" i="0" dirty="0">
                <a:solidFill>
                  <a:srgbClr val="24292F"/>
                </a:solidFill>
                <a:effectLst/>
                <a:latin typeface="-apple-system"/>
              </a:rPr>
              <a:t> [He et al., CVPR’13]</a:t>
            </a:r>
            <a:r>
              <a:rPr lang="en-US" sz="1400" dirty="0"/>
              <a:t>,.. for </a:t>
            </a:r>
            <a:r>
              <a:rPr lang="en-US" sz="1400" i="1" dirty="0"/>
              <a:t>l</a:t>
            </a:r>
            <a:r>
              <a:rPr lang="en-US" sz="1400" baseline="-25000" dirty="0"/>
              <a:t>2</a:t>
            </a:r>
          </a:p>
          <a:p>
            <a:pPr lvl="1"/>
            <a:r>
              <a:rPr lang="en-US" sz="1400" dirty="0" err="1"/>
              <a:t>ScANN</a:t>
            </a:r>
            <a:r>
              <a:rPr lang="en-US" sz="1400" dirty="0"/>
              <a:t>[Guo et al., ICML’20] for maximum inner product</a:t>
            </a:r>
          </a:p>
          <a:p>
            <a:r>
              <a:rPr lang="en-US" sz="1600" dirty="0"/>
              <a:t>Domain specific:</a:t>
            </a:r>
          </a:p>
          <a:p>
            <a:pPr lvl="1"/>
            <a:r>
              <a:rPr lang="en-US" sz="1400" dirty="0"/>
              <a:t>Sparse high-dimensional</a:t>
            </a:r>
          </a:p>
          <a:p>
            <a:pPr lvl="1"/>
            <a:r>
              <a:rPr lang="en-US" sz="1400" dirty="0"/>
              <a:t>Geospatial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6DF66-D846-4C31-8933-7539BF5BF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8B2A022-2CA5-4F4C-AAD1-AF3E845FDDFC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11/13/2025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F7833-21F3-48CB-AAD7-1BA55A40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A31737-66ED-4538-8E4A-5B6F08D0267E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F41E4D-5D64-42DE-B460-D1443148B981}"/>
              </a:ext>
            </a:extLst>
          </p:cNvPr>
          <p:cNvSpPr txBox="1"/>
          <p:nvPr/>
        </p:nvSpPr>
        <p:spPr>
          <a:xfrm>
            <a:off x="6226963" y="848239"/>
            <a:ext cx="38817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ann-benchmarks.com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SIFT Image descriptors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1M points, 128 dimensions, L2 distance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486120-BC04-FAD4-9149-B72A3529B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817" y="1943101"/>
            <a:ext cx="5869744" cy="447757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08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722"/>
    </mc:Choice>
    <mc:Fallback xmlns="">
      <p:transition spd="slow" advTm="5072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C89E4-BA1B-9441-100F-D128A92BA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8"/>
            <a:ext cx="10718802" cy="1325563"/>
          </a:xfrm>
        </p:spPr>
        <p:txBody>
          <a:bodyPr>
            <a:normAutofit/>
          </a:bodyPr>
          <a:lstStyle/>
          <a:p>
            <a:r>
              <a:rPr lang="en-US" sz="4000" dirty="0"/>
              <a:t>The scale and scope of vector search at Microsoft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55578-F614-4AF1-AEF2-A9A0E4D9D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5340331"/>
            <a:ext cx="10718803" cy="36200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400" i="1" dirty="0"/>
              <a:t>Very large range of sizes, ingest and query throughput. 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graphicFrame>
        <p:nvGraphicFramePr>
          <p:cNvPr id="5" name="Table 19">
            <a:extLst>
              <a:ext uri="{FF2B5EF4-FFF2-40B4-BE49-F238E27FC236}">
                <a16:creationId xmlns:a16="http://schemas.microsoft.com/office/drawing/2014/main" id="{1722EAEA-3998-A251-769E-3CCD1797A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253463"/>
              </p:ext>
            </p:extLst>
          </p:nvPr>
        </p:nvGraphicFramePr>
        <p:xfrm>
          <a:off x="941997" y="1517669"/>
          <a:ext cx="9861470" cy="3491659"/>
        </p:xfrm>
        <a:graphic>
          <a:graphicData uri="http://schemas.openxmlformats.org/drawingml/2006/table">
            <a:tbl>
              <a:tblPr firstRow="1" bandRow="1"/>
              <a:tblGrid>
                <a:gridCol w="1693515">
                  <a:extLst>
                    <a:ext uri="{9D8B030D-6E8A-4147-A177-3AD203B41FA5}">
                      <a16:colId xmlns:a16="http://schemas.microsoft.com/office/drawing/2014/main" val="86535895"/>
                    </a:ext>
                  </a:extLst>
                </a:gridCol>
                <a:gridCol w="1850769">
                  <a:extLst>
                    <a:ext uri="{9D8B030D-6E8A-4147-A177-3AD203B41FA5}">
                      <a16:colId xmlns:a16="http://schemas.microsoft.com/office/drawing/2014/main" val="2808843146"/>
                    </a:ext>
                  </a:extLst>
                </a:gridCol>
                <a:gridCol w="1993462">
                  <a:extLst>
                    <a:ext uri="{9D8B030D-6E8A-4147-A177-3AD203B41FA5}">
                      <a16:colId xmlns:a16="http://schemas.microsoft.com/office/drawing/2014/main" val="2880226192"/>
                    </a:ext>
                  </a:extLst>
                </a:gridCol>
                <a:gridCol w="2176853">
                  <a:extLst>
                    <a:ext uri="{9D8B030D-6E8A-4147-A177-3AD203B41FA5}">
                      <a16:colId xmlns:a16="http://schemas.microsoft.com/office/drawing/2014/main" val="424857713"/>
                    </a:ext>
                  </a:extLst>
                </a:gridCol>
                <a:gridCol w="2146871">
                  <a:extLst>
                    <a:ext uri="{9D8B030D-6E8A-4147-A177-3AD203B41FA5}">
                      <a16:colId xmlns:a16="http://schemas.microsoft.com/office/drawing/2014/main" val="3507569137"/>
                    </a:ext>
                  </a:extLst>
                </a:gridCol>
              </a:tblGrid>
              <a:tr h="442253">
                <a:tc rowSpan="2">
                  <a:txBody>
                    <a:bodyPr/>
                    <a:lstStyle/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@Microsoft</a:t>
                      </a:r>
                    </a:p>
                    <a:p>
                      <a:endParaRPr 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Cloud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Edge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2488862"/>
                  </a:ext>
                </a:extLst>
              </a:tr>
              <a:tr h="579701">
                <a:tc vMerge="1"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Web Search, Ads &amp; Recommendations</a:t>
                      </a:r>
                      <a:endParaRPr lang="en-US" sz="1600" b="1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Enterprise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Email Search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Enterprise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Doc search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Windows Copilot Runtime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008030"/>
                  </a:ext>
                </a:extLst>
              </a:tr>
              <a:tr h="8237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b="1" dirty="0"/>
                        <a:t>Index Size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>
                        <a:lumMod val="40000"/>
                        <a:lumOff val="6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b="0" dirty="0"/>
                        <a:t>100s of billions of pages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Millions of indices </a:t>
                      </a:r>
                    </a:p>
                    <a:p>
                      <a:r>
                        <a:rPr lang="en-US" sz="1600" dirty="0"/>
                        <a:t>10</a:t>
                      </a:r>
                      <a:r>
                        <a:rPr lang="en-US" sz="1600" baseline="30000" dirty="0"/>
                        <a:t>14</a:t>
                      </a:r>
                      <a:r>
                        <a:rPr lang="en-US" sz="1600" dirty="0"/>
                        <a:t>+ sentences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Thousands of indices</a:t>
                      </a:r>
                    </a:p>
                    <a:p>
                      <a:r>
                        <a:rPr lang="en-US" sz="1600" baseline="0" dirty="0"/>
                        <a:t>Trillions of paragraphs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~10</a:t>
                      </a:r>
                      <a:r>
                        <a:rPr lang="en-US" sz="1600" baseline="30000" dirty="0"/>
                        <a:t>6 </a:t>
                      </a:r>
                      <a:r>
                        <a:rPr lang="en-US" sz="1600" baseline="0" dirty="0"/>
                        <a:t>files, images, text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008682"/>
                  </a:ext>
                </a:extLst>
              </a:tr>
              <a:tr h="5397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b="1" dirty="0"/>
                        <a:t>Update Rate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~ billion</a:t>
                      </a:r>
                      <a:r>
                        <a:rPr lang="en-US" sz="1600" baseline="30000" dirty="0"/>
                        <a:t> </a:t>
                      </a:r>
                      <a:r>
                        <a:rPr lang="en-US" sz="1600" dirty="0"/>
                        <a:t>/day</a:t>
                      </a:r>
                    </a:p>
                    <a:p>
                      <a:r>
                        <a:rPr lang="en-US" sz="1600" dirty="0"/>
                        <a:t>real-time updates</a:t>
                      </a:r>
                    </a:p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new email, clean up deleted emails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~1% change/day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 new content as created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633352"/>
                  </a:ext>
                </a:extLst>
              </a:tr>
              <a:tr h="63179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b="1" dirty="0"/>
                        <a:t>Search latency and throughput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~10ms latency</a:t>
                      </a:r>
                    </a:p>
                    <a:p>
                      <a:r>
                        <a:rPr lang="en-US" sz="1600" dirty="0"/>
                        <a:t>10</a:t>
                      </a:r>
                      <a:r>
                        <a:rPr lang="en-US" sz="1600" baseline="30000" dirty="0"/>
                        <a:t>4</a:t>
                      </a:r>
                      <a:r>
                        <a:rPr lang="en-US" sz="1600" dirty="0"/>
                        <a:t>-10</a:t>
                      </a:r>
                      <a:r>
                        <a:rPr lang="en-US" sz="1600" baseline="30000" dirty="0"/>
                        <a:t>5</a:t>
                      </a:r>
                      <a:r>
                        <a:rPr lang="en-US" sz="1600" dirty="0"/>
                        <a:t> queries/sec</a:t>
                      </a:r>
                    </a:p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&lt;100ms,</a:t>
                      </a:r>
                    </a:p>
                    <a:p>
                      <a:r>
                        <a:rPr lang="en-US" sz="1600" dirty="0"/>
                        <a:t>&lt;100 queries/day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sz="1600" dirty="0"/>
                        <a:t>&lt;100ms,</a:t>
                      </a:r>
                    </a:p>
                    <a:p>
                      <a:r>
                        <a:rPr lang="en-US" sz="1600" dirty="0"/>
                        <a:t>100 queries/sec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&lt;100ms,</a:t>
                      </a:r>
                    </a:p>
                    <a:p>
                      <a:r>
                        <a:rPr lang="en-US" sz="1600" dirty="0"/>
                        <a:t>&lt;100 queries/day</a:t>
                      </a: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789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286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5AF5D6B-71DC-46EA-9664-91F700224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157" y="365761"/>
            <a:ext cx="10917575" cy="672704"/>
          </a:xfrm>
        </p:spPr>
        <p:txBody>
          <a:bodyPr>
            <a:normAutofit fontScale="90000"/>
          </a:bodyPr>
          <a:lstStyle/>
          <a:p>
            <a:r>
              <a:rPr lang="en-US" dirty="0"/>
              <a:t>The DiskANN project: Algorithmic Innovations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45423C-F4BA-A387-F689-7E820C4BEE2E}"/>
              </a:ext>
            </a:extLst>
          </p:cNvPr>
          <p:cNvSpPr txBox="1"/>
          <p:nvPr/>
        </p:nvSpPr>
        <p:spPr>
          <a:xfrm>
            <a:off x="834157" y="1242233"/>
            <a:ext cx="62863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Problem 1: Serving O(100B) indices with &lt;10ms latency and high throughput requires in-mem indices requires </a:t>
            </a:r>
            <a:r>
              <a:rPr lang="en-US" sz="2000" dirty="0"/>
              <a:t>10,000s of machines with O(100GB) DRAM</a:t>
            </a:r>
            <a:endParaRPr lang="en-US" sz="2000" dirty="0"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B7C0B90-A31A-285F-2FF2-CD06D7AD2B26}"/>
              </a:ext>
            </a:extLst>
          </p:cNvPr>
          <p:cNvSpPr txBox="1"/>
          <p:nvPr/>
        </p:nvSpPr>
        <p:spPr>
          <a:xfrm>
            <a:off x="7935879" y="1242233"/>
            <a:ext cx="4041508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DiskANN [NeurIPS’19]:</a:t>
            </a:r>
          </a:p>
          <a:p>
            <a:endParaRPr lang="en-US" dirty="0"/>
          </a:p>
          <a:p>
            <a:r>
              <a:rPr lang="en-US" dirty="0"/>
              <a:t>Index ~1B </a:t>
            </a:r>
            <a:r>
              <a:rPr lang="en-US" dirty="0" err="1"/>
              <a:t>vecs</a:t>
            </a:r>
            <a:r>
              <a:rPr lang="en-US" dirty="0"/>
              <a:t>/machine using SSDs;</a:t>
            </a:r>
          </a:p>
          <a:p>
            <a:r>
              <a:rPr lang="en-US" dirty="0"/>
              <a:t>5-10x higher density than in-mem;</a:t>
            </a:r>
          </a:p>
          <a:p>
            <a:r>
              <a:rPr lang="en-US" dirty="0"/>
              <a:t>&lt;10ms query latency, 10000+ QPS.</a:t>
            </a:r>
            <a:endParaRPr lang="en-US" dirty="0">
              <a:latin typeface="+mj-lt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F30D2818-8BC7-4AFE-F455-938722F0278F}"/>
              </a:ext>
            </a:extLst>
          </p:cNvPr>
          <p:cNvSpPr/>
          <p:nvPr/>
        </p:nvSpPr>
        <p:spPr>
          <a:xfrm>
            <a:off x="7382934" y="1517455"/>
            <a:ext cx="457200" cy="17710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5423C-F4BA-A387-F689-7E820C4BEE2E}"/>
              </a:ext>
            </a:extLst>
          </p:cNvPr>
          <p:cNvSpPr txBox="1"/>
          <p:nvPr/>
        </p:nvSpPr>
        <p:spPr>
          <a:xfrm>
            <a:off x="897465" y="4777907"/>
            <a:ext cx="64854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Problem 3: Not designed for filtered/hybrid queries. Low recall and high query complexity.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e.g., </a:t>
            </a:r>
            <a:r>
              <a:rPr lang="en-US" sz="1600" dirty="0">
                <a:latin typeface="Consolas" panose="020B0609020204030204" pitchFamily="49" charset="0"/>
              </a:rPr>
              <a:t>ORDER by L2 distance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AND (date &gt; Aug 2023)</a:t>
            </a:r>
          </a:p>
          <a:p>
            <a:pPr marL="45720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AND (brand = x OR y OR z)</a:t>
            </a:r>
            <a:endParaRPr lang="en-US" sz="2000" dirty="0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7C0B90-A31A-285F-2FF2-CD06D7AD2B26}"/>
              </a:ext>
            </a:extLst>
          </p:cNvPr>
          <p:cNvSpPr txBox="1"/>
          <p:nvPr/>
        </p:nvSpPr>
        <p:spPr>
          <a:xfrm>
            <a:off x="7935879" y="4730815"/>
            <a:ext cx="4041507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Filtered-DiskANN [WWW’23]: </a:t>
            </a:r>
          </a:p>
          <a:p>
            <a:endParaRPr lang="en-US" dirty="0"/>
          </a:p>
          <a:p>
            <a:r>
              <a:rPr lang="en-US" dirty="0"/>
              <a:t>Order(s) of magnitude higher QPS and lower query latency;</a:t>
            </a:r>
          </a:p>
          <a:p>
            <a:r>
              <a:rPr lang="en-US" dirty="0"/>
              <a:t>High recall for rare predicates.</a:t>
            </a:r>
            <a:endParaRPr lang="en-US" dirty="0">
              <a:latin typeface="+mj-lt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30D2818-8BC7-4AFE-F455-938722F0278F}"/>
              </a:ext>
            </a:extLst>
          </p:cNvPr>
          <p:cNvSpPr/>
          <p:nvPr/>
        </p:nvSpPr>
        <p:spPr>
          <a:xfrm>
            <a:off x="7382934" y="5050542"/>
            <a:ext cx="457200" cy="177106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9F70B56-FFB4-434E-8D5D-F9BD2E97D588}"/>
              </a:ext>
            </a:extLst>
          </p:cNvPr>
          <p:cNvSpPr/>
          <p:nvPr/>
        </p:nvSpPr>
        <p:spPr>
          <a:xfrm>
            <a:off x="7382934" y="3276755"/>
            <a:ext cx="457200" cy="17710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83EDD4-1736-42C5-9A3B-34BAD34A9C94}"/>
              </a:ext>
            </a:extLst>
          </p:cNvPr>
          <p:cNvSpPr txBox="1"/>
          <p:nvPr/>
        </p:nvSpPr>
        <p:spPr>
          <a:xfrm>
            <a:off x="897466" y="2989431"/>
            <a:ext cx="64854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Problem 2: Hard to update, deletes with stable recall is hard. Rebuilt from scratch periodically. </a:t>
            </a:r>
            <a:r>
              <a:rPr lang="en-US" sz="2000" dirty="0"/>
              <a:t>10,000s of machines to periodically rebuild indices every 6/12/24 hours.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9278F4-D475-3705-20AA-CC55520CD735}"/>
              </a:ext>
            </a:extLst>
          </p:cNvPr>
          <p:cNvSpPr txBox="1"/>
          <p:nvPr/>
        </p:nvSpPr>
        <p:spPr>
          <a:xfrm>
            <a:off x="7935879" y="2986524"/>
            <a:ext cx="4041508" cy="147732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Fresh-DiskANN[arXiv:2105.09613]</a:t>
            </a:r>
          </a:p>
          <a:p>
            <a:r>
              <a:rPr lang="en-US" dirty="0"/>
              <a:t>IP-DiskANN[arXiv:2502.13826]</a:t>
            </a:r>
          </a:p>
          <a:p>
            <a:endParaRPr lang="en-US" dirty="0"/>
          </a:p>
          <a:p>
            <a:r>
              <a:rPr lang="en-US" dirty="0"/>
              <a:t>DiskANN + Real-time freshness + 1000s updates/sec/node</a:t>
            </a:r>
            <a:endParaRPr lang="en-US" dirty="0">
              <a:latin typeface="+mj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596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142"/>
    </mc:Choice>
    <mc:Fallback xmlns="">
      <p:transition spd="slow" advTm="11014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8" grpId="0" animBg="1"/>
      <p:bldP spid="12" grpId="0"/>
      <p:bldP spid="14" grpId="0" animBg="1"/>
      <p:bldP spid="16" grpId="0" animBg="1"/>
      <p:bldP spid="27" grpId="0" animBg="1"/>
      <p:bldP spid="17" grpId="0"/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 up of a map&#10;&#10;Description automatically generated">
            <a:extLst>
              <a:ext uri="{FF2B5EF4-FFF2-40B4-BE49-F238E27FC236}">
                <a16:creationId xmlns:a16="http://schemas.microsoft.com/office/drawing/2014/main" id="{987220FE-311D-4DCA-B689-1F43426A44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40" y="445356"/>
            <a:ext cx="6662679" cy="6662679"/>
          </a:xfrm>
          <a:prstGeom prst="rect">
            <a:avLst/>
          </a:prstGeom>
        </p:spPr>
      </p:pic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3BA1559C-F5BA-4605-9444-1B378AE79891}"/>
              </a:ext>
            </a:extLst>
          </p:cNvPr>
          <p:cNvSpPr/>
          <p:nvPr/>
        </p:nvSpPr>
        <p:spPr>
          <a:xfrm>
            <a:off x="3469964" y="3628890"/>
            <a:ext cx="93306" cy="83975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2BD1BA1-E01A-48A1-B64A-373B1AC54174}"/>
              </a:ext>
            </a:extLst>
          </p:cNvPr>
          <p:cNvSpPr/>
          <p:nvPr/>
        </p:nvSpPr>
        <p:spPr>
          <a:xfrm>
            <a:off x="2366884" y="4670338"/>
            <a:ext cx="51760" cy="63483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84DE5A-61E1-4657-9AF0-5D270ED3217A}"/>
              </a:ext>
            </a:extLst>
          </p:cNvPr>
          <p:cNvCxnSpPr>
            <a:cxnSpLocks/>
          </p:cNvCxnSpPr>
          <p:nvPr/>
        </p:nvCxnSpPr>
        <p:spPr>
          <a:xfrm flipH="1">
            <a:off x="3469965" y="3712865"/>
            <a:ext cx="35218" cy="9443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2185E75-4D60-4B9D-A1F4-E658D186D77A}"/>
              </a:ext>
            </a:extLst>
          </p:cNvPr>
          <p:cNvCxnSpPr>
            <a:cxnSpLocks/>
          </p:cNvCxnSpPr>
          <p:nvPr/>
        </p:nvCxnSpPr>
        <p:spPr>
          <a:xfrm flipH="1">
            <a:off x="3375715" y="3807303"/>
            <a:ext cx="94249" cy="25900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2C67B6-0CE0-4B82-99ED-3DEA588669E4}"/>
              </a:ext>
            </a:extLst>
          </p:cNvPr>
          <p:cNvCxnSpPr>
            <a:cxnSpLocks/>
          </p:cNvCxnSpPr>
          <p:nvPr/>
        </p:nvCxnSpPr>
        <p:spPr>
          <a:xfrm flipH="1">
            <a:off x="3247408" y="4066309"/>
            <a:ext cx="128308" cy="34747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CC452B-BE24-4E39-927E-586B6CED3477}"/>
              </a:ext>
            </a:extLst>
          </p:cNvPr>
          <p:cNvCxnSpPr>
            <a:cxnSpLocks/>
          </p:cNvCxnSpPr>
          <p:nvPr/>
        </p:nvCxnSpPr>
        <p:spPr>
          <a:xfrm flipH="1" flipV="1">
            <a:off x="2973669" y="4395979"/>
            <a:ext cx="273739" cy="1780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E0B2513-5F3E-4945-A759-BC8752EBB9F2}"/>
              </a:ext>
            </a:extLst>
          </p:cNvPr>
          <p:cNvCxnSpPr>
            <a:cxnSpLocks/>
          </p:cNvCxnSpPr>
          <p:nvPr/>
        </p:nvCxnSpPr>
        <p:spPr>
          <a:xfrm flipH="1">
            <a:off x="2603498" y="4395979"/>
            <a:ext cx="370172" cy="23953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itle 1">
            <a:extLst>
              <a:ext uri="{FF2B5EF4-FFF2-40B4-BE49-F238E27FC236}">
                <a16:creationId xmlns:a16="http://schemas.microsoft.com/office/drawing/2014/main" id="{EE76BD44-0A38-46EB-9D16-1773F49BC2A6}"/>
              </a:ext>
            </a:extLst>
          </p:cNvPr>
          <p:cNvSpPr txBox="1">
            <a:spLocks/>
          </p:cNvSpPr>
          <p:nvPr/>
        </p:nvSpPr>
        <p:spPr>
          <a:xfrm>
            <a:off x="0" y="74422"/>
            <a:ext cx="12192000" cy="975360"/>
          </a:xfrm>
          <a:prstGeom prst="rect">
            <a:avLst/>
          </a:prstGeom>
          <a:noFill/>
        </p:spPr>
        <p:txBody>
          <a:bodyPr vert="horz" lIns="5486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15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Graph-based ANN indices: </a:t>
            </a:r>
            <a:r>
              <a:rPr 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Calibri Light" panose="020F0302020204030204"/>
              </a:rPr>
              <a:t>A</a:t>
            </a:r>
            <a:r>
              <a:rPr kumimoji="0" lang="en-US" sz="44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lang="en-US" dirty="0">
                <a:solidFill>
                  <a:prstClr val="black">
                    <a:lumMod val="95000"/>
                    <a:lumOff val="5000"/>
                  </a:prstClr>
                </a:solidFill>
                <a:latin typeface="Calibri Light" panose="020F0302020204030204"/>
              </a:rPr>
              <a:t>P</a:t>
            </a:r>
            <a:r>
              <a:rPr kumimoji="0" lang="en-US" sz="44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rimer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-15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[Malkov, </a:t>
            </a:r>
            <a:r>
              <a:rPr kumimoji="0" lang="en-US" sz="1800" b="0" i="0" u="none" strike="noStrike" kern="1200" cap="none" spc="-150" normalizeH="0" baseline="0" noProof="0" dirty="0" err="1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Yashunin</a:t>
            </a:r>
            <a:r>
              <a:rPr 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Calibri Light" panose="020F0302020204030204"/>
              </a:rPr>
              <a:t>’16, </a:t>
            </a:r>
            <a:r>
              <a:rPr lang="en-US" sz="1800" dirty="0" err="1">
                <a:solidFill>
                  <a:prstClr val="black">
                    <a:lumMod val="95000"/>
                    <a:lumOff val="5000"/>
                  </a:prstClr>
                </a:solidFill>
                <a:latin typeface="Calibri Light" panose="020F0302020204030204"/>
              </a:rPr>
              <a:t>arXiv</a:t>
            </a:r>
            <a:r>
              <a:rPr lang="en-US" sz="1800" dirty="0">
                <a:solidFill>
                  <a:prstClr val="black">
                    <a:lumMod val="95000"/>
                    <a:lumOff val="5000"/>
                  </a:prstClr>
                </a:solidFill>
                <a:latin typeface="Calibri Light" panose="020F0302020204030204"/>
              </a:rPr>
              <a:t>: 1603.09320 ]</a:t>
            </a:r>
            <a:endParaRPr kumimoji="0" lang="en-US" sz="1800" b="0" i="0" u="none" strike="noStrike" kern="1200" cap="none" spc="-15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288F0D-20FE-4415-9D5A-D3A6D181A115}"/>
              </a:ext>
            </a:extLst>
          </p:cNvPr>
          <p:cNvSpPr txBox="1"/>
          <p:nvPr/>
        </p:nvSpPr>
        <p:spPr>
          <a:xfrm>
            <a:off x="6780912" y="786208"/>
            <a:ext cx="4342145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Index: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One graph vertex per vector/embedding. Carefully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 add a small number of d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irected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edges between vertices so that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: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Greedy search for query </a:t>
            </a:r>
            <a:r>
              <a:rPr lang="en-US" sz="2000" b="1" i="1" dirty="0">
                <a:solidFill>
                  <a:prstClr val="black"/>
                </a:solidFill>
                <a:latin typeface="Calibri" panose="020F0502020204030204"/>
              </a:rPr>
              <a:t>q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Start at designated start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iterate: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 dist. from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 neighbors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hop to node closest to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long as distance improves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0AB800-CFEB-4514-9801-44001FE3B3F9}"/>
              </a:ext>
            </a:extLst>
          </p:cNvPr>
          <p:cNvSpPr txBox="1"/>
          <p:nvPr/>
        </p:nvSpPr>
        <p:spPr>
          <a:xfrm>
            <a:off x="3455356" y="3270767"/>
            <a:ext cx="215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s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1F1464-BCC0-4FC1-A6A6-7F734801D70C}"/>
              </a:ext>
            </a:extLst>
          </p:cNvPr>
          <p:cNvSpPr txBox="1"/>
          <p:nvPr/>
        </p:nvSpPr>
        <p:spPr>
          <a:xfrm>
            <a:off x="2267731" y="4635516"/>
            <a:ext cx="215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q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859D02-97B6-2429-5CF1-5DD7AB2FDA08}"/>
              </a:ext>
            </a:extLst>
          </p:cNvPr>
          <p:cNvGrpSpPr/>
          <p:nvPr/>
        </p:nvGrpSpPr>
        <p:grpSpPr>
          <a:xfrm>
            <a:off x="6698292" y="4404880"/>
            <a:ext cx="4876984" cy="1697068"/>
            <a:chOff x="6381270" y="4794093"/>
            <a:chExt cx="4876984" cy="1697068"/>
          </a:xfrm>
        </p:grpSpPr>
        <p:pic>
          <p:nvPicPr>
            <p:cNvPr id="4" name="Graphic 3" descr="Checkmark">
              <a:extLst>
                <a:ext uri="{FF2B5EF4-FFF2-40B4-BE49-F238E27FC236}">
                  <a16:creationId xmlns:a16="http://schemas.microsoft.com/office/drawing/2014/main" id="{C88C1309-0E89-06DF-A794-2CC65EFD0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81270" y="4902450"/>
              <a:ext cx="457200" cy="457200"/>
            </a:xfrm>
            <a:prstGeom prst="rect">
              <a:avLst/>
            </a:prstGeom>
          </p:spPr>
        </p:pic>
        <p:pic>
          <p:nvPicPr>
            <p:cNvPr id="5" name="Graphic 4" descr="Close">
              <a:extLst>
                <a:ext uri="{FF2B5EF4-FFF2-40B4-BE49-F238E27FC236}">
                  <a16:creationId xmlns:a16="http://schemas.microsoft.com/office/drawing/2014/main" id="{2AF4FC69-0A84-9982-9311-DFCCEC043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81270" y="5468048"/>
              <a:ext cx="457200" cy="4572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F2D8DC-DDE2-FFAC-2A73-0EBBC9FFD648}"/>
                </a:ext>
              </a:extLst>
            </p:cNvPr>
            <p:cNvSpPr txBox="1"/>
            <p:nvPr/>
          </p:nvSpPr>
          <p:spPr>
            <a:xfrm>
              <a:off x="7012881" y="4794093"/>
              <a:ext cx="4245373" cy="16970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High recall and low latency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Data and graph in memory</a:t>
              </a: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75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Only ~100M points/machine</a:t>
              </a:r>
            </a:p>
          </p:txBody>
        </p:sp>
      </p:grp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74077368-FF70-D97B-65CE-D897A34E6D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0979925" y="998539"/>
            <a:ext cx="190499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045B5-7CD6-4D68-B38B-9DC5A4CDEE0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11/13/2025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271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BAA2A-8CF9-6F5F-26C5-3BF91FA5E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511" y="365761"/>
            <a:ext cx="11675060" cy="672704"/>
          </a:xfrm>
        </p:spPr>
        <p:txBody>
          <a:bodyPr>
            <a:normAutofit fontScale="90000"/>
          </a:bodyPr>
          <a:lstStyle/>
          <a:p>
            <a:r>
              <a:rPr lang="en-US" dirty="0"/>
              <a:t>LSH, Clustering and Graph-based indices at 100M scale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F61816-E483-E972-72BD-898725B8A162}"/>
              </a:ext>
            </a:extLst>
          </p:cNvPr>
          <p:cNvSpPr txBox="1"/>
          <p:nvPr/>
        </p:nvSpPr>
        <p:spPr>
          <a:xfrm>
            <a:off x="1500996" y="5791200"/>
            <a:ext cx="57164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Cross-polytope LSH from FALCONN library [Razenshteyn’16]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number of tables = {10 15}, probe width = {25 50 100 200}, dimension of last polytope = {4 8 16 32}, cross polytope number = 4, number of rotations = 3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F2F5060-33F1-29CF-3B12-56FFE7192938}"/>
              </a:ext>
            </a:extLst>
          </p:cNvPr>
          <p:cNvGraphicFramePr>
            <a:graphicFrameLocks/>
          </p:cNvGraphicFramePr>
          <p:nvPr/>
        </p:nvGraphicFramePr>
        <p:xfrm>
          <a:off x="1500995" y="1201947"/>
          <a:ext cx="6699849" cy="41059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2203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F6FBDFE-1C72-4D4D-952F-2097FB2304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746" y="1086438"/>
            <a:ext cx="5378858" cy="5241842"/>
          </a:xfrm>
          <a:prstGeom prst="rect">
            <a:avLst/>
          </a:prstGeom>
        </p:spPr>
      </p:pic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E4181EE-31C9-4D17-B53B-5BED077523FB}"/>
              </a:ext>
            </a:extLst>
          </p:cNvPr>
          <p:cNvSpPr/>
          <p:nvPr/>
        </p:nvSpPr>
        <p:spPr>
          <a:xfrm>
            <a:off x="774698" y="1378786"/>
            <a:ext cx="5245353" cy="2441566"/>
          </a:xfrm>
          <a:prstGeom prst="roundRect">
            <a:avLst>
              <a:gd name="adj" fmla="val 3894"/>
            </a:avLst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28C90B-F390-4251-96E9-DB1EBEC33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605" y="260525"/>
            <a:ext cx="10894789" cy="813078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DiskANN: High recall, low latency via hybrid DRAM+SSD index</a:t>
            </a:r>
            <a:br>
              <a:rPr lang="en-US" sz="3600" dirty="0"/>
            </a:br>
            <a:r>
              <a:rPr lang="en-US" sz="2200" dirty="0"/>
              <a:t>[Subramanya, Devvrit, Kadekodi, Krishnaswamy, Simhadri’19]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983F8-0D17-4A70-82F4-7156500A7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479991-4FB1-4F5B-8E2C-7E075994AC6F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11/13/2025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6C89B21-00FB-404F-8F4A-30EDFB1B24ED}"/>
              </a:ext>
            </a:extLst>
          </p:cNvPr>
          <p:cNvSpPr/>
          <p:nvPr/>
        </p:nvSpPr>
        <p:spPr>
          <a:xfrm>
            <a:off x="9082024" y="3592498"/>
            <a:ext cx="93306" cy="83975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CD361C00-22B7-44B1-A1DE-EBDDC53175F9}"/>
              </a:ext>
            </a:extLst>
          </p:cNvPr>
          <p:cNvSpPr/>
          <p:nvPr/>
        </p:nvSpPr>
        <p:spPr>
          <a:xfrm>
            <a:off x="8137144" y="5299378"/>
            <a:ext cx="69109" cy="83851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9AA8F5-225B-41F3-AA38-7F11726A6BA8}"/>
              </a:ext>
            </a:extLst>
          </p:cNvPr>
          <p:cNvCxnSpPr>
            <a:cxnSpLocks/>
          </p:cNvCxnSpPr>
          <p:nvPr/>
        </p:nvCxnSpPr>
        <p:spPr>
          <a:xfrm>
            <a:off x="8922724" y="3760363"/>
            <a:ext cx="65050" cy="26955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108F47-5F4E-48B4-BF61-E15C7E48EF00}"/>
              </a:ext>
            </a:extLst>
          </p:cNvPr>
          <p:cNvCxnSpPr>
            <a:cxnSpLocks/>
          </p:cNvCxnSpPr>
          <p:nvPr/>
        </p:nvCxnSpPr>
        <p:spPr>
          <a:xfrm flipH="1">
            <a:off x="8870337" y="4029917"/>
            <a:ext cx="117438" cy="34747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8E8C5C-8072-4385-BFE5-BD166EC77F46}"/>
              </a:ext>
            </a:extLst>
          </p:cNvPr>
          <p:cNvCxnSpPr>
            <a:cxnSpLocks/>
          </p:cNvCxnSpPr>
          <p:nvPr/>
        </p:nvCxnSpPr>
        <p:spPr>
          <a:xfrm flipH="1">
            <a:off x="8710061" y="4377389"/>
            <a:ext cx="160276" cy="35871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42F165-20CE-4F8E-B8E2-292AE9BDFA8F}"/>
              </a:ext>
            </a:extLst>
          </p:cNvPr>
          <p:cNvCxnSpPr>
            <a:cxnSpLocks/>
          </p:cNvCxnSpPr>
          <p:nvPr/>
        </p:nvCxnSpPr>
        <p:spPr>
          <a:xfrm flipH="1">
            <a:off x="8418461" y="4808101"/>
            <a:ext cx="271800" cy="3744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7B08DD9-30A9-4DAF-BAE2-FFA98D63CF69}"/>
              </a:ext>
            </a:extLst>
          </p:cNvPr>
          <p:cNvCxnSpPr>
            <a:cxnSpLocks/>
          </p:cNvCxnSpPr>
          <p:nvPr/>
        </p:nvCxnSpPr>
        <p:spPr>
          <a:xfrm flipH="1">
            <a:off x="8690261" y="4727249"/>
            <a:ext cx="19800" cy="80852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A736A39-08E0-4281-97CE-512E0FEF1ED3}"/>
              </a:ext>
            </a:extLst>
          </p:cNvPr>
          <p:cNvSpPr txBox="1"/>
          <p:nvPr/>
        </p:nvSpPr>
        <p:spPr>
          <a:xfrm>
            <a:off x="774698" y="4197016"/>
            <a:ext cx="5245353" cy="16312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GreedySearch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(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Let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 := 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(start node)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Fetch neighbors of p from SSD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Use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compressed representation of points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to find neighbor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closest to </a:t>
            </a: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q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591587-6044-4F2D-9F9E-5EA0EDD0D846}"/>
              </a:ext>
            </a:extLst>
          </p:cNvPr>
          <p:cNvSpPr txBox="1"/>
          <p:nvPr/>
        </p:nvSpPr>
        <p:spPr>
          <a:xfrm rot="5400000">
            <a:off x="5343147" y="2884567"/>
            <a:ext cx="6559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22DBE3-32C1-462D-9017-5C9A03557C47}"/>
              </a:ext>
            </a:extLst>
          </p:cNvPr>
          <p:cNvSpPr txBox="1"/>
          <p:nvPr/>
        </p:nvSpPr>
        <p:spPr>
          <a:xfrm>
            <a:off x="926569" y="2463615"/>
            <a:ext cx="4363471" cy="1200329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1B Vectors (100-1000d) + Graph(~100 degree) ~ 500GB-1TB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Low Diameter (&lt;10 hops)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1AB2453-D554-4FB4-91F0-F866144D0C02}"/>
              </a:ext>
            </a:extLst>
          </p:cNvPr>
          <p:cNvGrpSpPr/>
          <p:nvPr/>
        </p:nvGrpSpPr>
        <p:grpSpPr>
          <a:xfrm>
            <a:off x="948995" y="1482256"/>
            <a:ext cx="4951082" cy="981359"/>
            <a:chOff x="1556708" y="1098311"/>
            <a:chExt cx="4574748" cy="98135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F534813-89F9-4F2D-BE90-1CDD4B80721F}"/>
                </a:ext>
              </a:extLst>
            </p:cNvPr>
            <p:cNvSpPr txBox="1"/>
            <p:nvPr/>
          </p:nvSpPr>
          <p:spPr>
            <a:xfrm>
              <a:off x="1556708" y="1304399"/>
              <a:ext cx="3986994" cy="461665"/>
            </a:xfrm>
            <a:prstGeom prst="rect">
              <a:avLst/>
            </a:prstGeom>
            <a:solidFill>
              <a:schemeClr val="bg2">
                <a:alpha val="70000"/>
              </a:schemeClr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Compressed vectors (~32B)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DCA6F6D-FD15-4F2F-B6B5-4404FA1D1479}"/>
                </a:ext>
              </a:extLst>
            </p:cNvPr>
            <p:cNvSpPr txBox="1"/>
            <p:nvPr/>
          </p:nvSpPr>
          <p:spPr>
            <a:xfrm rot="5400000">
              <a:off x="5409944" y="1358158"/>
              <a:ext cx="98135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DRAM</a:t>
              </a:r>
            </a:p>
          </p:txBody>
        </p:sp>
      </p:grpSp>
      <p:sp>
        <p:nvSpPr>
          <p:cNvPr id="35" name="Arrow: Curved Right 34">
            <a:extLst>
              <a:ext uri="{FF2B5EF4-FFF2-40B4-BE49-F238E27FC236}">
                <a16:creationId xmlns:a16="http://schemas.microsoft.com/office/drawing/2014/main" id="{91F39D40-9D13-42FE-94FC-7B92783C9455}"/>
              </a:ext>
            </a:extLst>
          </p:cNvPr>
          <p:cNvSpPr/>
          <p:nvPr/>
        </p:nvSpPr>
        <p:spPr>
          <a:xfrm rot="10800000">
            <a:off x="5362352" y="4727249"/>
            <a:ext cx="1502781" cy="1048281"/>
          </a:xfrm>
          <a:prstGeom prst="curvedRightArrow">
            <a:avLst>
              <a:gd name="adj1" fmla="val 25000"/>
              <a:gd name="adj2" fmla="val 87382"/>
              <a:gd name="adj3" fmla="val 2500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5350FB-1674-4EC9-9982-980652965FDA}"/>
              </a:ext>
            </a:extLst>
          </p:cNvPr>
          <p:cNvCxnSpPr>
            <a:cxnSpLocks/>
          </p:cNvCxnSpPr>
          <p:nvPr/>
        </p:nvCxnSpPr>
        <p:spPr>
          <a:xfrm flipH="1">
            <a:off x="8933817" y="3653253"/>
            <a:ext cx="172098" cy="10711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9910DE1-A4F3-97D1-B1EE-5C6A79DDDEE6}"/>
              </a:ext>
            </a:extLst>
          </p:cNvPr>
          <p:cNvGrpSpPr/>
          <p:nvPr/>
        </p:nvGrpSpPr>
        <p:grpSpPr>
          <a:xfrm>
            <a:off x="8870337" y="2946037"/>
            <a:ext cx="593793" cy="844600"/>
            <a:chOff x="9466154" y="2765801"/>
            <a:chExt cx="593793" cy="8446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B8DEDF5D-2F81-410F-BA44-F8AB050DAC48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9520165" y="3483708"/>
              <a:ext cx="161871" cy="9618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8F012F-80FE-48AF-9556-36CDB8E5BE07}"/>
                </a:ext>
              </a:extLst>
            </p:cNvPr>
            <p:cNvCxnSpPr>
              <a:cxnSpLocks/>
            </p:cNvCxnSpPr>
            <p:nvPr/>
          </p:nvCxnSpPr>
          <p:spPr>
            <a:xfrm>
              <a:off x="9760497" y="3462595"/>
              <a:ext cx="277789" cy="14780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D2D3DFC-25FC-4B9F-A259-06B94118830B}"/>
                </a:ext>
              </a:extLst>
            </p:cNvPr>
            <p:cNvCxnSpPr>
              <a:cxnSpLocks/>
              <a:stCxn id="7" idx="6"/>
            </p:cNvCxnSpPr>
            <p:nvPr/>
          </p:nvCxnSpPr>
          <p:spPr>
            <a:xfrm>
              <a:off x="9761678" y="3450298"/>
              <a:ext cx="298269" cy="5613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5A31475-9DF7-4DFD-ABD0-2F640C1D0A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60497" y="3366236"/>
              <a:ext cx="262454" cy="68289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2858C19E-E207-4BBF-980D-91FFB4B5F475}"/>
                </a:ext>
              </a:extLst>
            </p:cNvPr>
            <p:cNvCxnSpPr>
              <a:cxnSpLocks/>
              <a:stCxn id="7" idx="7"/>
            </p:cNvCxnSpPr>
            <p:nvPr/>
          </p:nvCxnSpPr>
          <p:spPr>
            <a:xfrm flipH="1" flipV="1">
              <a:off x="9715025" y="2765801"/>
              <a:ext cx="32989" cy="65480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95F8CEC-166D-4382-8A2A-75CBCD8D16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5781" y="2958142"/>
              <a:ext cx="72854" cy="46246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D49105B-0AEA-4205-8109-A8C2E9FC74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154" y="3198556"/>
              <a:ext cx="251648" cy="22205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702600C-B14C-43D8-9718-1749101C60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318" y="3508304"/>
              <a:ext cx="42696" cy="7477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259582A-DA0F-9FA4-C877-7A10C562C7EB}"/>
              </a:ext>
            </a:extLst>
          </p:cNvPr>
          <p:cNvSpPr txBox="1"/>
          <p:nvPr/>
        </p:nvSpPr>
        <p:spPr>
          <a:xfrm>
            <a:off x="9103902" y="3227472"/>
            <a:ext cx="215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s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52E3AB-C4DC-C54A-06BD-8944B7AACED2}"/>
              </a:ext>
            </a:extLst>
          </p:cNvPr>
          <p:cNvSpPr txBox="1"/>
          <p:nvPr/>
        </p:nvSpPr>
        <p:spPr>
          <a:xfrm>
            <a:off x="8093046" y="5183174"/>
            <a:ext cx="215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q</a:t>
            </a:r>
            <a:endParaRPr kumimoji="0" lang="en-US" sz="1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75351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360"/>
    </mc:Choice>
    <mc:Fallback xmlns="">
      <p:transition spd="slow" advTm="293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uiExpand="1" build="p" animBg="1"/>
      <p:bldP spid="3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C53A-D38B-9146-FE16-71AFE22A6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545" y="385215"/>
            <a:ext cx="10935855" cy="1008155"/>
          </a:xfrm>
        </p:spPr>
        <p:txBody>
          <a:bodyPr>
            <a:noAutofit/>
          </a:bodyPr>
          <a:lstStyle/>
          <a:p>
            <a:r>
              <a:rPr lang="en-US" sz="3600" dirty="0"/>
              <a:t>DiskANN graph (right) has a mix of nearest neighbors and diverse long-range edges for fast navigation</a:t>
            </a:r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27A0A2B1-3D35-F3E8-1138-DEE23FD6F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276" y="1664233"/>
            <a:ext cx="5101692" cy="5101692"/>
          </a:xfrm>
          <a:prstGeom prst="rect">
            <a:avLst/>
          </a:prstGeom>
        </p:spPr>
      </p:pic>
      <p:pic>
        <p:nvPicPr>
          <p:cNvPr id="5" name="Picture 4" descr="A close up of a map&#10;&#10;Description automatically generated">
            <a:extLst>
              <a:ext uri="{FF2B5EF4-FFF2-40B4-BE49-F238E27FC236}">
                <a16:creationId xmlns:a16="http://schemas.microsoft.com/office/drawing/2014/main" id="{DC26F474-537E-F431-82A0-C7280D282C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87" y="1664233"/>
            <a:ext cx="5048710" cy="50487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CCB67F-282F-1495-3B46-54318B9B7B62}"/>
              </a:ext>
            </a:extLst>
          </p:cNvPr>
          <p:cNvSpPr txBox="1"/>
          <p:nvPr/>
        </p:nvSpPr>
        <p:spPr>
          <a:xfrm flipH="1">
            <a:off x="2770723" y="1717213"/>
            <a:ext cx="9382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α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93ECE-87BA-7F87-F3F1-5215D187A47E}"/>
              </a:ext>
            </a:extLst>
          </p:cNvPr>
          <p:cNvSpPr txBox="1"/>
          <p:nvPr/>
        </p:nvSpPr>
        <p:spPr>
          <a:xfrm flipH="1">
            <a:off x="7179653" y="1664233"/>
            <a:ext cx="12529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α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=1.2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02DE2176-B209-9D95-B8A5-8449C181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0979925" y="998539"/>
            <a:ext cx="190499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045B5-7CD6-4D68-B38B-9DC5A4CDEE0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11/13/2025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lide Number Placeholder 7">
            <a:extLst>
              <a:ext uri="{FF2B5EF4-FFF2-40B4-BE49-F238E27FC236}">
                <a16:creationId xmlns:a16="http://schemas.microsoft.com/office/drawing/2014/main" id="{480B522F-4223-867D-73CF-13B47C37C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7610" y="6172200"/>
            <a:ext cx="549630" cy="593725"/>
          </a:xfrm>
        </p:spPr>
        <p:txBody>
          <a:bodyPr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A31737-66ED-4538-8E4A-5B6F08D0267E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9164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15DE0-162E-9AAF-7A47-63289917C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3" y="111793"/>
            <a:ext cx="11977101" cy="847333"/>
          </a:xfrm>
        </p:spPr>
        <p:txBody>
          <a:bodyPr>
            <a:normAutofit fontScale="90000"/>
          </a:bodyPr>
          <a:lstStyle/>
          <a:p>
            <a:r>
              <a:rPr lang="en-US" dirty="0"/>
              <a:t>90+% points 6-hops from start </a:t>
            </a:r>
            <a:r>
              <a:rPr lang="en-US" dirty="0">
                <a:sym typeface="Wingdings" panose="05000000000000000000" pitchFamily="2" charset="2"/>
              </a:rPr>
              <a:t> Fewer SSD Round Trips</a:t>
            </a:r>
            <a:endParaRPr lang="en-US" dirty="0"/>
          </a:p>
        </p:txBody>
      </p:sp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B91ABA7D-F7EB-7978-1C00-1AC51E91A07D}"/>
              </a:ext>
            </a:extLst>
          </p:cNvPr>
          <p:cNvGraphicFramePr>
            <a:graphicFrameLocks noGrp="1"/>
          </p:cNvGraphicFramePr>
          <p:nvPr/>
        </p:nvGraphicFramePr>
        <p:xfrm>
          <a:off x="526774" y="1093304"/>
          <a:ext cx="3438938" cy="55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1645946160"/>
                    </a:ext>
                  </a:extLst>
                </a:gridCol>
                <a:gridCol w="2067339">
                  <a:extLst>
                    <a:ext uri="{9D8B030D-6E8A-4147-A177-3AD203B41FA5}">
                      <a16:colId xmlns:a16="http://schemas.microsoft.com/office/drawing/2014/main" val="792340849"/>
                    </a:ext>
                  </a:extLst>
                </a:gridCol>
              </a:tblGrid>
              <a:tr h="979253">
                <a:tc>
                  <a:txBody>
                    <a:bodyPr/>
                    <a:lstStyle/>
                    <a:p>
                      <a:r>
                        <a:rPr lang="en-US" sz="1400" dirty="0"/>
                        <a:t>BFS level (from designated start point)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# points at BFS level </a:t>
                      </a:r>
                      <a:r>
                        <a:rPr lang="en-US" sz="1400" i="1" dirty="0"/>
                        <a:t>i </a:t>
                      </a:r>
                      <a:br>
                        <a:rPr lang="en-US" sz="1400" i="1" dirty="0"/>
                      </a:br>
                      <a:r>
                        <a:rPr lang="en-US" sz="1400" i="1" dirty="0"/>
                        <a:t>(1billion point MS SPACEV dataset)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365210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605178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9946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731693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891273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670737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52050789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897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682738849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206863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252099714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906387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11835439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054980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190225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987892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104202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182161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47656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01197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11095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895969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1536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48605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759658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257165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707748"/>
                  </a:ext>
                </a:extLst>
              </a:tr>
            </a:tbl>
          </a:graphicData>
        </a:graphic>
      </p:graphicFrame>
      <p:sp>
        <p:nvSpPr>
          <p:cNvPr id="6" name="Right Brace 5">
            <a:extLst>
              <a:ext uri="{FF2B5EF4-FFF2-40B4-BE49-F238E27FC236}">
                <a16:creationId xmlns:a16="http://schemas.microsoft.com/office/drawing/2014/main" id="{503FC19F-1831-5841-6083-91CB137FA054}"/>
              </a:ext>
            </a:extLst>
          </p:cNvPr>
          <p:cNvSpPr/>
          <p:nvPr/>
        </p:nvSpPr>
        <p:spPr>
          <a:xfrm>
            <a:off x="4035286" y="2102126"/>
            <a:ext cx="248479" cy="176916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582B80-2B9E-C574-E7DD-4C0596C216C4}"/>
              </a:ext>
            </a:extLst>
          </p:cNvPr>
          <p:cNvSpPr txBox="1"/>
          <p:nvPr/>
        </p:nvSpPr>
        <p:spPr>
          <a:xfrm>
            <a:off x="4368248" y="2564800"/>
            <a:ext cx="1595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98% of points &lt;= 6 hops from start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EDE051DD-118C-306B-75D0-23988BE7E6A7}"/>
              </a:ext>
            </a:extLst>
          </p:cNvPr>
          <p:cNvGraphicFramePr>
            <a:graphicFrameLocks noGrp="1"/>
          </p:cNvGraphicFramePr>
          <p:nvPr/>
        </p:nvGraphicFramePr>
        <p:xfrm>
          <a:off x="6130787" y="1093304"/>
          <a:ext cx="3438938" cy="4980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1645946160"/>
                    </a:ext>
                  </a:extLst>
                </a:gridCol>
                <a:gridCol w="2067339">
                  <a:extLst>
                    <a:ext uri="{9D8B030D-6E8A-4147-A177-3AD203B41FA5}">
                      <a16:colId xmlns:a16="http://schemas.microsoft.com/office/drawing/2014/main" val="792340849"/>
                    </a:ext>
                  </a:extLst>
                </a:gridCol>
              </a:tblGrid>
              <a:tr h="979253">
                <a:tc>
                  <a:txBody>
                    <a:bodyPr/>
                    <a:lstStyle/>
                    <a:p>
                      <a:r>
                        <a:rPr lang="en-US" sz="1400" dirty="0"/>
                        <a:t>BFS level (from designated start point)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# points at BFS level </a:t>
                      </a:r>
                      <a:r>
                        <a:rPr lang="en-US" sz="1400" i="1" dirty="0"/>
                        <a:t>i </a:t>
                      </a:r>
                      <a:br>
                        <a:rPr lang="en-US" sz="1400" i="1" dirty="0"/>
                      </a:br>
                      <a:r>
                        <a:rPr lang="en-US" sz="1400" i="1" dirty="0"/>
                        <a:t>(1billion point MS BIGANN dataset)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365210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605178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3868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731693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213058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670737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10864635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897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226069439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206863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673168120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906387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88167475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054980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1487493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987892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6645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182161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01197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895969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948605"/>
                  </a:ext>
                </a:extLst>
              </a:tr>
              <a:tr h="307765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0759658"/>
                  </a:ext>
                </a:extLst>
              </a:tr>
            </a:tbl>
          </a:graphicData>
        </a:graphic>
      </p:graphicFrame>
      <p:sp>
        <p:nvSpPr>
          <p:cNvPr id="10" name="Right Brace 9">
            <a:extLst>
              <a:ext uri="{FF2B5EF4-FFF2-40B4-BE49-F238E27FC236}">
                <a16:creationId xmlns:a16="http://schemas.microsoft.com/office/drawing/2014/main" id="{43081040-2635-13D8-FE82-5562F0DF84B6}"/>
              </a:ext>
            </a:extLst>
          </p:cNvPr>
          <p:cNvSpPr/>
          <p:nvPr/>
        </p:nvSpPr>
        <p:spPr>
          <a:xfrm>
            <a:off x="9654208" y="2102126"/>
            <a:ext cx="248479" cy="176916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355082-6256-7CE4-E2EF-898CDC129DE6}"/>
              </a:ext>
            </a:extLst>
          </p:cNvPr>
          <p:cNvSpPr txBox="1"/>
          <p:nvPr/>
        </p:nvSpPr>
        <p:spPr>
          <a:xfrm>
            <a:off x="10069996" y="2564800"/>
            <a:ext cx="1595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90% of points &lt;= 6 hops from start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47F734B7-E574-230A-AFE2-BD9C3DC8D1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0979925" y="998539"/>
            <a:ext cx="190499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045B5-7CD6-4D68-B38B-9DC5A4CDEE0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11/13/2025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lide Number Placeholder 7">
            <a:extLst>
              <a:ext uri="{FF2B5EF4-FFF2-40B4-BE49-F238E27FC236}">
                <a16:creationId xmlns:a16="http://schemas.microsoft.com/office/drawing/2014/main" id="{1B32BD9C-0A9D-FCA8-4A21-D5E498BBA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7610" y="6172200"/>
            <a:ext cx="549630" cy="593725"/>
          </a:xfrm>
        </p:spPr>
        <p:txBody>
          <a:bodyPr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A31737-66ED-4538-8E4A-5B6F08D0267E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953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 animBg="1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2F02-E2C0-440B-B644-FFFB1F0C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647" y="252293"/>
            <a:ext cx="10953410" cy="672704"/>
          </a:xfrm>
        </p:spPr>
        <p:txBody>
          <a:bodyPr>
            <a:noAutofit/>
          </a:bodyPr>
          <a:lstStyle/>
          <a:p>
            <a:r>
              <a:rPr lang="en-US" sz="3600" dirty="0"/>
              <a:t>Recall, latency, QPS and IO/s for 100-degree graph 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DC17898-EE15-F9A9-1C12-35C2AA314B1C}"/>
              </a:ext>
            </a:extLst>
          </p:cNvPr>
          <p:cNvGraphicFramePr>
            <a:graphicFrameLocks/>
          </p:cNvGraphicFramePr>
          <p:nvPr/>
        </p:nvGraphicFramePr>
        <p:xfrm>
          <a:off x="193140" y="1129127"/>
          <a:ext cx="3729038" cy="2809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42200B5A-1FDF-4D11-A14C-D50EE41D635B}"/>
              </a:ext>
            </a:extLst>
          </p:cNvPr>
          <p:cNvGraphicFramePr>
            <a:graphicFrameLocks/>
          </p:cNvGraphicFramePr>
          <p:nvPr/>
        </p:nvGraphicFramePr>
        <p:xfrm>
          <a:off x="4036477" y="1110077"/>
          <a:ext cx="3550444" cy="2809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6A498F64-851B-4A83-AB0C-62BCFA8A157C}"/>
              </a:ext>
            </a:extLst>
          </p:cNvPr>
          <p:cNvGraphicFramePr>
            <a:graphicFrameLocks/>
          </p:cNvGraphicFramePr>
          <p:nvPr/>
        </p:nvGraphicFramePr>
        <p:xfrm>
          <a:off x="7832190" y="1129127"/>
          <a:ext cx="3550444" cy="2809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C3471B9E-25EE-919E-8768-731E074EED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0979925" y="998539"/>
            <a:ext cx="1904999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E045B5-7CD6-4D68-B38B-9DC5A4CDEE05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11/13/2025</a:t>
            </a:fld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9E15A925-E94D-0BD8-5AB6-AE4E64EDD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7610" y="6172200"/>
            <a:ext cx="549630" cy="593725"/>
          </a:xfrm>
        </p:spPr>
        <p:txBody>
          <a:bodyPr>
            <a:normAutofit fontScale="85000"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A31737-66ED-4538-8E4A-5B6F08D0267E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CC5418-FB41-61BC-8095-0071269D1025}"/>
              </a:ext>
            </a:extLst>
          </p:cNvPr>
          <p:cNvSpPr txBox="1"/>
          <p:nvPr/>
        </p:nvSpPr>
        <p:spPr>
          <a:xfrm flipH="1">
            <a:off x="630647" y="4336013"/>
            <a:ext cx="10375685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BIGANN dataset: 1Billion points in 128 dimensions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Memory footprint = 32GB + 250K adjacency lists cached in memory ~ 33GB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comparison, in-memory graph indices (e.g. HNSW) would need 500GB+ DRAM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9FE1608-4396-304E-750E-D03A4CFAFD6A}"/>
              </a:ext>
            </a:extLst>
          </p:cNvPr>
          <p:cNvCxnSpPr/>
          <p:nvPr/>
        </p:nvCxnSpPr>
        <p:spPr>
          <a:xfrm flipH="1" flipV="1">
            <a:off x="9114971" y="2801257"/>
            <a:ext cx="885372" cy="3556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F5B54B-DE8B-AE45-E4B4-4119B7B22063}"/>
              </a:ext>
            </a:extLst>
          </p:cNvPr>
          <p:cNvCxnSpPr/>
          <p:nvPr/>
        </p:nvCxnSpPr>
        <p:spPr>
          <a:xfrm flipH="1" flipV="1">
            <a:off x="5204959" y="2682994"/>
            <a:ext cx="885372" cy="3556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FB359B-BDB4-6B8A-7E14-7802ED1599F4}"/>
              </a:ext>
            </a:extLst>
          </p:cNvPr>
          <p:cNvCxnSpPr/>
          <p:nvPr/>
        </p:nvCxnSpPr>
        <p:spPr>
          <a:xfrm flipH="1" flipV="1">
            <a:off x="1432792" y="2097105"/>
            <a:ext cx="885372" cy="3556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28965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5AEA6-9DB9-A6CE-5ED7-45773D2F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Scale further to 50B vector index</a:t>
            </a:r>
            <a:br>
              <a:rPr lang="en-US" dirty="0"/>
            </a:br>
            <a:r>
              <a:rPr lang="en-US" sz="2700" dirty="0"/>
              <a:t>[Adams, Li, Zhang, Tan, Chen, Li, Li, Risvik, Simhadri’25]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7C69C-6140-04FB-BB6B-D437FBD90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10011" cy="4351338"/>
          </a:xfrm>
        </p:spPr>
        <p:txBody>
          <a:bodyPr/>
          <a:lstStyle/>
          <a:p>
            <a:r>
              <a:rPr lang="en-US" dirty="0"/>
              <a:t>Graph-based indices have highly sublinear query complexity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One logical 50B index better than 100shards X 500M indices</a:t>
            </a:r>
          </a:p>
          <a:p>
            <a:endParaRPr lang="en-US" dirty="0"/>
          </a:p>
          <a:p>
            <a:r>
              <a:rPr lang="en-US" dirty="0"/>
              <a:t>A single distributed graph spanning ~1000 machines</a:t>
            </a:r>
          </a:p>
          <a:p>
            <a:pPr lvl="1"/>
            <a:r>
              <a:rPr lang="en-US" dirty="0"/>
              <a:t>in-storage index</a:t>
            </a:r>
          </a:p>
          <a:p>
            <a:pPr lvl="1"/>
            <a:r>
              <a:rPr lang="en-US" dirty="0"/>
              <a:t>100,000 QPS, 26ms p50 latency</a:t>
            </a:r>
          </a:p>
          <a:p>
            <a:pPr lvl="1"/>
            <a:r>
              <a:rPr lang="en-US" dirty="0"/>
              <a:t>6x higher QPS than previous partitioning and selective routing systems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277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5E8FC-44B9-FDC7-0E99-8E60403E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38090-766A-5596-D2B2-26CF7390E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497" y="375950"/>
            <a:ext cx="10978360" cy="553998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2: Recall with deletes and distribution drift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FB471C7-6631-3A71-CD8C-83C1B9CBB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5999" y="1903061"/>
            <a:ext cx="5242097" cy="41909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1FA31A-A4A9-9F3F-9C6B-75D0DB645469}"/>
              </a:ext>
            </a:extLst>
          </p:cNvPr>
          <p:cNvSpPr txBox="1"/>
          <p:nvPr/>
        </p:nvSpPr>
        <p:spPr>
          <a:xfrm>
            <a:off x="5936343" y="1034369"/>
            <a:ext cx="605245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Recall comparison between </a:t>
            </a:r>
            <a:r>
              <a:rPr lang="en-US" b="1" dirty="0">
                <a:solidFill>
                  <a:srgbClr val="002060"/>
                </a:solidFill>
              </a:rPr>
              <a:t>simple drop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policy vs </a:t>
            </a:r>
            <a:r>
              <a:rPr lang="en-US" dirty="0"/>
              <a:t>DiskANN </a:t>
            </a:r>
            <a:r>
              <a:rPr lang="en-US" b="1" dirty="0">
                <a:solidFill>
                  <a:schemeClr val="accent2"/>
                </a:solidFill>
              </a:rPr>
              <a:t>in-place deletes that locally repair the graph</a:t>
            </a:r>
          </a:p>
          <a:p>
            <a:r>
              <a:rPr lang="en-US" sz="1600" dirty="0"/>
              <a:t>[Xu, Manohar, Bernstein, Chandramouli, Wen, Simhadri’25].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56A68-D5A7-373F-649D-93489127D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371" y="5922544"/>
            <a:ext cx="2997354" cy="342918"/>
          </a:xfrm>
          <a:prstGeom prst="rect">
            <a:avLst/>
          </a:prstGeom>
        </p:spPr>
      </p:pic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497F7800-0C49-9A74-9BFE-F7B849529B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33" y="1238825"/>
            <a:ext cx="4936892" cy="51930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2187DC-3169-F4D3-DC19-C01C08FFAEF5}"/>
              </a:ext>
            </a:extLst>
          </p:cNvPr>
          <p:cNvSpPr txBox="1"/>
          <p:nvPr/>
        </p:nvSpPr>
        <p:spPr>
          <a:xfrm>
            <a:off x="6487886" y="65677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55330E-E7CB-D72F-5EBC-93FDC0B89F7E}"/>
              </a:ext>
            </a:extLst>
          </p:cNvPr>
          <p:cNvSpPr txBox="1"/>
          <p:nvPr/>
        </p:nvSpPr>
        <p:spPr>
          <a:xfrm>
            <a:off x="6770915" y="6197390"/>
            <a:ext cx="50299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[https://github.com/harsha-simhadri/big-ann-benchmarks/tree/main/neurips23/runbooks]</a:t>
            </a:r>
          </a:p>
        </p:txBody>
      </p:sp>
    </p:spTree>
    <p:extLst>
      <p:ext uri="{BB962C8B-B14F-4D97-AF65-F5344CB8AC3E}">
        <p14:creationId xmlns:p14="http://schemas.microsoft.com/office/powerpoint/2010/main" val="2050880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B7EA54-4A10-881D-AC3B-26F08B796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A125-2B4B-CF4F-7BE3-06E154A07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365761"/>
            <a:ext cx="10279598" cy="970914"/>
          </a:xfrm>
        </p:spPr>
        <p:txBody>
          <a:bodyPr>
            <a:normAutofit fontScale="90000"/>
          </a:bodyPr>
          <a:lstStyle/>
          <a:p>
            <a:r>
              <a:rPr lang="en-US" dirty="0"/>
              <a:t>In place Updates for DiskANN with Stable Recall</a:t>
            </a:r>
            <a:br>
              <a:rPr lang="en-US" dirty="0"/>
            </a:br>
            <a:r>
              <a:rPr lang="en-US" sz="2200" dirty="0"/>
              <a:t>[Xu, Manohar, Bernstein, Chandramouli, Wen, Simhadri’25]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C1BA5-E8C7-074D-28BB-354DE77EE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983" y="1709091"/>
            <a:ext cx="4843007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</a:rPr>
              <a:t>Before Deletion</a:t>
            </a:r>
            <a:endParaRPr lang="en-US" dirty="0"/>
          </a:p>
        </p:txBody>
      </p:sp>
      <p:sp>
        <p:nvSpPr>
          <p:cNvPr id="98" name="Content Placeholder 2">
            <a:extLst>
              <a:ext uri="{FF2B5EF4-FFF2-40B4-BE49-F238E27FC236}">
                <a16:creationId xmlns:a16="http://schemas.microsoft.com/office/drawing/2014/main" id="{819E39E2-A06F-9832-FF95-4E4388DB6180}"/>
              </a:ext>
            </a:extLst>
          </p:cNvPr>
          <p:cNvSpPr txBox="1">
            <a:spLocks/>
          </p:cNvSpPr>
          <p:nvPr/>
        </p:nvSpPr>
        <p:spPr>
          <a:xfrm>
            <a:off x="6151179" y="1749536"/>
            <a:ext cx="52640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</a:rPr>
              <a:t>After Deletion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E90DF0A-D11C-E1E0-FEC0-672D93929FB8}"/>
              </a:ext>
            </a:extLst>
          </p:cNvPr>
          <p:cNvSpPr/>
          <p:nvPr/>
        </p:nvSpPr>
        <p:spPr>
          <a:xfrm>
            <a:off x="6625195" y="3536172"/>
            <a:ext cx="650183" cy="6364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u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endParaRPr lang="en-US" sz="1800" baseline="-25000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11B8C6C-9A89-3B37-0612-35EC02C5D8DD}"/>
              </a:ext>
            </a:extLst>
          </p:cNvPr>
          <p:cNvSpPr/>
          <p:nvPr/>
        </p:nvSpPr>
        <p:spPr>
          <a:xfrm>
            <a:off x="6651187" y="4569352"/>
            <a:ext cx="611312" cy="6266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u</a:t>
            </a:r>
            <a:r>
              <a:rPr lang="en-US" baseline="-25000" dirty="0">
                <a:solidFill>
                  <a:schemeClr val="tx1"/>
                </a:solidFill>
              </a:rPr>
              <a:t>3</a:t>
            </a:r>
            <a:endParaRPr lang="en-US" sz="1800" baseline="-25000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A203708-C59D-1DC2-D5EF-4875CB39C75D}"/>
              </a:ext>
            </a:extLst>
          </p:cNvPr>
          <p:cNvSpPr/>
          <p:nvPr/>
        </p:nvSpPr>
        <p:spPr>
          <a:xfrm>
            <a:off x="8875574" y="3536171"/>
            <a:ext cx="650183" cy="6364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76AED16-A03B-F87F-9DD2-D2CFC1D1E0BC}"/>
              </a:ext>
            </a:extLst>
          </p:cNvPr>
          <p:cNvSpPr/>
          <p:nvPr/>
        </p:nvSpPr>
        <p:spPr>
          <a:xfrm>
            <a:off x="10819993" y="2454757"/>
            <a:ext cx="650183" cy="6410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12CCCE9-14E9-F12C-576B-D8EAAE914618}"/>
              </a:ext>
            </a:extLst>
          </p:cNvPr>
          <p:cNvSpPr/>
          <p:nvPr/>
        </p:nvSpPr>
        <p:spPr>
          <a:xfrm>
            <a:off x="10819994" y="3598562"/>
            <a:ext cx="650183" cy="6455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v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endParaRPr lang="en-US" sz="1800" baseline="-25000" dirty="0"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631B8D6-4AC7-DE49-5F08-3B9FFDF4FBA0}"/>
              </a:ext>
            </a:extLst>
          </p:cNvPr>
          <p:cNvSpPr/>
          <p:nvPr/>
        </p:nvSpPr>
        <p:spPr>
          <a:xfrm>
            <a:off x="8758603" y="2940617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38DDCD3-2A62-1EE6-744F-0ECD820918B6}"/>
              </a:ext>
            </a:extLst>
          </p:cNvPr>
          <p:cNvSpPr/>
          <p:nvPr/>
        </p:nvSpPr>
        <p:spPr>
          <a:xfrm>
            <a:off x="9145559" y="2928888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CD84865-CF52-8CE7-5984-BF01BEE136E9}"/>
              </a:ext>
            </a:extLst>
          </p:cNvPr>
          <p:cNvSpPr/>
          <p:nvPr/>
        </p:nvSpPr>
        <p:spPr>
          <a:xfrm>
            <a:off x="9538761" y="3065778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C010BED-9CEC-028F-129A-B22EA403BEF0}"/>
              </a:ext>
            </a:extLst>
          </p:cNvPr>
          <p:cNvSpPr/>
          <p:nvPr/>
        </p:nvSpPr>
        <p:spPr>
          <a:xfrm>
            <a:off x="8416448" y="3144252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EAF78BD-E5C7-3608-BB5E-E0B820DE440C}"/>
              </a:ext>
            </a:extLst>
          </p:cNvPr>
          <p:cNvSpPr/>
          <p:nvPr/>
        </p:nvSpPr>
        <p:spPr>
          <a:xfrm>
            <a:off x="8244524" y="3513012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7C8D3AD-794B-1AB5-1CD3-A8171D890CC5}"/>
              </a:ext>
            </a:extLst>
          </p:cNvPr>
          <p:cNvSpPr/>
          <p:nvPr/>
        </p:nvSpPr>
        <p:spPr>
          <a:xfrm>
            <a:off x="8452002" y="4287444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02CD1E3-290B-FCDD-6A56-DA4462F29DF0}"/>
              </a:ext>
            </a:extLst>
          </p:cNvPr>
          <p:cNvSpPr/>
          <p:nvPr/>
        </p:nvSpPr>
        <p:spPr>
          <a:xfrm>
            <a:off x="8880771" y="4443189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D6B1A98-7E42-092B-F8F0-8FEC1D3182F4}"/>
              </a:ext>
            </a:extLst>
          </p:cNvPr>
          <p:cNvSpPr/>
          <p:nvPr/>
        </p:nvSpPr>
        <p:spPr>
          <a:xfrm>
            <a:off x="9300443" y="4458497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E70629C-8088-086D-23E3-BFD0B280587D}"/>
              </a:ext>
            </a:extLst>
          </p:cNvPr>
          <p:cNvSpPr/>
          <p:nvPr/>
        </p:nvSpPr>
        <p:spPr>
          <a:xfrm>
            <a:off x="9642598" y="4205550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409BEB3D-5BA2-0222-B782-8728D6BBA603}"/>
              </a:ext>
            </a:extLst>
          </p:cNvPr>
          <p:cNvSpPr/>
          <p:nvPr/>
        </p:nvSpPr>
        <p:spPr>
          <a:xfrm>
            <a:off x="9829869" y="3790130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5138F16-332D-7185-A0ED-F3E1D4932669}"/>
              </a:ext>
            </a:extLst>
          </p:cNvPr>
          <p:cNvSpPr/>
          <p:nvPr/>
        </p:nvSpPr>
        <p:spPr>
          <a:xfrm>
            <a:off x="9829869" y="3357267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AF8A577-8CBD-A243-C7EC-FDA9A455913E}"/>
              </a:ext>
            </a:extLst>
          </p:cNvPr>
          <p:cNvSpPr/>
          <p:nvPr/>
        </p:nvSpPr>
        <p:spPr>
          <a:xfrm>
            <a:off x="8280355" y="3909138"/>
            <a:ext cx="291108" cy="31149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aseline="-25000" dirty="0">
              <a:solidFill>
                <a:schemeClr val="tx1"/>
              </a:solidFill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8AC2132-FDD2-1271-2AD8-B9F463B30D3F}"/>
              </a:ext>
            </a:extLst>
          </p:cNvPr>
          <p:cNvCxnSpPr>
            <a:stCxn id="14" idx="7"/>
            <a:endCxn id="34" idx="1"/>
          </p:cNvCxnSpPr>
          <p:nvPr/>
        </p:nvCxnSpPr>
        <p:spPr>
          <a:xfrm flipV="1">
            <a:off x="7180161" y="3189869"/>
            <a:ext cx="1278919" cy="4395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914B280-395D-848A-D288-7E6591E67674}"/>
              </a:ext>
            </a:extLst>
          </p:cNvPr>
          <p:cNvCxnSpPr>
            <a:stCxn id="14" idx="6"/>
            <a:endCxn id="35" idx="1"/>
          </p:cNvCxnSpPr>
          <p:nvPr/>
        </p:nvCxnSpPr>
        <p:spPr>
          <a:xfrm flipV="1">
            <a:off x="7275378" y="3558629"/>
            <a:ext cx="1011778" cy="295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DCA387F-87BA-DCD6-F4E5-3043CAFD6B54}"/>
              </a:ext>
            </a:extLst>
          </p:cNvPr>
          <p:cNvCxnSpPr>
            <a:stCxn id="14" idx="5"/>
            <a:endCxn id="42" idx="1"/>
          </p:cNvCxnSpPr>
          <p:nvPr/>
        </p:nvCxnSpPr>
        <p:spPr>
          <a:xfrm flipV="1">
            <a:off x="7180161" y="3954755"/>
            <a:ext cx="1142826" cy="1246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8CE877B-52E9-48E2-2B87-158F248247F3}"/>
              </a:ext>
            </a:extLst>
          </p:cNvPr>
          <p:cNvCxnSpPr>
            <a:stCxn id="15" idx="7"/>
            <a:endCxn id="35" idx="2"/>
          </p:cNvCxnSpPr>
          <p:nvPr/>
        </p:nvCxnSpPr>
        <p:spPr>
          <a:xfrm flipV="1">
            <a:off x="7172974" y="3668758"/>
            <a:ext cx="1071550" cy="9923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439E70B-BB46-86D8-849A-48C730825960}"/>
              </a:ext>
            </a:extLst>
          </p:cNvPr>
          <p:cNvCxnSpPr>
            <a:stCxn id="15" idx="6"/>
            <a:endCxn id="42" idx="2"/>
          </p:cNvCxnSpPr>
          <p:nvPr/>
        </p:nvCxnSpPr>
        <p:spPr>
          <a:xfrm flipV="1">
            <a:off x="7262499" y="4064884"/>
            <a:ext cx="1017856" cy="817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F2D3D62-61EC-D435-AC23-22B2CE24A9CA}"/>
              </a:ext>
            </a:extLst>
          </p:cNvPr>
          <p:cNvCxnSpPr>
            <a:stCxn id="15" idx="5"/>
            <a:endCxn id="36" idx="2"/>
          </p:cNvCxnSpPr>
          <p:nvPr/>
        </p:nvCxnSpPr>
        <p:spPr>
          <a:xfrm flipV="1">
            <a:off x="7172974" y="4443190"/>
            <a:ext cx="1279028" cy="6610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725E66F8-7020-3387-C4F9-66DAE38719C6}"/>
              </a:ext>
            </a:extLst>
          </p:cNvPr>
          <p:cNvCxnSpPr>
            <a:stCxn id="32" idx="7"/>
            <a:endCxn id="18" idx="1"/>
          </p:cNvCxnSpPr>
          <p:nvPr/>
        </p:nvCxnSpPr>
        <p:spPr>
          <a:xfrm flipV="1">
            <a:off x="9394035" y="2548633"/>
            <a:ext cx="1521175" cy="4258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2FC0BD7-0BB1-2F37-161B-63EF4DDD3E16}"/>
              </a:ext>
            </a:extLst>
          </p:cNvPr>
          <p:cNvCxnSpPr>
            <a:stCxn id="33" idx="7"/>
            <a:endCxn id="18" idx="2"/>
          </p:cNvCxnSpPr>
          <p:nvPr/>
        </p:nvCxnSpPr>
        <p:spPr>
          <a:xfrm flipV="1">
            <a:off x="9787237" y="2775270"/>
            <a:ext cx="1032756" cy="3361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1CDCE9C-3288-8727-89B0-EAFF1C552DC9}"/>
              </a:ext>
            </a:extLst>
          </p:cNvPr>
          <p:cNvCxnSpPr>
            <a:stCxn id="41" idx="7"/>
            <a:endCxn id="18" idx="3"/>
          </p:cNvCxnSpPr>
          <p:nvPr/>
        </p:nvCxnSpPr>
        <p:spPr>
          <a:xfrm flipV="1">
            <a:off x="10078345" y="3001907"/>
            <a:ext cx="836865" cy="400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5E980E5-8E1F-ABEE-6DE1-7B778C84C882}"/>
              </a:ext>
            </a:extLst>
          </p:cNvPr>
          <p:cNvCxnSpPr>
            <a:stCxn id="41" idx="6"/>
            <a:endCxn id="20" idx="1"/>
          </p:cNvCxnSpPr>
          <p:nvPr/>
        </p:nvCxnSpPr>
        <p:spPr>
          <a:xfrm>
            <a:off x="10120977" y="3513013"/>
            <a:ext cx="794234" cy="1800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7766B8A-2F8F-41C9-0AAF-4444381593CD}"/>
              </a:ext>
            </a:extLst>
          </p:cNvPr>
          <p:cNvCxnSpPr>
            <a:stCxn id="40" idx="6"/>
            <a:endCxn id="20" idx="2"/>
          </p:cNvCxnSpPr>
          <p:nvPr/>
        </p:nvCxnSpPr>
        <p:spPr>
          <a:xfrm flipV="1">
            <a:off x="10120977" y="3921360"/>
            <a:ext cx="699017" cy="245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CA921EF-EC1C-4362-5181-A0E90FB7F437}"/>
              </a:ext>
            </a:extLst>
          </p:cNvPr>
          <p:cNvCxnSpPr>
            <a:stCxn id="39" idx="6"/>
            <a:endCxn id="20" idx="3"/>
          </p:cNvCxnSpPr>
          <p:nvPr/>
        </p:nvCxnSpPr>
        <p:spPr>
          <a:xfrm flipV="1">
            <a:off x="9933706" y="4149612"/>
            <a:ext cx="981505" cy="2116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Oval 86">
            <a:extLst>
              <a:ext uri="{FF2B5EF4-FFF2-40B4-BE49-F238E27FC236}">
                <a16:creationId xmlns:a16="http://schemas.microsoft.com/office/drawing/2014/main" id="{9159FA76-2223-D439-0634-C5E1D6043A92}"/>
              </a:ext>
            </a:extLst>
          </p:cNvPr>
          <p:cNvSpPr/>
          <p:nvPr/>
        </p:nvSpPr>
        <p:spPr>
          <a:xfrm>
            <a:off x="1227161" y="2468046"/>
            <a:ext cx="650183" cy="67620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u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7BAC22AA-B8E6-D164-DAEF-5506E67CFAE1}"/>
              </a:ext>
            </a:extLst>
          </p:cNvPr>
          <p:cNvSpPr/>
          <p:nvPr/>
        </p:nvSpPr>
        <p:spPr>
          <a:xfrm>
            <a:off x="1237693" y="3491772"/>
            <a:ext cx="650183" cy="6364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u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endParaRPr lang="en-US" sz="1800" baseline="-25000" dirty="0">
              <a:solidFill>
                <a:schemeClr val="tx1"/>
              </a:solidFill>
            </a:endParaRP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C366C1F4-4668-69D9-A721-27FD47FDCEDF}"/>
              </a:ext>
            </a:extLst>
          </p:cNvPr>
          <p:cNvSpPr/>
          <p:nvPr/>
        </p:nvSpPr>
        <p:spPr>
          <a:xfrm>
            <a:off x="1266032" y="4476145"/>
            <a:ext cx="611312" cy="62661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u</a:t>
            </a:r>
            <a:r>
              <a:rPr lang="en-US" baseline="-25000" dirty="0">
                <a:solidFill>
                  <a:schemeClr val="tx1"/>
                </a:solidFill>
              </a:rPr>
              <a:t>3</a:t>
            </a:r>
            <a:endParaRPr lang="en-US" sz="1800" baseline="-25000" dirty="0">
              <a:solidFill>
                <a:schemeClr val="tx1"/>
              </a:solidFill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9F549657-5F89-802F-5C10-94FD4AEBA0AB}"/>
              </a:ext>
            </a:extLst>
          </p:cNvPr>
          <p:cNvSpPr/>
          <p:nvPr/>
        </p:nvSpPr>
        <p:spPr>
          <a:xfrm>
            <a:off x="2480704" y="3491772"/>
            <a:ext cx="650183" cy="636459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41B518E-70D9-37E5-4A1B-45C80B8C169D}"/>
              </a:ext>
            </a:extLst>
          </p:cNvPr>
          <p:cNvSpPr/>
          <p:nvPr/>
        </p:nvSpPr>
        <p:spPr>
          <a:xfrm>
            <a:off x="3715678" y="2468046"/>
            <a:ext cx="650183" cy="64102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v</a:t>
            </a:r>
            <a:r>
              <a:rPr lang="en-US" sz="20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F9CBA26-29B1-4AF9-D02D-672FAB31D9D3}"/>
              </a:ext>
            </a:extLst>
          </p:cNvPr>
          <p:cNvSpPr/>
          <p:nvPr/>
        </p:nvSpPr>
        <p:spPr>
          <a:xfrm>
            <a:off x="3735113" y="3491772"/>
            <a:ext cx="650183" cy="6455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v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endParaRPr lang="en-US" sz="1800" baseline="-25000" dirty="0">
              <a:solidFill>
                <a:schemeClr val="tx1"/>
              </a:solidFill>
            </a:endParaRP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A92670F2-9F2C-8000-A738-2DF76D4D3A98}"/>
              </a:ext>
            </a:extLst>
          </p:cNvPr>
          <p:cNvSpPr/>
          <p:nvPr/>
        </p:nvSpPr>
        <p:spPr>
          <a:xfrm>
            <a:off x="3754549" y="4532360"/>
            <a:ext cx="611312" cy="5900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v</a:t>
            </a:r>
            <a:r>
              <a:rPr lang="en-US" baseline="-25000" dirty="0">
                <a:solidFill>
                  <a:schemeClr val="tx1"/>
                </a:solidFill>
              </a:rPr>
              <a:t>3</a:t>
            </a:r>
            <a:endParaRPr lang="en-US" sz="1800" baseline="-25000" dirty="0">
              <a:solidFill>
                <a:schemeClr val="tx1"/>
              </a:solidFill>
            </a:endParaRP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A4CF8D32-F908-B922-F411-F7EE06EED928}"/>
              </a:ext>
            </a:extLst>
          </p:cNvPr>
          <p:cNvCxnSpPr>
            <a:cxnSpLocks/>
            <a:stCxn id="90" idx="7"/>
            <a:endCxn id="91" idx="2"/>
          </p:cNvCxnSpPr>
          <p:nvPr/>
        </p:nvCxnSpPr>
        <p:spPr>
          <a:xfrm flipV="1">
            <a:off x="3035670" y="2788559"/>
            <a:ext cx="680008" cy="7964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07C3FEF2-E818-2244-3450-8BCDCC9CD0F3}"/>
              </a:ext>
            </a:extLst>
          </p:cNvPr>
          <p:cNvCxnSpPr>
            <a:cxnSpLocks/>
            <a:stCxn id="90" idx="6"/>
            <a:endCxn id="92" idx="2"/>
          </p:cNvCxnSpPr>
          <p:nvPr/>
        </p:nvCxnSpPr>
        <p:spPr>
          <a:xfrm>
            <a:off x="3130887" y="3810002"/>
            <a:ext cx="604226" cy="45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21082A6-6238-9116-5A8D-62395A9911D3}"/>
              </a:ext>
            </a:extLst>
          </p:cNvPr>
          <p:cNvCxnSpPr>
            <a:cxnSpLocks/>
            <a:stCxn id="90" idx="5"/>
            <a:endCxn id="93" idx="2"/>
          </p:cNvCxnSpPr>
          <p:nvPr/>
        </p:nvCxnSpPr>
        <p:spPr>
          <a:xfrm>
            <a:off x="3035670" y="4035024"/>
            <a:ext cx="718879" cy="7923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C9E0247A-9118-A455-F30A-5A122155BA1E}"/>
              </a:ext>
            </a:extLst>
          </p:cNvPr>
          <p:cNvCxnSpPr>
            <a:cxnSpLocks/>
            <a:stCxn id="87" idx="6"/>
            <a:endCxn id="90" idx="1"/>
          </p:cNvCxnSpPr>
          <p:nvPr/>
        </p:nvCxnSpPr>
        <p:spPr>
          <a:xfrm>
            <a:off x="1877344" y="2806149"/>
            <a:ext cx="698577" cy="778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6AD7AF7B-C4CA-D78A-9DBE-BE57B09F8AFA}"/>
              </a:ext>
            </a:extLst>
          </p:cNvPr>
          <p:cNvCxnSpPr>
            <a:cxnSpLocks/>
            <a:stCxn id="88" idx="6"/>
            <a:endCxn id="90" idx="2"/>
          </p:cNvCxnSpPr>
          <p:nvPr/>
        </p:nvCxnSpPr>
        <p:spPr>
          <a:xfrm>
            <a:off x="1887876" y="3810001"/>
            <a:ext cx="59282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A2809D0B-A9A2-F2CE-CA57-0446B89EBAE5}"/>
              </a:ext>
            </a:extLst>
          </p:cNvPr>
          <p:cNvCxnSpPr>
            <a:cxnSpLocks/>
            <a:stCxn id="89" idx="6"/>
            <a:endCxn id="90" idx="3"/>
          </p:cNvCxnSpPr>
          <p:nvPr/>
        </p:nvCxnSpPr>
        <p:spPr>
          <a:xfrm flipV="1">
            <a:off x="1877344" y="4035024"/>
            <a:ext cx="698577" cy="7544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8" name="Oval 107">
            <a:extLst>
              <a:ext uri="{FF2B5EF4-FFF2-40B4-BE49-F238E27FC236}">
                <a16:creationId xmlns:a16="http://schemas.microsoft.com/office/drawing/2014/main" id="{6C03FB30-9656-C093-AC8C-D3EE0FE1E92C}"/>
              </a:ext>
            </a:extLst>
          </p:cNvPr>
          <p:cNvSpPr/>
          <p:nvPr/>
        </p:nvSpPr>
        <p:spPr>
          <a:xfrm>
            <a:off x="6587514" y="2470205"/>
            <a:ext cx="650183" cy="63645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u</a:t>
            </a:r>
            <a:r>
              <a:rPr lang="en-US" sz="18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7E547E24-4AB5-65B7-4930-C3D6DF28D257}"/>
              </a:ext>
            </a:extLst>
          </p:cNvPr>
          <p:cNvSpPr/>
          <p:nvPr/>
        </p:nvSpPr>
        <p:spPr>
          <a:xfrm>
            <a:off x="10829313" y="4598934"/>
            <a:ext cx="650183" cy="64559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v</a:t>
            </a:r>
            <a:r>
              <a:rPr lang="en-US" baseline="-25000" dirty="0">
                <a:solidFill>
                  <a:schemeClr val="tx1"/>
                </a:solidFill>
              </a:rPr>
              <a:t>3</a:t>
            </a:r>
            <a:endParaRPr lang="en-US" sz="1800" baseline="-25000" dirty="0">
              <a:solidFill>
                <a:schemeClr val="tx1"/>
              </a:solidFill>
            </a:endParaRP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C13D2FD-2331-A607-8946-B71D2D2B6D79}"/>
              </a:ext>
            </a:extLst>
          </p:cNvPr>
          <p:cNvCxnSpPr>
            <a:stCxn id="108" idx="7"/>
            <a:endCxn id="30" idx="1"/>
          </p:cNvCxnSpPr>
          <p:nvPr/>
        </p:nvCxnSpPr>
        <p:spPr>
          <a:xfrm>
            <a:off x="7142480" y="2563412"/>
            <a:ext cx="1658755" cy="422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57447B3C-FC69-9FE8-AD8B-11EA328A0253}"/>
              </a:ext>
            </a:extLst>
          </p:cNvPr>
          <p:cNvCxnSpPr>
            <a:stCxn id="108" idx="6"/>
            <a:endCxn id="34" idx="0"/>
          </p:cNvCxnSpPr>
          <p:nvPr/>
        </p:nvCxnSpPr>
        <p:spPr>
          <a:xfrm>
            <a:off x="7237697" y="2788434"/>
            <a:ext cx="1324305" cy="3558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EBA9EA8-ABB3-067B-D779-66827F66C344}"/>
              </a:ext>
            </a:extLst>
          </p:cNvPr>
          <p:cNvCxnSpPr>
            <a:stCxn id="108" idx="5"/>
            <a:endCxn id="35" idx="0"/>
          </p:cNvCxnSpPr>
          <p:nvPr/>
        </p:nvCxnSpPr>
        <p:spPr>
          <a:xfrm>
            <a:off x="7142480" y="3013456"/>
            <a:ext cx="1247598" cy="499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ADD3D487-4A9B-7E91-269C-D0DEDB47CF4D}"/>
              </a:ext>
            </a:extLst>
          </p:cNvPr>
          <p:cNvCxnSpPr>
            <a:stCxn id="40" idx="5"/>
            <a:endCxn id="110" idx="1"/>
          </p:cNvCxnSpPr>
          <p:nvPr/>
        </p:nvCxnSpPr>
        <p:spPr>
          <a:xfrm>
            <a:off x="10078345" y="4056004"/>
            <a:ext cx="846185" cy="637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41745569-3638-F2FF-5708-6BD033E6E2A9}"/>
              </a:ext>
            </a:extLst>
          </p:cNvPr>
          <p:cNvCxnSpPr>
            <a:stCxn id="39" idx="5"/>
            <a:endCxn id="110" idx="2"/>
          </p:cNvCxnSpPr>
          <p:nvPr/>
        </p:nvCxnSpPr>
        <p:spPr>
          <a:xfrm>
            <a:off x="9891074" y="4471424"/>
            <a:ext cx="938239" cy="4503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CA26333A-81EF-7577-4056-6885121602A4}"/>
              </a:ext>
            </a:extLst>
          </p:cNvPr>
          <p:cNvCxnSpPr>
            <a:stCxn id="38" idx="5"/>
            <a:endCxn id="110" idx="3"/>
          </p:cNvCxnSpPr>
          <p:nvPr/>
        </p:nvCxnSpPr>
        <p:spPr>
          <a:xfrm>
            <a:off x="9548919" y="4724371"/>
            <a:ext cx="1375611" cy="4256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68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18" grpId="0" animBg="1"/>
      <p:bldP spid="20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108" grpId="0" animBg="1"/>
      <p:bldP spid="1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63EF-E6EE-4A7D-A6CE-2E7F32E62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766" y="208547"/>
            <a:ext cx="1095162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Fresh-DiskANN System reduces write amplification </a:t>
            </a:r>
            <a:r>
              <a:rPr lang="en-US" sz="2200" dirty="0"/>
              <a:t>[Singh, Subramanya, Krishnaswamy, Simhadri’21]</a:t>
            </a:r>
            <a:endParaRPr lang="en-US" sz="40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AC6342B-7F05-40B2-B1C3-F7865795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BA31737-66ED-4538-8E4A-5B6F08D0267E}" type="slidenum">
              <a:rPr lang="en-US" smtClean="0"/>
              <a:t>16</a:t>
            </a:fld>
            <a:endParaRPr lang="en-US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1A10A3E1-70BC-4CBC-9063-A03835EDD467}"/>
              </a:ext>
            </a:extLst>
          </p:cNvPr>
          <p:cNvSpPr/>
          <p:nvPr/>
        </p:nvSpPr>
        <p:spPr>
          <a:xfrm>
            <a:off x="2290565" y="4731543"/>
            <a:ext cx="1933761" cy="1040607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1276F-E0B1-42B7-9192-1302E3ADBFB9}"/>
              </a:ext>
            </a:extLst>
          </p:cNvPr>
          <p:cNvSpPr txBox="1"/>
          <p:nvPr/>
        </p:nvSpPr>
        <p:spPr>
          <a:xfrm>
            <a:off x="1156323" y="4901684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SSD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2F01C3-BC89-4AA5-B19F-12E0D3E02A76}"/>
              </a:ext>
            </a:extLst>
          </p:cNvPr>
          <p:cNvSpPr txBox="1"/>
          <p:nvPr/>
        </p:nvSpPr>
        <p:spPr>
          <a:xfrm>
            <a:off x="909638" y="2448996"/>
            <a:ext cx="988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8F173-2378-48DE-9A0C-4FF577249BDB}"/>
              </a:ext>
            </a:extLst>
          </p:cNvPr>
          <p:cNvSpPr txBox="1"/>
          <p:nvPr/>
        </p:nvSpPr>
        <p:spPr>
          <a:xfrm>
            <a:off x="2490788" y="2323625"/>
            <a:ext cx="223330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+mj-lt"/>
              </a:rPr>
              <a:t>RW-Short-Term Index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57B66F-CE6F-4404-8E4B-26CA50F07AFB}"/>
              </a:ext>
            </a:extLst>
          </p:cNvPr>
          <p:cNvSpPr txBox="1"/>
          <p:nvPr/>
        </p:nvSpPr>
        <p:spPr>
          <a:xfrm>
            <a:off x="2490788" y="3416855"/>
            <a:ext cx="220605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+mj-lt"/>
              </a:rPr>
              <a:t>RO-Short-Term Index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4340DC-40F5-4ACC-824A-157F25AFA5E7}"/>
              </a:ext>
            </a:extLst>
          </p:cNvPr>
          <p:cNvSpPr txBox="1"/>
          <p:nvPr/>
        </p:nvSpPr>
        <p:spPr>
          <a:xfrm>
            <a:off x="2490788" y="2870240"/>
            <a:ext cx="222630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+mj-lt"/>
              </a:rPr>
              <a:t>RO-Short-Term Index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2441009-7389-4A1E-BC59-D60E9893F0C7}"/>
              </a:ext>
            </a:extLst>
          </p:cNvPr>
          <p:cNvCxnSpPr/>
          <p:nvPr/>
        </p:nvCxnSpPr>
        <p:spPr>
          <a:xfrm>
            <a:off x="3245546" y="3919537"/>
            <a:ext cx="0" cy="22860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2F3EA6A-911B-4936-8602-1B3BE97620B8}"/>
              </a:ext>
            </a:extLst>
          </p:cNvPr>
          <p:cNvSpPr txBox="1"/>
          <p:nvPr/>
        </p:nvSpPr>
        <p:spPr>
          <a:xfrm>
            <a:off x="6229350" y="1740218"/>
            <a:ext cx="1081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Delete (v)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E38D6D-4967-468A-8167-2DCE3AB99B18}"/>
              </a:ext>
            </a:extLst>
          </p:cNvPr>
          <p:cNvSpPr txBox="1"/>
          <p:nvPr/>
        </p:nvSpPr>
        <p:spPr>
          <a:xfrm>
            <a:off x="2495035" y="1740218"/>
            <a:ext cx="2128837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+mj-lt"/>
              </a:rPr>
              <a:t>Delete List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1233EFFE-67F9-46C8-9DB0-79F354534DE1}"/>
              </a:ext>
            </a:extLst>
          </p:cNvPr>
          <p:cNvSpPr/>
          <p:nvPr/>
        </p:nvSpPr>
        <p:spPr>
          <a:xfrm>
            <a:off x="2071688" y="1734781"/>
            <a:ext cx="161925" cy="2051406"/>
          </a:xfrm>
          <a:prstGeom prst="leftBrac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E6B8EA-81CE-4051-AA4C-4653891C5FDA}"/>
              </a:ext>
            </a:extLst>
          </p:cNvPr>
          <p:cNvCxnSpPr>
            <a:cxnSpLocks/>
            <a:stCxn id="15" idx="1"/>
            <a:endCxn id="17" idx="3"/>
          </p:cNvCxnSpPr>
          <p:nvPr/>
        </p:nvCxnSpPr>
        <p:spPr>
          <a:xfrm flipH="1" flipV="1">
            <a:off x="4623872" y="1909495"/>
            <a:ext cx="1605478" cy="153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7FC21F3-B3BB-4EA4-A508-8DD1D7BF0702}"/>
              </a:ext>
            </a:extLst>
          </p:cNvPr>
          <p:cNvSpPr txBox="1"/>
          <p:nvPr/>
        </p:nvSpPr>
        <p:spPr>
          <a:xfrm>
            <a:off x="5064648" y="1571070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badi Extra Light" panose="020B0204020104020204" pitchFamily="34" charset="0"/>
              </a:rPr>
              <a:t>append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1B142B-C525-49AD-BCAB-3E01A62A9B8A}"/>
              </a:ext>
            </a:extLst>
          </p:cNvPr>
          <p:cNvSpPr txBox="1"/>
          <p:nvPr/>
        </p:nvSpPr>
        <p:spPr>
          <a:xfrm>
            <a:off x="6229350" y="2322156"/>
            <a:ext cx="108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Insert (v)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E940E9-E177-4A95-9958-B1A0DF16DF95}"/>
              </a:ext>
            </a:extLst>
          </p:cNvPr>
          <p:cNvCxnSpPr>
            <a:cxnSpLocks/>
            <a:stCxn id="25" idx="1"/>
            <a:endCxn id="8" idx="3"/>
          </p:cNvCxnSpPr>
          <p:nvPr/>
        </p:nvCxnSpPr>
        <p:spPr>
          <a:xfrm flipH="1" flipV="1">
            <a:off x="4724092" y="2477514"/>
            <a:ext cx="1505258" cy="29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E657600-EDF2-4A72-A29A-4D83A0BDC308}"/>
              </a:ext>
            </a:extLst>
          </p:cNvPr>
          <p:cNvSpPr txBox="1"/>
          <p:nvPr/>
        </p:nvSpPr>
        <p:spPr>
          <a:xfrm>
            <a:off x="5104724" y="2158843"/>
            <a:ext cx="857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badi Extra Light" panose="020B0204020104020204" pitchFamily="34" charset="0"/>
              </a:rPr>
              <a:t>Insert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E85EE5-63FB-456A-A1EF-7B7D60F21DCD}"/>
              </a:ext>
            </a:extLst>
          </p:cNvPr>
          <p:cNvSpPr txBox="1"/>
          <p:nvPr/>
        </p:nvSpPr>
        <p:spPr>
          <a:xfrm>
            <a:off x="6264664" y="287024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Search (v)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654700-C8EF-44C8-A3DF-82EFD9A18694}"/>
              </a:ext>
            </a:extLst>
          </p:cNvPr>
          <p:cNvCxnSpPr>
            <a:cxnSpLocks/>
            <a:stCxn id="32" idx="1"/>
            <a:endCxn id="12" idx="3"/>
          </p:cNvCxnSpPr>
          <p:nvPr/>
        </p:nvCxnSpPr>
        <p:spPr>
          <a:xfrm flipH="1" flipV="1">
            <a:off x="4717096" y="3024129"/>
            <a:ext cx="1547568" cy="307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18BB837-3AEF-4699-9268-A5DF818C914A}"/>
              </a:ext>
            </a:extLst>
          </p:cNvPr>
          <p:cNvCxnSpPr>
            <a:cxnSpLocks/>
            <a:stCxn id="32" idx="1"/>
            <a:endCxn id="8" idx="3"/>
          </p:cNvCxnSpPr>
          <p:nvPr/>
        </p:nvCxnSpPr>
        <p:spPr>
          <a:xfrm flipH="1" flipV="1">
            <a:off x="4724092" y="2477514"/>
            <a:ext cx="1540572" cy="577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8036319-BC08-4F1B-8D3F-C4402B0A6BF3}"/>
              </a:ext>
            </a:extLst>
          </p:cNvPr>
          <p:cNvCxnSpPr>
            <a:cxnSpLocks/>
            <a:stCxn id="32" idx="1"/>
            <a:endCxn id="17" idx="3"/>
          </p:cNvCxnSpPr>
          <p:nvPr/>
        </p:nvCxnSpPr>
        <p:spPr>
          <a:xfrm flipH="1" flipV="1">
            <a:off x="4623872" y="1909495"/>
            <a:ext cx="1640792" cy="11454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1E83940-671E-4C69-98C0-9E4EC75EA32F}"/>
              </a:ext>
            </a:extLst>
          </p:cNvPr>
          <p:cNvCxnSpPr>
            <a:cxnSpLocks/>
            <a:stCxn id="32" idx="1"/>
            <a:endCxn id="4" idx="4"/>
          </p:cNvCxnSpPr>
          <p:nvPr/>
        </p:nvCxnSpPr>
        <p:spPr>
          <a:xfrm flipH="1">
            <a:off x="4224326" y="3054906"/>
            <a:ext cx="2040338" cy="2196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60C8068-4426-4B20-BD64-D1A9E91DFFF7}"/>
              </a:ext>
            </a:extLst>
          </p:cNvPr>
          <p:cNvSpPr txBox="1"/>
          <p:nvPr/>
        </p:nvSpPr>
        <p:spPr>
          <a:xfrm>
            <a:off x="6264664" y="3416855"/>
            <a:ext cx="1047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Snapshot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89EF1AA-8BFD-4233-9CD0-FC402F67F84D}"/>
              </a:ext>
            </a:extLst>
          </p:cNvPr>
          <p:cNvSpPr txBox="1"/>
          <p:nvPr/>
        </p:nvSpPr>
        <p:spPr>
          <a:xfrm>
            <a:off x="2483792" y="2319199"/>
            <a:ext cx="2233304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+mj-lt"/>
              </a:rPr>
              <a:t>RW-Short-Term Index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46C10E-19C2-48DC-9766-0F239EE34CB5}"/>
              </a:ext>
            </a:extLst>
          </p:cNvPr>
          <p:cNvSpPr txBox="1"/>
          <p:nvPr/>
        </p:nvSpPr>
        <p:spPr>
          <a:xfrm>
            <a:off x="6264664" y="3990221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Merge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FCA90C0-7B8A-44BE-9788-4A6310DEE2D7}"/>
              </a:ext>
            </a:extLst>
          </p:cNvPr>
          <p:cNvSpPr txBox="1"/>
          <p:nvPr/>
        </p:nvSpPr>
        <p:spPr>
          <a:xfrm>
            <a:off x="2624739" y="5038725"/>
            <a:ext cx="1217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Long-Term Index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FF00DB-066B-4A43-9632-A95A8A87BF63}"/>
              </a:ext>
            </a:extLst>
          </p:cNvPr>
          <p:cNvSpPr txBox="1"/>
          <p:nvPr/>
        </p:nvSpPr>
        <p:spPr>
          <a:xfrm>
            <a:off x="2648551" y="5038724"/>
            <a:ext cx="121778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+mj-lt"/>
              </a:rPr>
              <a:t>New Long-Term Index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ECB953-90B2-47D4-9DC2-3335ED1FFA69}"/>
              </a:ext>
            </a:extLst>
          </p:cNvPr>
          <p:cNvSpPr txBox="1"/>
          <p:nvPr/>
        </p:nvSpPr>
        <p:spPr>
          <a:xfrm>
            <a:off x="7018305" y="3712450"/>
            <a:ext cx="50300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: 2-pass streaming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DRAM footprint proportional to #new points, not overall index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Periodically invoked in the background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0E7FE06-79C3-4BC1-BA3D-80F77164282B}"/>
              </a:ext>
            </a:extLst>
          </p:cNvPr>
          <p:cNvGrpSpPr/>
          <p:nvPr/>
        </p:nvGrpSpPr>
        <p:grpSpPr>
          <a:xfrm>
            <a:off x="2496336" y="1742733"/>
            <a:ext cx="2233304" cy="889405"/>
            <a:chOff x="8198425" y="2158843"/>
            <a:chExt cx="2233304" cy="88940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69B5962-D021-4779-A88F-F3524516B8AA}"/>
                </a:ext>
              </a:extLst>
            </p:cNvPr>
            <p:cNvSpPr txBox="1"/>
            <p:nvPr/>
          </p:nvSpPr>
          <p:spPr>
            <a:xfrm>
              <a:off x="8198425" y="2740471"/>
              <a:ext cx="2233304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+mj-lt"/>
                </a:rPr>
                <a:t>RW-Short-Term Index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BA2C0E-BE95-491A-9986-D5B0F72DFB56}"/>
                </a:ext>
              </a:extLst>
            </p:cNvPr>
            <p:cNvSpPr txBox="1"/>
            <p:nvPr/>
          </p:nvSpPr>
          <p:spPr>
            <a:xfrm>
              <a:off x="8198425" y="2158843"/>
              <a:ext cx="2128837" cy="3385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latin typeface="+mj-lt"/>
                </a:rPr>
                <a:t>Delete List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5EE7CBB-FE95-9F83-BABD-5178168E446C}"/>
              </a:ext>
            </a:extLst>
          </p:cNvPr>
          <p:cNvSpPr txBox="1"/>
          <p:nvPr/>
        </p:nvSpPr>
        <p:spPr>
          <a:xfrm>
            <a:off x="5176344" y="5266253"/>
            <a:ext cx="6298635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With 1 machine (128GB RAM, 48 cores, 1 PM1725a SSD)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1B vectors steady state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1800 inserts/sec, ~5ms insert latency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2000 searches/sec</a:t>
            </a:r>
          </a:p>
          <a:p>
            <a:pPr marL="285750" indent="-285750">
              <a:buFontTx/>
              <a:buChar char="-"/>
            </a:pPr>
            <a:r>
              <a:rPr lang="en-US" sz="1600" dirty="0"/>
              <a:t>50x smaller RAM and 16x fewer cores than PLSH [VLDB’13]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189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101"/>
    </mc:Choice>
    <mc:Fallback xmlns="">
      <p:transition spd="slow" advTm="9110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0" grpId="1" animBg="1"/>
      <p:bldP spid="12" grpId="0" animBg="1"/>
      <p:bldP spid="15" grpId="0"/>
      <p:bldP spid="17" grpId="0" animBg="1"/>
      <p:bldP spid="22" grpId="0"/>
      <p:bldP spid="25" grpId="0"/>
      <p:bldP spid="27" grpId="0"/>
      <p:bldP spid="32" grpId="0"/>
      <p:bldP spid="50" grpId="0"/>
      <p:bldP spid="52" grpId="0" animBg="1"/>
      <p:bldP spid="52" grpId="1" animBg="1"/>
      <p:bldP spid="53" grpId="0"/>
      <p:bldP spid="54" grpId="0"/>
      <p:bldP spid="56" grpId="0"/>
      <p:bldP spid="57" grpId="0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4C0BE-B0A0-1B16-E18D-1B581E79D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814" y="409827"/>
            <a:ext cx="12007843" cy="672704"/>
          </a:xfrm>
        </p:spPr>
        <p:txBody>
          <a:bodyPr>
            <a:noAutofit/>
          </a:bodyPr>
          <a:lstStyle/>
          <a:p>
            <a:r>
              <a:rPr lang="en-US" sz="3600" dirty="0"/>
              <a:t>Problem 3: Vector queries with predicates are slow and inaccurate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10604-812F-D149-BF06-8A906D229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093" y="1360721"/>
            <a:ext cx="6220993" cy="5087452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latin typeface="Aptos" panose="020B0004020202020204" pitchFamily="34" charset="0"/>
              </a:rPr>
              <a:t>Examples: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Aptos" panose="020B0004020202020204" pitchFamily="34" charset="0"/>
              </a:rPr>
              <a:t>Documents accessible to a subdomain (</a:t>
            </a:r>
            <a:r>
              <a:rPr lang="en-US" sz="1600" dirty="0" err="1">
                <a:latin typeface="Aptos" panose="020B0004020202020204" pitchFamily="34" charset="0"/>
              </a:rPr>
              <a:t>eecs.berkeley</a:t>
            </a:r>
            <a:r>
              <a:rPr lang="en-US" sz="1600" dirty="0">
                <a:latin typeface="Aptos" panose="020B00040202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Aptos" panose="020B0004020202020204" pitchFamily="34" charset="0"/>
              </a:rPr>
              <a:t>Ads relevant to a market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Aptos" panose="020B0004020202020204" pitchFamily="34" charset="0"/>
              </a:rPr>
              <a:t>E-commerce search with price, brand and rating filters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>
              <a:latin typeface="Aptos" panose="020B00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Aptos" panose="020B0004020202020204" pitchFamily="34" charset="0"/>
              </a:rPr>
              <a:t>One Formulation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Aptos" panose="020B0004020202020204" pitchFamily="34" charset="0"/>
              </a:rPr>
              <a:t>Given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Aptos" panose="020B0004020202020204" pitchFamily="34" charset="0"/>
              </a:rPr>
              <a:t>Point Set </a:t>
            </a:r>
            <a:r>
              <a:rPr lang="en-US" sz="1600" b="1" i="1" dirty="0">
                <a:latin typeface="Aptos" panose="020B0004020202020204" pitchFamily="34" charset="0"/>
              </a:rPr>
              <a:t>P = {p</a:t>
            </a:r>
            <a:r>
              <a:rPr lang="en-US" sz="1600" b="1" i="1" baseline="-25000" dirty="0">
                <a:latin typeface="Aptos" panose="020B0004020202020204" pitchFamily="34" charset="0"/>
              </a:rPr>
              <a:t>1, </a:t>
            </a:r>
            <a:r>
              <a:rPr lang="en-US" sz="1600" b="1" i="1" dirty="0">
                <a:latin typeface="Aptos" panose="020B0004020202020204" pitchFamily="34" charset="0"/>
              </a:rPr>
              <a:t>p</a:t>
            </a:r>
            <a:r>
              <a:rPr lang="en-US" sz="1600" b="1" i="1" baseline="-25000" dirty="0">
                <a:latin typeface="Aptos" panose="020B0004020202020204" pitchFamily="34" charset="0"/>
              </a:rPr>
              <a:t>2, </a:t>
            </a:r>
            <a:r>
              <a:rPr lang="en-US" sz="1600" b="1" i="1" dirty="0">
                <a:latin typeface="Aptos" panose="020B0004020202020204" pitchFamily="34" charset="0"/>
              </a:rPr>
              <a:t>p</a:t>
            </a:r>
            <a:r>
              <a:rPr lang="en-US" sz="1600" b="1" i="1" baseline="-25000" dirty="0">
                <a:latin typeface="Aptos" panose="020B0004020202020204" pitchFamily="34" charset="0"/>
              </a:rPr>
              <a:t>3, …, </a:t>
            </a:r>
            <a:r>
              <a:rPr lang="en-US" sz="1600" b="1" i="1" dirty="0" err="1">
                <a:latin typeface="Aptos" panose="020B0004020202020204" pitchFamily="34" charset="0"/>
              </a:rPr>
              <a:t>p</a:t>
            </a:r>
            <a:r>
              <a:rPr lang="en-US" sz="1600" b="1" i="1" baseline="-25000" dirty="0" err="1">
                <a:latin typeface="Aptos" panose="020B0004020202020204" pitchFamily="34" charset="0"/>
              </a:rPr>
              <a:t>n</a:t>
            </a:r>
            <a:r>
              <a:rPr lang="en-US" sz="1600" b="1" i="1" dirty="0">
                <a:latin typeface="Aptos" panose="020B0004020202020204" pitchFamily="34" charset="0"/>
              </a:rPr>
              <a:t>}</a:t>
            </a:r>
            <a:r>
              <a:rPr lang="en-US" sz="1600" dirty="0">
                <a:latin typeface="Aptos" panose="020B0004020202020204" pitchFamily="34" charset="0"/>
              </a:rPr>
              <a:t> in </a:t>
            </a:r>
            <a:r>
              <a:rPr lang="en-US" sz="1600" b="1" i="1" dirty="0">
                <a:latin typeface="Aptos" panose="020B0004020202020204" pitchFamily="34" charset="0"/>
              </a:rPr>
              <a:t>R</a:t>
            </a:r>
            <a:r>
              <a:rPr lang="en-US" sz="1600" b="1" i="1" baseline="30000" dirty="0">
                <a:latin typeface="Aptos" panose="020B0004020202020204" pitchFamily="34" charset="0"/>
              </a:rPr>
              <a:t>d</a:t>
            </a:r>
            <a:r>
              <a:rPr lang="en-US" sz="1600" dirty="0">
                <a:latin typeface="Aptos" panose="020B0004020202020204" pitchFamily="34" charset="0"/>
              </a:rPr>
              <a:t>, 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Aptos" panose="020B0004020202020204" pitchFamily="34" charset="0"/>
              </a:rPr>
              <a:t>A set of labels </a:t>
            </a:r>
            <a:r>
              <a:rPr lang="en-US" sz="1600" b="1" i="1" dirty="0">
                <a:latin typeface="Aptos" panose="020B0004020202020204" pitchFamily="34" charset="0"/>
              </a:rPr>
              <a:t>{L</a:t>
            </a:r>
            <a:r>
              <a:rPr lang="en-US" sz="1600" b="1" i="1" baseline="-25000" dirty="0">
                <a:latin typeface="Aptos" panose="020B0004020202020204" pitchFamily="34" charset="0"/>
              </a:rPr>
              <a:t>1, </a:t>
            </a:r>
            <a:r>
              <a:rPr lang="en-US" sz="1600" b="1" i="1" dirty="0">
                <a:latin typeface="Aptos" panose="020B0004020202020204" pitchFamily="34" charset="0"/>
              </a:rPr>
              <a:t>L</a:t>
            </a:r>
            <a:r>
              <a:rPr lang="en-US" sz="1600" b="1" i="1" baseline="-25000" dirty="0">
                <a:latin typeface="Aptos" panose="020B0004020202020204" pitchFamily="34" charset="0"/>
              </a:rPr>
              <a:t>2,</a:t>
            </a:r>
            <a:r>
              <a:rPr lang="en-US" sz="1600" b="1" i="1" dirty="0">
                <a:latin typeface="Aptos" panose="020B0004020202020204" pitchFamily="34" charset="0"/>
              </a:rPr>
              <a:t>…, L</a:t>
            </a:r>
            <a:r>
              <a:rPr lang="en-US" sz="1600" b="1" i="1" baseline="-25000" dirty="0">
                <a:latin typeface="Aptos" panose="020B0004020202020204" pitchFamily="34" charset="0"/>
              </a:rPr>
              <a:t>k</a:t>
            </a:r>
            <a:r>
              <a:rPr lang="en-US" sz="1600" b="1" i="1" dirty="0">
                <a:latin typeface="Aptos" panose="020B0004020202020204" pitchFamily="34" charset="0"/>
              </a:rPr>
              <a:t>}</a:t>
            </a:r>
            <a:r>
              <a:rPr lang="en-US" sz="1600" i="1" dirty="0">
                <a:latin typeface="Aptos" panose="020B0004020202020204" pitchFamily="34" charset="0"/>
              </a:rPr>
              <a:t>, </a:t>
            </a:r>
            <a:endParaRPr lang="en-US" sz="1600" dirty="0"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Aptos" panose="020B0004020202020204" pitchFamily="34" charset="0"/>
              </a:rPr>
              <a:t>An association </a:t>
            </a:r>
            <a:r>
              <a:rPr lang="en-US" sz="1600" b="1" i="1" dirty="0">
                <a:latin typeface="Aptos" panose="020B0004020202020204" pitchFamily="34" charset="0"/>
              </a:rPr>
              <a:t>p</a:t>
            </a:r>
            <a:r>
              <a:rPr lang="en-US" sz="1600" b="1" i="1" baseline="-25000" dirty="0">
                <a:latin typeface="Aptos" panose="020B0004020202020204" pitchFamily="34" charset="0"/>
              </a:rPr>
              <a:t>i</a:t>
            </a:r>
            <a:r>
              <a:rPr lang="en-US" sz="1600" b="1" i="1" dirty="0">
                <a:latin typeface="Aptos" panose="020B0004020202020204" pitchFamily="34" charset="0"/>
              </a:rPr>
              <a:t> </a:t>
            </a:r>
            <a:r>
              <a:rPr lang="en-US" sz="1600" b="1" i="1" dirty="0">
                <a:latin typeface="Aptos" panose="020B0004020202020204" pitchFamily="34" charset="0"/>
                <a:sym typeface="Wingdings" panose="05000000000000000000" pitchFamily="2" charset="2"/>
              </a:rPr>
              <a:t> {L</a:t>
            </a:r>
            <a:r>
              <a:rPr lang="en-US" sz="1600" b="1" i="1" baseline="-25000" dirty="0">
                <a:latin typeface="Aptos" panose="020B0004020202020204" pitchFamily="34" charset="0"/>
                <a:sym typeface="Wingdings" panose="05000000000000000000" pitchFamily="2" charset="2"/>
              </a:rPr>
              <a:t>i1</a:t>
            </a:r>
            <a:r>
              <a:rPr lang="en-US" sz="1600" b="1" i="1" dirty="0">
                <a:latin typeface="Aptos" panose="020B0004020202020204" pitchFamily="34" charset="0"/>
              </a:rPr>
              <a:t>, </a:t>
            </a:r>
            <a:r>
              <a:rPr lang="en-US" sz="1600" b="1" i="1" dirty="0">
                <a:latin typeface="Aptos" panose="020B0004020202020204" pitchFamily="34" charset="0"/>
                <a:sym typeface="Wingdings" panose="05000000000000000000" pitchFamily="2" charset="2"/>
              </a:rPr>
              <a:t>L</a:t>
            </a:r>
            <a:r>
              <a:rPr lang="en-US" sz="1600" b="1" i="1" baseline="-25000" dirty="0">
                <a:latin typeface="Aptos" panose="020B0004020202020204" pitchFamily="34" charset="0"/>
                <a:sym typeface="Wingdings" panose="05000000000000000000" pitchFamily="2" charset="2"/>
              </a:rPr>
              <a:t>i2</a:t>
            </a:r>
            <a:r>
              <a:rPr lang="en-US" sz="1600" b="1" i="1" dirty="0">
                <a:latin typeface="Aptos" panose="020B0004020202020204" pitchFamily="34" charset="0"/>
              </a:rPr>
              <a:t>, ..}</a:t>
            </a:r>
            <a:r>
              <a:rPr lang="en-US" sz="1600" dirty="0">
                <a:latin typeface="Aptos" panose="020B0004020202020204" pitchFamily="34" charset="0"/>
              </a:rPr>
              <a:t> of labels to each </a:t>
            </a:r>
            <a:r>
              <a:rPr lang="en-US" sz="1600" dirty="0" err="1">
                <a:latin typeface="Aptos" panose="020B0004020202020204" pitchFamily="34" charset="0"/>
              </a:rPr>
              <a:t>poin</a:t>
            </a:r>
            <a:endParaRPr lang="en-US" sz="1600" dirty="0">
              <a:latin typeface="Aptos" panose="020B00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dirty="0">
                <a:latin typeface="Aptos" panose="020B0004020202020204" pitchFamily="34" charset="0"/>
              </a:rPr>
              <a:t>Construct an efficient index for queries that filters on the label..</a:t>
            </a:r>
          </a:p>
          <a:p>
            <a:pPr>
              <a:lnSpc>
                <a:spcPct val="100000"/>
              </a:lnSpc>
            </a:pPr>
            <a:r>
              <a:rPr lang="en-US" sz="1600" dirty="0">
                <a:latin typeface="Aptos" panose="020B0004020202020204" pitchFamily="34" charset="0"/>
              </a:rPr>
              <a:t>For query </a:t>
            </a:r>
            <a:r>
              <a:rPr lang="en-US" sz="1600" b="1" dirty="0">
                <a:latin typeface="Aptos" panose="020B0004020202020204" pitchFamily="34" charset="0"/>
              </a:rPr>
              <a:t>&lt;</a:t>
            </a:r>
            <a:r>
              <a:rPr lang="en-US" sz="2400" b="1" i="1" dirty="0">
                <a:latin typeface="Aptos" panose="020B0004020202020204" pitchFamily="34" charset="0"/>
              </a:rPr>
              <a:t>q</a:t>
            </a:r>
            <a:r>
              <a:rPr lang="en-US" sz="1600" b="1" i="1" dirty="0">
                <a:latin typeface="Aptos" panose="020B0004020202020204" pitchFamily="34" charset="0"/>
              </a:rPr>
              <a:t>, </a:t>
            </a:r>
            <a:r>
              <a:rPr lang="en-US" sz="1600" b="1" i="1" dirty="0" err="1">
                <a:latin typeface="Aptos" panose="020B0004020202020204" pitchFamily="34" charset="0"/>
              </a:rPr>
              <a:t>L</a:t>
            </a:r>
            <a:r>
              <a:rPr lang="en-US" sz="1600" b="1" i="1" baseline="-25000" dirty="0" err="1">
                <a:latin typeface="Aptos" panose="020B0004020202020204" pitchFamily="34" charset="0"/>
              </a:rPr>
              <a:t>q</a:t>
            </a:r>
            <a:r>
              <a:rPr lang="en-US" sz="1600" b="1" i="1" dirty="0">
                <a:latin typeface="Aptos" panose="020B0004020202020204" pitchFamily="34" charset="0"/>
              </a:rPr>
              <a:t>={L</a:t>
            </a:r>
            <a:r>
              <a:rPr lang="en-US" sz="1600" b="1" i="1" baseline="-25000" dirty="0">
                <a:latin typeface="Aptos" panose="020B0004020202020204" pitchFamily="34" charset="0"/>
              </a:rPr>
              <a:t>q1</a:t>
            </a:r>
            <a:r>
              <a:rPr lang="en-US" sz="1600" dirty="0">
                <a:latin typeface="Aptos" panose="020B0004020202020204" pitchFamily="34" charset="0"/>
              </a:rPr>
              <a:t>,</a:t>
            </a:r>
            <a:r>
              <a:rPr lang="en-US" sz="1600" b="1" i="1" dirty="0">
                <a:latin typeface="Aptos" panose="020B0004020202020204" pitchFamily="34" charset="0"/>
              </a:rPr>
              <a:t> L</a:t>
            </a:r>
            <a:r>
              <a:rPr lang="en-US" sz="1600" b="1" i="1" baseline="-25000" dirty="0">
                <a:latin typeface="Aptos" panose="020B0004020202020204" pitchFamily="34" charset="0"/>
              </a:rPr>
              <a:t>q2</a:t>
            </a:r>
            <a:r>
              <a:rPr lang="en-US" sz="1600" dirty="0">
                <a:latin typeface="Aptos" panose="020B0004020202020204" pitchFamily="34" charset="0"/>
              </a:rPr>
              <a:t>,</a:t>
            </a:r>
            <a:r>
              <a:rPr lang="en-US" sz="1600" b="1" i="1" dirty="0">
                <a:latin typeface="Aptos" panose="020B0004020202020204" pitchFamily="34" charset="0"/>
              </a:rPr>
              <a:t> …}</a:t>
            </a:r>
            <a:r>
              <a:rPr lang="en-US" sz="1600" b="1" dirty="0">
                <a:latin typeface="Aptos" panose="020B0004020202020204" pitchFamily="34" charset="0"/>
              </a:rPr>
              <a:t>&gt;</a:t>
            </a:r>
            <a:r>
              <a:rPr lang="en-US" sz="1600" dirty="0">
                <a:latin typeface="Aptos" panose="020B0004020202020204" pitchFamily="34" charset="0"/>
              </a:rPr>
              <a:t>,</a:t>
            </a:r>
            <a:r>
              <a:rPr lang="en-US" sz="1600" b="1" i="1" dirty="0">
                <a:latin typeface="Aptos" panose="020B0004020202020204" pitchFamily="34" charset="0"/>
              </a:rPr>
              <a:t> </a:t>
            </a:r>
            <a:r>
              <a:rPr lang="en-US" sz="1600" dirty="0">
                <a:latin typeface="Aptos" panose="020B0004020202020204" pitchFamily="34" charset="0"/>
              </a:rPr>
              <a:t>find points in </a:t>
            </a:r>
            <a:r>
              <a:rPr lang="en-US" sz="1600" b="1" i="1" dirty="0">
                <a:latin typeface="Aptos" panose="020B0004020202020204" pitchFamily="34" charset="0"/>
              </a:rPr>
              <a:t>P </a:t>
            </a:r>
            <a:r>
              <a:rPr lang="en-US" sz="1600" dirty="0">
                <a:latin typeface="Aptos" panose="020B0004020202020204" pitchFamily="34" charset="0"/>
              </a:rPr>
              <a:t>nearest to</a:t>
            </a:r>
            <a:r>
              <a:rPr lang="en-US" sz="1600" b="1" i="1" dirty="0">
                <a:latin typeface="Aptos" panose="020B0004020202020204" pitchFamily="34" charset="0"/>
              </a:rPr>
              <a:t> q </a:t>
            </a:r>
            <a:r>
              <a:rPr lang="en-US" sz="1600" i="1" dirty="0">
                <a:latin typeface="Aptos" panose="020B0004020202020204" pitchFamily="34" charset="0"/>
              </a:rPr>
              <a:t>associated with any of the labels in </a:t>
            </a:r>
            <a:r>
              <a:rPr lang="en-US" sz="1600" b="1" i="1" dirty="0" err="1">
                <a:latin typeface="Aptos" panose="020B0004020202020204" pitchFamily="34" charset="0"/>
              </a:rPr>
              <a:t>L</a:t>
            </a:r>
            <a:r>
              <a:rPr lang="en-US" sz="1600" b="1" i="1" baseline="-25000" dirty="0" err="1">
                <a:latin typeface="Aptos" panose="020B0004020202020204" pitchFamily="34" charset="0"/>
              </a:rPr>
              <a:t>q</a:t>
            </a:r>
            <a:endParaRPr lang="en-US" sz="1600" b="1" i="1" dirty="0">
              <a:latin typeface="Aptos" panose="020B0004020202020204" pitchFamily="34" charset="0"/>
            </a:endParaRPr>
          </a:p>
          <a:p>
            <a:pPr>
              <a:lnSpc>
                <a:spcPct val="100000"/>
              </a:lnSpc>
            </a:pPr>
            <a:endParaRPr lang="en-US" sz="1600" b="1" i="1" dirty="0">
              <a:latin typeface="Aptos" panose="020B0004020202020204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D9D4B250-95DD-7411-DB6A-614BCC5570CD}"/>
              </a:ext>
            </a:extLst>
          </p:cNvPr>
          <p:cNvGrpSpPr/>
          <p:nvPr/>
        </p:nvGrpSpPr>
        <p:grpSpPr>
          <a:xfrm>
            <a:off x="9552209" y="3299035"/>
            <a:ext cx="2197653" cy="1274125"/>
            <a:chOff x="9552209" y="3154572"/>
            <a:chExt cx="2197653" cy="1274125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AC45C1F-43C2-0CAC-080F-DD115A8B9802}"/>
                </a:ext>
              </a:extLst>
            </p:cNvPr>
            <p:cNvSpPr/>
            <p:nvPr/>
          </p:nvSpPr>
          <p:spPr>
            <a:xfrm rot="10980949">
              <a:off x="10581191" y="3870380"/>
              <a:ext cx="283028" cy="293914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DA4D33D-B61A-9F0D-9E4B-5661657103FC}"/>
                </a:ext>
              </a:extLst>
            </p:cNvPr>
            <p:cNvSpPr txBox="1"/>
            <p:nvPr/>
          </p:nvSpPr>
          <p:spPr>
            <a:xfrm>
              <a:off x="9552209" y="3154572"/>
              <a:ext cx="2197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Query and its labels</a:t>
              </a:r>
              <a:endParaRPr lang="en-US" b="1" dirty="0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C27A004-65C9-2989-1AFE-1D2CA5710EB8}"/>
                </a:ext>
              </a:extLst>
            </p:cNvPr>
            <p:cNvSpPr/>
            <p:nvPr/>
          </p:nvSpPr>
          <p:spPr>
            <a:xfrm>
              <a:off x="10029368" y="3701247"/>
              <a:ext cx="283028" cy="27224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CC1215E9-F53E-B240-0648-64FA90A019FE}"/>
                </a:ext>
              </a:extLst>
            </p:cNvPr>
            <p:cNvSpPr/>
            <p:nvPr/>
          </p:nvSpPr>
          <p:spPr>
            <a:xfrm>
              <a:off x="10029368" y="4156450"/>
              <a:ext cx="283028" cy="27224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AF482CC-2437-A0AB-4EB1-2F90B6C39D7E}"/>
              </a:ext>
            </a:extLst>
          </p:cNvPr>
          <p:cNvGrpSpPr/>
          <p:nvPr/>
        </p:nvGrpSpPr>
        <p:grpSpPr>
          <a:xfrm>
            <a:off x="6702021" y="2196389"/>
            <a:ext cx="2634118" cy="4161582"/>
            <a:chOff x="6702021" y="2196389"/>
            <a:chExt cx="2634118" cy="416158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6ACD1AB-C0DD-8E2E-F64F-8BE1027508B9}"/>
                </a:ext>
              </a:extLst>
            </p:cNvPr>
            <p:cNvSpPr/>
            <p:nvPr/>
          </p:nvSpPr>
          <p:spPr>
            <a:xfrm>
              <a:off x="7518400" y="2728686"/>
              <a:ext cx="283028" cy="29391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B732468-16FE-8E3B-6F8F-292923FA3675}"/>
                </a:ext>
              </a:extLst>
            </p:cNvPr>
            <p:cNvSpPr/>
            <p:nvPr/>
          </p:nvSpPr>
          <p:spPr>
            <a:xfrm>
              <a:off x="7518400" y="3204133"/>
              <a:ext cx="283028" cy="29391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62B0BA-59E0-D4BD-CA4F-5862C8DA5F85}"/>
                </a:ext>
              </a:extLst>
            </p:cNvPr>
            <p:cNvSpPr/>
            <p:nvPr/>
          </p:nvSpPr>
          <p:spPr>
            <a:xfrm>
              <a:off x="7532914" y="3679580"/>
              <a:ext cx="283028" cy="29391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27273BC-CF27-1322-CA73-AEA2DACF7C27}"/>
                </a:ext>
              </a:extLst>
            </p:cNvPr>
            <p:cNvSpPr/>
            <p:nvPr/>
          </p:nvSpPr>
          <p:spPr>
            <a:xfrm>
              <a:off x="7532914" y="4155027"/>
              <a:ext cx="283028" cy="29391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DD4E3CE-6824-525A-1E09-0EA527EBDD7A}"/>
                </a:ext>
              </a:extLst>
            </p:cNvPr>
            <p:cNvSpPr/>
            <p:nvPr/>
          </p:nvSpPr>
          <p:spPr>
            <a:xfrm>
              <a:off x="7547705" y="4637716"/>
              <a:ext cx="283028" cy="29391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8A2F0D2-DD80-DFC5-BD45-0837F9D41A4A}"/>
                </a:ext>
              </a:extLst>
            </p:cNvPr>
            <p:cNvSpPr/>
            <p:nvPr/>
          </p:nvSpPr>
          <p:spPr>
            <a:xfrm rot="10980949">
              <a:off x="7547705" y="5113163"/>
              <a:ext cx="283028" cy="29391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F4C3D66-CFE9-E5B6-DB51-91C44307566D}"/>
                </a:ext>
              </a:extLst>
            </p:cNvPr>
            <p:cNvSpPr/>
            <p:nvPr/>
          </p:nvSpPr>
          <p:spPr>
            <a:xfrm>
              <a:off x="7562219" y="5588610"/>
              <a:ext cx="283028" cy="29391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3E41599-43B9-D2E2-8AE5-85206C6F9E7E}"/>
                </a:ext>
              </a:extLst>
            </p:cNvPr>
            <p:cNvSpPr/>
            <p:nvPr/>
          </p:nvSpPr>
          <p:spPr>
            <a:xfrm rot="10980949">
              <a:off x="7562219" y="6064057"/>
              <a:ext cx="283028" cy="29391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2AB0BAB-016A-FA9C-B9CF-E73B9C9DAFB8}"/>
                </a:ext>
              </a:extLst>
            </p:cNvPr>
            <p:cNvSpPr txBox="1"/>
            <p:nvPr/>
          </p:nvSpPr>
          <p:spPr>
            <a:xfrm>
              <a:off x="6702021" y="2196389"/>
              <a:ext cx="13497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Vectors </a:t>
              </a:r>
              <a:r>
                <a:rPr lang="en-US" b="1" dirty="0"/>
                <a:t>{p</a:t>
              </a:r>
              <a:r>
                <a:rPr lang="en-US" b="1" baseline="-25000" dirty="0"/>
                <a:t>i</a:t>
              </a:r>
              <a:r>
                <a:rPr lang="en-US" b="1" dirty="0"/>
                <a:t>}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5B2E3A-EB1F-05D9-7AB7-B64715B75E7C}"/>
                </a:ext>
              </a:extLst>
            </p:cNvPr>
            <p:cNvSpPr/>
            <p:nvPr/>
          </p:nvSpPr>
          <p:spPr>
            <a:xfrm>
              <a:off x="8360229" y="2931886"/>
              <a:ext cx="283028" cy="27224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A57DC82-6E11-1B62-FBC1-98E9172B7760}"/>
                </a:ext>
              </a:extLst>
            </p:cNvPr>
            <p:cNvSpPr/>
            <p:nvPr/>
          </p:nvSpPr>
          <p:spPr>
            <a:xfrm>
              <a:off x="8360229" y="3388798"/>
              <a:ext cx="283028" cy="27224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991ACDD-9854-06E5-F707-C69E0350594B}"/>
                </a:ext>
              </a:extLst>
            </p:cNvPr>
            <p:cNvSpPr/>
            <p:nvPr/>
          </p:nvSpPr>
          <p:spPr>
            <a:xfrm>
              <a:off x="8360229" y="3845710"/>
              <a:ext cx="283028" cy="27224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0BF185B-D89E-ACF9-FF14-2B730D5FDA0A}"/>
                </a:ext>
              </a:extLst>
            </p:cNvPr>
            <p:cNvSpPr/>
            <p:nvPr/>
          </p:nvSpPr>
          <p:spPr>
            <a:xfrm>
              <a:off x="8360229" y="4300913"/>
              <a:ext cx="283028" cy="27224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FC19558-6BA9-BFF5-66CA-C89C5B615465}"/>
                </a:ext>
              </a:extLst>
            </p:cNvPr>
            <p:cNvSpPr/>
            <p:nvPr/>
          </p:nvSpPr>
          <p:spPr>
            <a:xfrm>
              <a:off x="8360229" y="4757825"/>
              <a:ext cx="283028" cy="27224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2943626-98C3-50E0-057B-B2DD61107CAF}"/>
                </a:ext>
              </a:extLst>
            </p:cNvPr>
            <p:cNvSpPr/>
            <p:nvPr/>
          </p:nvSpPr>
          <p:spPr>
            <a:xfrm>
              <a:off x="8360229" y="5214737"/>
              <a:ext cx="283028" cy="27224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2390868-2657-3200-AE11-D9DFB47D8C02}"/>
                </a:ext>
              </a:extLst>
            </p:cNvPr>
            <p:cNvSpPr txBox="1"/>
            <p:nvPr/>
          </p:nvSpPr>
          <p:spPr>
            <a:xfrm>
              <a:off x="8120742" y="2357497"/>
              <a:ext cx="12153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Labels </a:t>
              </a:r>
              <a:r>
                <a:rPr lang="en-US" b="1" dirty="0"/>
                <a:t>{L</a:t>
              </a:r>
              <a:r>
                <a:rPr lang="en-US" b="1" baseline="-25000" dirty="0"/>
                <a:t>i</a:t>
              </a:r>
              <a:r>
                <a:rPr lang="en-US" b="1" dirty="0"/>
                <a:t>}</a:t>
              </a: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1561B6D-F37F-CB79-B26C-F7E69A8A019D}"/>
                </a:ext>
              </a:extLst>
            </p:cNvPr>
            <p:cNvCxnSpPr>
              <a:stCxn id="6" idx="6"/>
              <a:endCxn id="15" idx="1"/>
            </p:cNvCxnSpPr>
            <p:nvPr/>
          </p:nvCxnSpPr>
          <p:spPr>
            <a:xfrm>
              <a:off x="7801428" y="2875643"/>
              <a:ext cx="558801" cy="19236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0E5CD36-6E31-79F1-264B-378E05D9B4FC}"/>
                </a:ext>
              </a:extLst>
            </p:cNvPr>
            <p:cNvCxnSpPr>
              <a:cxnSpLocks/>
              <a:stCxn id="6" idx="5"/>
              <a:endCxn id="17" idx="1"/>
            </p:cNvCxnSpPr>
            <p:nvPr/>
          </p:nvCxnSpPr>
          <p:spPr>
            <a:xfrm>
              <a:off x="7759980" y="2979557"/>
              <a:ext cx="600249" cy="100227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10EA51-44B1-19C6-5BF1-B88E6CAFC47F}"/>
                </a:ext>
              </a:extLst>
            </p:cNvPr>
            <p:cNvCxnSpPr>
              <a:cxnSpLocks/>
              <a:stCxn id="10" idx="6"/>
              <a:endCxn id="18" idx="1"/>
            </p:cNvCxnSpPr>
            <p:nvPr/>
          </p:nvCxnSpPr>
          <p:spPr>
            <a:xfrm flipV="1">
              <a:off x="7830733" y="4437037"/>
              <a:ext cx="529496" cy="34763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E0E07FD-FA86-E3AA-7249-32958C3D4C41}"/>
                </a:ext>
              </a:extLst>
            </p:cNvPr>
            <p:cNvCxnSpPr>
              <a:cxnSpLocks/>
              <a:stCxn id="10" idx="7"/>
              <a:endCxn id="16" idx="1"/>
            </p:cNvCxnSpPr>
            <p:nvPr/>
          </p:nvCxnSpPr>
          <p:spPr>
            <a:xfrm flipV="1">
              <a:off x="7789285" y="3524922"/>
              <a:ext cx="570944" cy="11558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4A4D76E-09AE-7FFC-778E-AEA16AF3FFC7}"/>
                </a:ext>
              </a:extLst>
            </p:cNvPr>
            <p:cNvCxnSpPr>
              <a:cxnSpLocks/>
              <a:stCxn id="10" idx="5"/>
              <a:endCxn id="20" idx="1"/>
            </p:cNvCxnSpPr>
            <p:nvPr/>
          </p:nvCxnSpPr>
          <p:spPr>
            <a:xfrm>
              <a:off x="7789285" y="4888587"/>
              <a:ext cx="570944" cy="462274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41A80E5-8B6F-1BD9-F45D-89CA1B07FB18}"/>
                </a:ext>
              </a:extLst>
            </p:cNvPr>
            <p:cNvCxnSpPr>
              <a:cxnSpLocks/>
              <a:stCxn id="6" idx="5"/>
              <a:endCxn id="18" idx="1"/>
            </p:cNvCxnSpPr>
            <p:nvPr/>
          </p:nvCxnSpPr>
          <p:spPr>
            <a:xfrm>
              <a:off x="7759980" y="2979557"/>
              <a:ext cx="600249" cy="14574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F05B453-72E1-28D1-C3F4-C3887AF6F6ED}"/>
                </a:ext>
              </a:extLst>
            </p:cNvPr>
            <p:cNvCxnSpPr>
              <a:cxnSpLocks/>
              <a:stCxn id="13" idx="3"/>
              <a:endCxn id="19" idx="1"/>
            </p:cNvCxnSpPr>
            <p:nvPr/>
          </p:nvCxnSpPr>
          <p:spPr>
            <a:xfrm flipV="1">
              <a:off x="7809127" y="4893949"/>
              <a:ext cx="551102" cy="121856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24FB9D23-D973-17DA-DB10-4D10FC92157E}"/>
                </a:ext>
              </a:extLst>
            </p:cNvPr>
            <p:cNvCxnSpPr>
              <a:cxnSpLocks/>
              <a:stCxn id="11" idx="2"/>
              <a:endCxn id="19" idx="1"/>
            </p:cNvCxnSpPr>
            <p:nvPr/>
          </p:nvCxnSpPr>
          <p:spPr>
            <a:xfrm flipV="1">
              <a:off x="7830537" y="4893949"/>
              <a:ext cx="529692" cy="3736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5D75C79-FFA5-1597-FE3D-65DDC7A04DAD}"/>
                </a:ext>
              </a:extLst>
            </p:cNvPr>
            <p:cNvCxnSpPr>
              <a:cxnSpLocks/>
              <a:stCxn id="12" idx="7"/>
              <a:endCxn id="18" idx="1"/>
            </p:cNvCxnSpPr>
            <p:nvPr/>
          </p:nvCxnSpPr>
          <p:spPr>
            <a:xfrm flipV="1">
              <a:off x="7803799" y="4437037"/>
              <a:ext cx="556430" cy="11946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77D771ED-ACCC-C1CE-B081-29AE95538711}"/>
                </a:ext>
              </a:extLst>
            </p:cNvPr>
            <p:cNvCxnSpPr>
              <a:cxnSpLocks/>
              <a:stCxn id="8" idx="6"/>
              <a:endCxn id="16" idx="1"/>
            </p:cNvCxnSpPr>
            <p:nvPr/>
          </p:nvCxnSpPr>
          <p:spPr>
            <a:xfrm flipV="1">
              <a:off x="7815942" y="3524922"/>
              <a:ext cx="544287" cy="3016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850A3D00-7FA3-2324-D9EC-B33D4495EC8A}"/>
                </a:ext>
              </a:extLst>
            </p:cNvPr>
            <p:cNvCxnSpPr>
              <a:cxnSpLocks/>
              <a:stCxn id="7" idx="6"/>
              <a:endCxn id="15" idx="1"/>
            </p:cNvCxnSpPr>
            <p:nvPr/>
          </p:nvCxnSpPr>
          <p:spPr>
            <a:xfrm flipV="1">
              <a:off x="7801428" y="3068010"/>
              <a:ext cx="558801" cy="2830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F12F3903-1D5C-2704-FAEA-213F743B5B18}"/>
                </a:ext>
              </a:extLst>
            </p:cNvPr>
            <p:cNvCxnSpPr>
              <a:cxnSpLocks/>
              <a:stCxn id="9" idx="6"/>
              <a:endCxn id="17" idx="1"/>
            </p:cNvCxnSpPr>
            <p:nvPr/>
          </p:nvCxnSpPr>
          <p:spPr>
            <a:xfrm flipV="1">
              <a:off x="7815942" y="3981834"/>
              <a:ext cx="544287" cy="32015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99547105-52D3-A9FE-76BA-A1C099FF3BFD}"/>
              </a:ext>
            </a:extLst>
          </p:cNvPr>
          <p:cNvGrpSpPr/>
          <p:nvPr/>
        </p:nvGrpSpPr>
        <p:grpSpPr>
          <a:xfrm>
            <a:off x="7161266" y="2677912"/>
            <a:ext cx="331734" cy="3247655"/>
            <a:chOff x="7161266" y="2677912"/>
            <a:chExt cx="331734" cy="3247655"/>
          </a:xfrm>
        </p:grpSpPr>
        <p:pic>
          <p:nvPicPr>
            <p:cNvPr id="89" name="Graphic 88" descr="Checkmark with solid fill">
              <a:extLst>
                <a:ext uri="{FF2B5EF4-FFF2-40B4-BE49-F238E27FC236}">
                  <a16:creationId xmlns:a16="http://schemas.microsoft.com/office/drawing/2014/main" id="{D321C1C6-E8C7-7703-4AB4-7F0DCB0D5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84546" y="2677912"/>
              <a:ext cx="293914" cy="293914"/>
            </a:xfrm>
            <a:prstGeom prst="rect">
              <a:avLst/>
            </a:prstGeom>
          </p:spPr>
        </p:pic>
        <p:pic>
          <p:nvPicPr>
            <p:cNvPr id="90" name="Graphic 89" descr="Checkmark with solid fill">
              <a:extLst>
                <a:ext uri="{FF2B5EF4-FFF2-40B4-BE49-F238E27FC236}">
                  <a16:creationId xmlns:a16="http://schemas.microsoft.com/office/drawing/2014/main" id="{119C9F2F-3188-2951-9545-98F3C9550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61266" y="4141909"/>
              <a:ext cx="293914" cy="293914"/>
            </a:xfrm>
            <a:prstGeom prst="rect">
              <a:avLst/>
            </a:prstGeom>
          </p:spPr>
        </p:pic>
        <p:pic>
          <p:nvPicPr>
            <p:cNvPr id="91" name="Graphic 90" descr="Checkmark with solid fill">
              <a:extLst>
                <a:ext uri="{FF2B5EF4-FFF2-40B4-BE49-F238E27FC236}">
                  <a16:creationId xmlns:a16="http://schemas.microsoft.com/office/drawing/2014/main" id="{3CB61C10-B512-83E7-FC11-B851B9C08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61266" y="4637716"/>
              <a:ext cx="293914" cy="293914"/>
            </a:xfrm>
            <a:prstGeom prst="rect">
              <a:avLst/>
            </a:prstGeom>
          </p:spPr>
        </p:pic>
        <p:pic>
          <p:nvPicPr>
            <p:cNvPr id="92" name="Graphic 91" descr="Checkmark with solid fill">
              <a:extLst>
                <a:ext uri="{FF2B5EF4-FFF2-40B4-BE49-F238E27FC236}">
                  <a16:creationId xmlns:a16="http://schemas.microsoft.com/office/drawing/2014/main" id="{7A620768-8CCC-06E6-CF9A-2492B110A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99086" y="5631653"/>
              <a:ext cx="293914" cy="2939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113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C23A00-26A7-D912-D098-10FADE7ED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09" y="3347693"/>
            <a:ext cx="5543591" cy="24669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64C0BE-B0A0-1B16-E18D-1B581E79D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093" y="409827"/>
            <a:ext cx="10328536" cy="672704"/>
          </a:xfrm>
        </p:spPr>
        <p:txBody>
          <a:bodyPr>
            <a:normAutofit fontScale="90000"/>
          </a:bodyPr>
          <a:lstStyle/>
          <a:p>
            <a:r>
              <a:rPr lang="en-US" dirty="0"/>
              <a:t>Index using filter information + vector geometry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C5050E-F14F-CAD5-44B4-F4E8D25E0E1B}"/>
              </a:ext>
            </a:extLst>
          </p:cNvPr>
          <p:cNvSpPr txBox="1"/>
          <p:nvPr/>
        </p:nvSpPr>
        <p:spPr>
          <a:xfrm rot="16200000">
            <a:off x="127320" y="3662683"/>
            <a:ext cx="113030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recall@10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B07792-2846-B83B-01A5-BDEA38821A32}"/>
              </a:ext>
            </a:extLst>
          </p:cNvPr>
          <p:cNvSpPr txBox="1"/>
          <p:nvPr/>
        </p:nvSpPr>
        <p:spPr>
          <a:xfrm>
            <a:off x="6864350" y="2912864"/>
            <a:ext cx="47752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 Indexing algorithms that use filter information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 + vectors in construction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27425CB-2715-A0C5-31EE-1A5F1E739E56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5680819" y="3236030"/>
            <a:ext cx="1183531" cy="308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FC6CF6D-863C-186E-91F0-0F3D0188A689}"/>
              </a:ext>
            </a:extLst>
          </p:cNvPr>
          <p:cNvSpPr txBox="1"/>
          <p:nvPr/>
        </p:nvSpPr>
        <p:spPr>
          <a:xfrm>
            <a:off x="1079819" y="1578108"/>
            <a:ext cx="4977156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Index of enterprise text data.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Predicate = domain within enterprise.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Specificity = % data in the domain.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40288-2565-5204-5847-F0983620F95E}"/>
              </a:ext>
            </a:extLst>
          </p:cNvPr>
          <p:cNvSpPr txBox="1"/>
          <p:nvPr/>
        </p:nvSpPr>
        <p:spPr>
          <a:xfrm>
            <a:off x="6864350" y="3886175"/>
            <a:ext cx="4686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Approaches with standard vector index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Clustering and Graph-based post-processing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Inline filtering with clustering-based indices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A7C19D-8780-DFD3-670E-34A49715BF10}"/>
              </a:ext>
            </a:extLst>
          </p:cNvPr>
          <p:cNvCxnSpPr>
            <a:cxnSpLocks/>
          </p:cNvCxnSpPr>
          <p:nvPr/>
        </p:nvCxnSpPr>
        <p:spPr>
          <a:xfrm flipH="1">
            <a:off x="5327651" y="4129683"/>
            <a:ext cx="1558482" cy="10215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41841D-1221-5C79-949A-DC61648DA34C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5680819" y="3236030"/>
            <a:ext cx="1183531" cy="755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9DA2A4A-E8B6-DBA4-3ACF-F9788D8AF16D}"/>
              </a:ext>
            </a:extLst>
          </p:cNvPr>
          <p:cNvSpPr txBox="1"/>
          <p:nvPr/>
        </p:nvSpPr>
        <p:spPr>
          <a:xfrm>
            <a:off x="1515771" y="2978361"/>
            <a:ext cx="1570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10% specificity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3BED66-F78F-B1A2-0604-FDFD89F77A94}"/>
              </a:ext>
            </a:extLst>
          </p:cNvPr>
          <p:cNvSpPr txBox="1"/>
          <p:nvPr/>
        </p:nvSpPr>
        <p:spPr>
          <a:xfrm>
            <a:off x="4047930" y="2978361"/>
            <a:ext cx="1721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0.1% specificity</a:t>
            </a:r>
          </a:p>
        </p:txBody>
      </p:sp>
    </p:spTree>
    <p:extLst>
      <p:ext uri="{BB962C8B-B14F-4D97-AF65-F5344CB8AC3E}">
        <p14:creationId xmlns:p14="http://schemas.microsoft.com/office/powerpoint/2010/main" val="2933786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B9E9-E430-8641-4410-CC98AF59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761"/>
            <a:ext cx="10515600" cy="1325563"/>
          </a:xfrm>
        </p:spPr>
        <p:txBody>
          <a:bodyPr/>
          <a:lstStyle/>
          <a:p>
            <a:r>
              <a:rPr lang="en-US" dirty="0"/>
              <a:t>OSS Release (~2023) and Industry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506AD-5096-642A-815E-0743C8DCF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0392" y="2383866"/>
            <a:ext cx="3692050" cy="3167288"/>
          </a:xfrm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Adoption in other databases</a:t>
            </a:r>
          </a:p>
          <a:p>
            <a:r>
              <a:rPr lang="en-US" sz="2000" dirty="0"/>
              <a:t>Postgres-&gt; </a:t>
            </a:r>
            <a:r>
              <a:rPr lang="en-US" sz="2000" dirty="0" err="1"/>
              <a:t>TimescaleDB</a:t>
            </a:r>
            <a:r>
              <a:rPr lang="en-US" sz="2000" dirty="0"/>
              <a:t>/</a:t>
            </a:r>
            <a:r>
              <a:rPr lang="en-US" sz="2000" dirty="0" err="1"/>
              <a:t>Pgvectorscale</a:t>
            </a:r>
            <a:endParaRPr lang="en-US" sz="2000" dirty="0"/>
          </a:p>
          <a:p>
            <a:r>
              <a:rPr lang="en-US" sz="2000" dirty="0"/>
              <a:t>Cassandra -&gt;IBM/</a:t>
            </a:r>
            <a:r>
              <a:rPr lang="en-US" sz="2000" dirty="0" err="1"/>
              <a:t>Datastax</a:t>
            </a:r>
            <a:endParaRPr lang="en-US" sz="2000" dirty="0"/>
          </a:p>
          <a:p>
            <a:r>
              <a:rPr lang="en-US" sz="2000" dirty="0"/>
              <a:t>SQLite -&gt; Turso</a:t>
            </a:r>
          </a:p>
          <a:p>
            <a:r>
              <a:rPr lang="en-US" sz="2000" dirty="0"/>
              <a:t>Milvus and other vector </a:t>
            </a:r>
            <a:r>
              <a:rPr lang="en-US" sz="2000" dirty="0" err="1"/>
              <a:t>DBs.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2A3BAE-C14B-61DC-FE81-6B797034630A}"/>
              </a:ext>
            </a:extLst>
          </p:cNvPr>
          <p:cNvSpPr txBox="1">
            <a:spLocks/>
          </p:cNvSpPr>
          <p:nvPr/>
        </p:nvSpPr>
        <p:spPr>
          <a:xfrm>
            <a:off x="936690" y="2398941"/>
            <a:ext cx="2787258" cy="3167288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Microsoft</a:t>
            </a:r>
          </a:p>
          <a:p>
            <a:r>
              <a:rPr lang="en-US" sz="2000" dirty="0"/>
              <a:t>Bing web search, real-time index</a:t>
            </a:r>
          </a:p>
          <a:p>
            <a:r>
              <a:rPr lang="en-US" sz="2000" dirty="0"/>
              <a:t>Advertisements</a:t>
            </a:r>
          </a:p>
          <a:p>
            <a:r>
              <a:rPr lang="en-US" sz="2000" dirty="0"/>
              <a:t>Microsoft 365</a:t>
            </a:r>
          </a:p>
          <a:p>
            <a:r>
              <a:rPr lang="en-US" sz="2000" dirty="0"/>
              <a:t>Windows </a:t>
            </a:r>
          </a:p>
          <a:p>
            <a:pPr marL="0" indent="0">
              <a:buNone/>
            </a:pPr>
            <a:r>
              <a:rPr lang="en-US" sz="2000" dirty="0"/>
              <a:t>Relevance lifts, new scenarios enabled, and hardware saved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FEBD1D5-80A3-9147-92F9-F4E54DBF5FC9}"/>
              </a:ext>
            </a:extLst>
          </p:cNvPr>
          <p:cNvSpPr txBox="1">
            <a:spLocks/>
          </p:cNvSpPr>
          <p:nvPr/>
        </p:nvSpPr>
        <p:spPr>
          <a:xfrm>
            <a:off x="8328887" y="2398941"/>
            <a:ext cx="3123526" cy="3167288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Hardware/Accelerator</a:t>
            </a:r>
          </a:p>
          <a:p>
            <a:r>
              <a:rPr lang="en-US" sz="2000" dirty="0" err="1"/>
              <a:t>Kioxia</a:t>
            </a:r>
            <a:r>
              <a:rPr lang="en-US" sz="2000" dirty="0"/>
              <a:t> AiSAQ for storage-only solution</a:t>
            </a:r>
          </a:p>
          <a:p>
            <a:r>
              <a:rPr lang="en-US" sz="2000" dirty="0"/>
              <a:t>Intel </a:t>
            </a:r>
            <a:r>
              <a:rPr lang="en-US" sz="2000" dirty="0" err="1"/>
              <a:t>OptaNNE</a:t>
            </a:r>
            <a:r>
              <a:rPr lang="en-US" sz="2000" dirty="0"/>
              <a:t> for Optane </a:t>
            </a:r>
            <a:r>
              <a:rPr lang="en-US" sz="2000" dirty="0" err="1"/>
              <a:t>pmem</a:t>
            </a:r>
            <a:endParaRPr lang="en-US" sz="2000" dirty="0"/>
          </a:p>
          <a:p>
            <a:r>
              <a:rPr lang="en-US" sz="2000" dirty="0"/>
              <a:t>NVIDIA </a:t>
            </a:r>
            <a:r>
              <a:rPr lang="en-US" sz="2000" dirty="0" err="1"/>
              <a:t>cuVS</a:t>
            </a:r>
            <a:r>
              <a:rPr lang="en-US" sz="2000" dirty="0"/>
              <a:t> library</a:t>
            </a:r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EC40D3-7599-E969-4A91-C115E33F1E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90" y="1240286"/>
            <a:ext cx="8953960" cy="52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682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0580D-FBA5-D982-B83B-344553122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99298-D78C-EB83-6C01-D232A9657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472"/>
            <a:ext cx="10771022" cy="1325563"/>
          </a:xfrm>
        </p:spPr>
        <p:txBody>
          <a:bodyPr>
            <a:normAutofit/>
          </a:bodyPr>
          <a:lstStyle/>
          <a:p>
            <a:r>
              <a:rPr lang="en-US" dirty="0"/>
              <a:t>Lessons learnt from deployments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ED7E092-1153-F4E6-FB61-6D5E363E02F6}"/>
              </a:ext>
            </a:extLst>
          </p:cNvPr>
          <p:cNvSpPr/>
          <p:nvPr/>
        </p:nvSpPr>
        <p:spPr>
          <a:xfrm>
            <a:off x="1559599" y="7065431"/>
            <a:ext cx="1909879" cy="1180162"/>
          </a:xfrm>
          <a:prstGeom prst="roundRect">
            <a:avLst>
              <a:gd name="adj" fmla="val 521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Separate Index logic from storage systems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BE3DE1-EC58-7A06-C49D-A1204D1B7F29}"/>
              </a:ext>
            </a:extLst>
          </p:cNvPr>
          <p:cNvSpPr/>
          <p:nvPr/>
        </p:nvSpPr>
        <p:spPr>
          <a:xfrm>
            <a:off x="4079002" y="7071062"/>
            <a:ext cx="1909879" cy="1180162"/>
          </a:xfrm>
          <a:prstGeom prst="roundRect">
            <a:avLst>
              <a:gd name="adj" fmla="val 521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Inherit elasticity, multi-tenancy, and durability of host DB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ADE812-5CD8-7A42-CBF9-55E87F46B81D}"/>
              </a:ext>
            </a:extLst>
          </p:cNvPr>
          <p:cNvSpPr/>
          <p:nvPr/>
        </p:nvSpPr>
        <p:spPr>
          <a:xfrm>
            <a:off x="6598405" y="7065431"/>
            <a:ext cx="1909879" cy="1180162"/>
          </a:xfrm>
          <a:prstGeom prst="roundRect">
            <a:avLst>
              <a:gd name="adj" fmla="val 521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Operate at multiple storage tiers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2309B1-B4F3-FCFD-E0B9-444A4AD65F7A}"/>
              </a:ext>
            </a:extLst>
          </p:cNvPr>
          <p:cNvSpPr/>
          <p:nvPr/>
        </p:nvSpPr>
        <p:spPr>
          <a:xfrm>
            <a:off x="9080347" y="7065431"/>
            <a:ext cx="1909879" cy="1180162"/>
          </a:xfrm>
          <a:prstGeom prst="roundRect">
            <a:avLst>
              <a:gd name="adj" fmla="val 521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One branch for Research and Production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C5D7E3-64D7-F5C1-E46A-AD9309CA181F}"/>
              </a:ext>
            </a:extLst>
          </p:cNvPr>
          <p:cNvSpPr/>
          <p:nvPr/>
        </p:nvSpPr>
        <p:spPr>
          <a:xfrm>
            <a:off x="989982" y="2733936"/>
            <a:ext cx="1909879" cy="1180162"/>
          </a:xfrm>
          <a:prstGeom prst="roundRect">
            <a:avLst>
              <a:gd name="adj" fmla="val 521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Re-implemented for different stacks – difficult to maintain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B73BD7A-E900-54A2-89B9-A15EDB640404}"/>
              </a:ext>
            </a:extLst>
          </p:cNvPr>
          <p:cNvSpPr/>
          <p:nvPr/>
        </p:nvSpPr>
        <p:spPr>
          <a:xfrm>
            <a:off x="3580889" y="2733936"/>
            <a:ext cx="1909879" cy="1180162"/>
          </a:xfrm>
          <a:prstGeom prst="roundRect">
            <a:avLst>
              <a:gd name="adj" fmla="val 521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Library does not have the availability and durability of DB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27F1DA6-460D-38EA-2C25-5B6187758915}"/>
              </a:ext>
            </a:extLst>
          </p:cNvPr>
          <p:cNvSpPr/>
          <p:nvPr/>
        </p:nvSpPr>
        <p:spPr>
          <a:xfrm>
            <a:off x="6287075" y="2733936"/>
            <a:ext cx="1909879" cy="1180162"/>
          </a:xfrm>
          <a:prstGeom prst="roundRect">
            <a:avLst>
              <a:gd name="adj" fmla="val 521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Monolithic and tiered </a:t>
            </a:r>
            <a:r>
              <a:rPr lang="en-US">
                <a:solidFill>
                  <a:schemeClr val="tx1"/>
                </a:solidFill>
              </a:rPr>
              <a:t>to specific storage </a:t>
            </a:r>
            <a:r>
              <a:rPr lang="en-US" dirty="0">
                <a:solidFill>
                  <a:schemeClr val="tx1"/>
                </a:solidFill>
              </a:rPr>
              <a:t>tiers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4890C4-4441-EF35-1FBE-68C52741D526}"/>
              </a:ext>
            </a:extLst>
          </p:cNvPr>
          <p:cNvSpPr/>
          <p:nvPr/>
        </p:nvSpPr>
        <p:spPr>
          <a:xfrm>
            <a:off x="8993261" y="2733936"/>
            <a:ext cx="1909879" cy="1180162"/>
          </a:xfrm>
          <a:prstGeom prst="roundRect">
            <a:avLst>
              <a:gd name="adj" fmla="val 521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Research ideas on stand alone code slows adoption</a:t>
            </a:r>
          </a:p>
        </p:txBody>
      </p:sp>
    </p:spTree>
    <p:extLst>
      <p:ext uri="{BB962C8B-B14F-4D97-AF65-F5344CB8AC3E}">
        <p14:creationId xmlns:p14="http://schemas.microsoft.com/office/powerpoint/2010/main" val="947093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C0B2-C5D0-4776-C297-83AE10A1A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629" y="473124"/>
            <a:ext cx="10515600" cy="1325563"/>
          </a:xfrm>
        </p:spPr>
        <p:txBody>
          <a:bodyPr/>
          <a:lstStyle/>
          <a:p>
            <a:r>
              <a:rPr lang="en-US" dirty="0"/>
              <a:t>Emergence of Specialized Vector Databases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265A1-C891-6A71-9ADE-8BC22A93F7AD}"/>
              </a:ext>
            </a:extLst>
          </p:cNvPr>
          <p:cNvSpPr txBox="1"/>
          <p:nvPr/>
        </p:nvSpPr>
        <p:spPr>
          <a:xfrm>
            <a:off x="3622461" y="3116132"/>
            <a:ext cx="1498791" cy="1015663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Vector DB</a:t>
            </a:r>
          </a:p>
          <a:p>
            <a:r>
              <a:rPr lang="en-US" sz="2000" dirty="0"/>
              <a:t>For vectors</a:t>
            </a:r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62C21E-5DB7-D450-400D-A099CA434D62}"/>
              </a:ext>
            </a:extLst>
          </p:cNvPr>
          <p:cNvSpPr txBox="1"/>
          <p:nvPr/>
        </p:nvSpPr>
        <p:spPr>
          <a:xfrm>
            <a:off x="1096644" y="3270021"/>
            <a:ext cx="2003634" cy="70788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Operational DB as primary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A9F7B74-A779-5B45-D1E3-23D60CA44091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3100278" y="3623964"/>
            <a:ext cx="522183" cy="0"/>
          </a:xfrm>
          <a:prstGeom prst="straightConnector1">
            <a:avLst/>
          </a:prstGeom>
          <a:ln>
            <a:solidFill>
              <a:srgbClr val="EE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A6D85F3-D413-1DE5-790D-662D0809B637}"/>
              </a:ext>
            </a:extLst>
          </p:cNvPr>
          <p:cNvSpPr txBox="1"/>
          <p:nvPr/>
        </p:nvSpPr>
        <p:spPr>
          <a:xfrm>
            <a:off x="6668742" y="3116132"/>
            <a:ext cx="3657028" cy="92333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/>
              <a:t>Operational </a:t>
            </a:r>
          </a:p>
          <a:p>
            <a:r>
              <a:rPr lang="en-US"/>
              <a:t>Database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5EEA3F-8B62-B718-1AF0-725E756C021F}"/>
              </a:ext>
            </a:extLst>
          </p:cNvPr>
          <p:cNvSpPr txBox="1"/>
          <p:nvPr/>
        </p:nvSpPr>
        <p:spPr>
          <a:xfrm>
            <a:off x="5353777" y="3102568"/>
            <a:ext cx="8034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35C89-79E3-84A0-9782-9C01F8E68F69}"/>
              </a:ext>
            </a:extLst>
          </p:cNvPr>
          <p:cNvSpPr txBox="1"/>
          <p:nvPr/>
        </p:nvSpPr>
        <p:spPr>
          <a:xfrm>
            <a:off x="9032660" y="3254631"/>
            <a:ext cx="1141856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Vector Index</a:t>
            </a:r>
          </a:p>
        </p:txBody>
      </p:sp>
      <p:sp>
        <p:nvSpPr>
          <p:cNvPr id="10" name="Star: 4 Points 9">
            <a:extLst>
              <a:ext uri="{FF2B5EF4-FFF2-40B4-BE49-F238E27FC236}">
                <a16:creationId xmlns:a16="http://schemas.microsoft.com/office/drawing/2014/main" id="{19D5CA59-DD5D-DA3C-ECBF-1F36938DE95F}"/>
              </a:ext>
            </a:extLst>
          </p:cNvPr>
          <p:cNvSpPr/>
          <p:nvPr/>
        </p:nvSpPr>
        <p:spPr>
          <a:xfrm>
            <a:off x="6267029" y="2699411"/>
            <a:ext cx="803425" cy="806314"/>
          </a:xfrm>
          <a:prstGeom prst="star4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44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2680E-2E14-FD84-89BB-4B38E375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338A9-7CCC-6041-407F-A4F94E36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40" y="-10625"/>
            <a:ext cx="11712867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DiskANN as in-process stateless library for any DB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A1CC99EE-0122-3A39-7566-078D44EE0DB0}"/>
              </a:ext>
            </a:extLst>
          </p:cNvPr>
          <p:cNvSpPr/>
          <p:nvPr/>
        </p:nvSpPr>
        <p:spPr>
          <a:xfrm>
            <a:off x="2173657" y="4843573"/>
            <a:ext cx="2231419" cy="1361525"/>
          </a:xfrm>
          <a:prstGeom prst="roundRect">
            <a:avLst>
              <a:gd name="adj" fmla="val 5217"/>
            </a:avLst>
          </a:prstGeom>
          <a:solidFill>
            <a:srgbClr val="C5D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DiskANN library provides advanced index &amp; query logic and quantizers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DA0892B-E49E-ED94-21B0-F8E3C45BFA6A}"/>
              </a:ext>
            </a:extLst>
          </p:cNvPr>
          <p:cNvSpPr txBox="1"/>
          <p:nvPr/>
        </p:nvSpPr>
        <p:spPr>
          <a:xfrm>
            <a:off x="5289450" y="2444826"/>
            <a:ext cx="1668740" cy="646331"/>
          </a:xfrm>
          <a:prstGeom prst="rect">
            <a:avLst/>
          </a:prstGeom>
          <a:solidFill>
            <a:srgbClr val="8661C5"/>
          </a:solidFill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</a:rPr>
              <a:t>Vector Provider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501BB0F-BB7F-DDA2-4E7B-9C63197D7BF8}"/>
              </a:ext>
            </a:extLst>
          </p:cNvPr>
          <p:cNvSpPr txBox="1"/>
          <p:nvPr/>
        </p:nvSpPr>
        <p:spPr>
          <a:xfrm>
            <a:off x="5291892" y="1682825"/>
            <a:ext cx="1662545" cy="646331"/>
          </a:xfrm>
          <a:prstGeom prst="rect">
            <a:avLst/>
          </a:prstGeom>
          <a:solidFill>
            <a:srgbClr val="8661C5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</a:rPr>
              <a:t>Quantized VectorProvider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8630169-5FD5-C75C-6D59-52C0160C4807}"/>
              </a:ext>
            </a:extLst>
          </p:cNvPr>
          <p:cNvSpPr txBox="1"/>
          <p:nvPr/>
        </p:nvSpPr>
        <p:spPr>
          <a:xfrm>
            <a:off x="5288585" y="3937850"/>
            <a:ext cx="1668841" cy="664916"/>
          </a:xfrm>
          <a:prstGeom prst="rect">
            <a:avLst/>
          </a:prstGeom>
          <a:solidFill>
            <a:srgbClr val="8661C5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</a:rPr>
              <a:t>Label/Metadata Provider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93897F7-B413-C601-30A9-83A4EE6F1427}"/>
              </a:ext>
            </a:extLst>
          </p:cNvPr>
          <p:cNvSpPr txBox="1"/>
          <p:nvPr/>
        </p:nvSpPr>
        <p:spPr>
          <a:xfrm>
            <a:off x="5289417" y="3200630"/>
            <a:ext cx="1664060" cy="646331"/>
          </a:xfrm>
          <a:prstGeom prst="rect">
            <a:avLst/>
          </a:prstGeom>
          <a:solidFill>
            <a:srgbClr val="8661C5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Segoe UI"/>
              </a:rPr>
              <a:t>Edge List</a:t>
            </a:r>
          </a:p>
          <a:p>
            <a:r>
              <a:rPr lang="en-US">
                <a:solidFill>
                  <a:srgbClr val="FFFFFF"/>
                </a:solidFill>
                <a:latin typeface="Segoe UI"/>
              </a:rPr>
              <a:t>Provider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C251B79-DBD1-AD28-BF58-06481D21E13D}"/>
              </a:ext>
            </a:extLst>
          </p:cNvPr>
          <p:cNvSpPr txBox="1"/>
          <p:nvPr/>
        </p:nvSpPr>
        <p:spPr>
          <a:xfrm>
            <a:off x="2495197" y="2637529"/>
            <a:ext cx="1762513" cy="1477328"/>
          </a:xfrm>
          <a:prstGeom prst="rect">
            <a:avLst/>
          </a:prstGeom>
          <a:solidFill>
            <a:srgbClr val="F4364C"/>
          </a:solidFill>
          <a:ln>
            <a:solidFill>
              <a:srgbClr val="FFFFFF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</a:rPr>
              <a:t>DiskANN</a:t>
            </a: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</a:rPr>
              <a:t> indexing and search algorithms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</a:rPr>
              <a:t>(stateless)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A03735-D2DC-E485-323C-3EFDDED3299D}"/>
              </a:ext>
            </a:extLst>
          </p:cNvPr>
          <p:cNvSpPr txBox="1"/>
          <p:nvPr/>
        </p:nvSpPr>
        <p:spPr>
          <a:xfrm>
            <a:off x="7065063" y="3544448"/>
            <a:ext cx="704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"/>
              </a:rPr>
              <a:t>Read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DC59523-7DBF-7C6A-DB75-B3A4145D6BE6}"/>
              </a:ext>
            </a:extLst>
          </p:cNvPr>
          <p:cNvSpPr txBox="1"/>
          <p:nvPr/>
        </p:nvSpPr>
        <p:spPr>
          <a:xfrm>
            <a:off x="7004649" y="2730988"/>
            <a:ext cx="937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"/>
              </a:rPr>
              <a:t>Encode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243E40-BC7C-EDEF-00DA-C58FA98387D5}"/>
              </a:ext>
            </a:extLst>
          </p:cNvPr>
          <p:cNvSpPr txBox="1"/>
          <p:nvPr/>
        </p:nvSpPr>
        <p:spPr>
          <a:xfrm>
            <a:off x="4238526" y="2724417"/>
            <a:ext cx="105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>
                <a:latin typeface="Segoe UI"/>
              </a:rPr>
              <a:t>Update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B3B6844-BCA6-62A1-10EA-3A7E8AE90A13}"/>
              </a:ext>
            </a:extLst>
          </p:cNvPr>
          <p:cNvSpPr txBox="1"/>
          <p:nvPr/>
        </p:nvSpPr>
        <p:spPr>
          <a:xfrm>
            <a:off x="4390295" y="3573149"/>
            <a:ext cx="76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/>
              </a:rPr>
              <a:t>Read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3B269D9-557B-932D-AB5E-61AD58E3D8CB}"/>
              </a:ext>
            </a:extLst>
          </p:cNvPr>
          <p:cNvSpPr txBox="1"/>
          <p:nvPr/>
        </p:nvSpPr>
        <p:spPr>
          <a:xfrm>
            <a:off x="1397975" y="3544446"/>
            <a:ext cx="918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Segoe UI"/>
              </a:rPr>
              <a:t>Query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4A0C80E-CAE9-0473-8BD9-EB5ED6C471ED}"/>
              </a:ext>
            </a:extLst>
          </p:cNvPr>
          <p:cNvSpPr txBox="1"/>
          <p:nvPr/>
        </p:nvSpPr>
        <p:spPr>
          <a:xfrm>
            <a:off x="1387440" y="2664144"/>
            <a:ext cx="1074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egoe UI"/>
              </a:rPr>
              <a:t>Update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CB2680-E504-ABAE-28A9-7E2E7D622D7D}"/>
              </a:ext>
            </a:extLst>
          </p:cNvPr>
          <p:cNvGrpSpPr/>
          <p:nvPr/>
        </p:nvGrpSpPr>
        <p:grpSpPr>
          <a:xfrm>
            <a:off x="1478892" y="3171722"/>
            <a:ext cx="871742" cy="306280"/>
            <a:chOff x="1478892" y="3171722"/>
            <a:chExt cx="878394" cy="306280"/>
          </a:xfrm>
        </p:grpSpPr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BE9D2F9E-768D-43AC-3DCF-0E900DCC19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8892" y="3478001"/>
              <a:ext cx="878394" cy="1"/>
            </a:xfrm>
            <a:prstGeom prst="straightConnector1">
              <a:avLst/>
            </a:prstGeom>
            <a:noFill/>
            <a:ln w="10795" cap="flat" cmpd="sng" algn="ctr">
              <a:solidFill>
                <a:srgbClr val="0078D4"/>
              </a:solidFill>
              <a:prstDash val="solid"/>
              <a:tailEnd type="triangle"/>
            </a:ln>
            <a:effectLst/>
          </p:spPr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5D56374B-099E-9C98-6DE4-8FCAF0C053ED}"/>
                </a:ext>
              </a:extLst>
            </p:cNvPr>
            <p:cNvCxnSpPr>
              <a:cxnSpLocks/>
            </p:cNvCxnSpPr>
            <p:nvPr/>
          </p:nvCxnSpPr>
          <p:spPr>
            <a:xfrm>
              <a:off x="1486593" y="3171722"/>
              <a:ext cx="862992" cy="0"/>
            </a:xfrm>
            <a:prstGeom prst="straightConnector1">
              <a:avLst/>
            </a:prstGeom>
            <a:noFill/>
            <a:ln w="10795" cap="flat" cmpd="sng" algn="ctr">
              <a:solidFill>
                <a:srgbClr val="0078D4"/>
              </a:solidFill>
              <a:prstDash val="solid"/>
              <a:tailEnd type="triangle"/>
            </a:ln>
            <a:effectLst/>
          </p:spPr>
        </p:cxn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74CF9DE7-F201-C509-41C5-47F159012C82}"/>
              </a:ext>
            </a:extLst>
          </p:cNvPr>
          <p:cNvSpPr txBox="1"/>
          <p:nvPr/>
        </p:nvSpPr>
        <p:spPr>
          <a:xfrm>
            <a:off x="306677" y="2767991"/>
            <a:ext cx="1034304" cy="1077218"/>
          </a:xfrm>
          <a:prstGeom prst="rect">
            <a:avLst/>
          </a:prstGeom>
          <a:solidFill>
            <a:srgbClr val="FF5C39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User/ Indexer/ Query Engine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D39719-0BD7-6C4A-0A04-6F3F124F2E56}"/>
              </a:ext>
            </a:extLst>
          </p:cNvPr>
          <p:cNvGrpSpPr/>
          <p:nvPr/>
        </p:nvGrpSpPr>
        <p:grpSpPr>
          <a:xfrm>
            <a:off x="4341817" y="3169782"/>
            <a:ext cx="871742" cy="306280"/>
            <a:chOff x="1478892" y="3171722"/>
            <a:chExt cx="878394" cy="30628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2EED9E4-D749-4ADB-E56A-EB3369D4B5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8892" y="3478001"/>
              <a:ext cx="878394" cy="1"/>
            </a:xfrm>
            <a:prstGeom prst="straightConnector1">
              <a:avLst/>
            </a:prstGeom>
            <a:noFill/>
            <a:ln w="10795" cap="flat" cmpd="sng" algn="ctr">
              <a:solidFill>
                <a:srgbClr val="0078D4"/>
              </a:solidFill>
              <a:prstDash val="solid"/>
              <a:tailEnd type="triangle"/>
            </a:ln>
            <a:effectLst/>
          </p:spPr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9AAF280-1CDA-F019-6A4D-FC71C2D60D4A}"/>
                </a:ext>
              </a:extLst>
            </p:cNvPr>
            <p:cNvCxnSpPr>
              <a:cxnSpLocks/>
            </p:cNvCxnSpPr>
            <p:nvPr/>
          </p:nvCxnSpPr>
          <p:spPr>
            <a:xfrm>
              <a:off x="1486593" y="3171722"/>
              <a:ext cx="862992" cy="0"/>
            </a:xfrm>
            <a:prstGeom prst="straightConnector1">
              <a:avLst/>
            </a:prstGeom>
            <a:noFill/>
            <a:ln w="10795" cap="flat" cmpd="sng" algn="ctr">
              <a:solidFill>
                <a:srgbClr val="0078D4"/>
              </a:solidFill>
              <a:prstDash val="solid"/>
              <a:tailEnd type="triangle"/>
            </a:ln>
            <a:effectLst/>
          </p:spPr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787D22C-B9E1-056C-39A5-1E32C57A7459}"/>
              </a:ext>
            </a:extLst>
          </p:cNvPr>
          <p:cNvGrpSpPr/>
          <p:nvPr/>
        </p:nvGrpSpPr>
        <p:grpSpPr>
          <a:xfrm>
            <a:off x="7032360" y="3137021"/>
            <a:ext cx="871742" cy="306280"/>
            <a:chOff x="1478892" y="3171722"/>
            <a:chExt cx="878394" cy="306280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F2F9D357-292B-E254-CFB1-B834444954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78892" y="3478001"/>
              <a:ext cx="878394" cy="1"/>
            </a:xfrm>
            <a:prstGeom prst="straightConnector1">
              <a:avLst/>
            </a:prstGeom>
            <a:noFill/>
            <a:ln w="10795" cap="flat" cmpd="sng" algn="ctr">
              <a:solidFill>
                <a:srgbClr val="0078D4"/>
              </a:solidFill>
              <a:prstDash val="solid"/>
              <a:tailEnd type="triangle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FBF6C84-0954-3497-B95B-C640DF9437C0}"/>
                </a:ext>
              </a:extLst>
            </p:cNvPr>
            <p:cNvCxnSpPr>
              <a:cxnSpLocks/>
            </p:cNvCxnSpPr>
            <p:nvPr/>
          </p:nvCxnSpPr>
          <p:spPr>
            <a:xfrm>
              <a:off x="1486593" y="3171722"/>
              <a:ext cx="862992" cy="0"/>
            </a:xfrm>
            <a:prstGeom prst="straightConnector1">
              <a:avLst/>
            </a:prstGeom>
            <a:noFill/>
            <a:ln w="10795" cap="flat" cmpd="sng" algn="ctr">
              <a:solidFill>
                <a:srgbClr val="0078D4"/>
              </a:solidFill>
              <a:prstDash val="solid"/>
              <a:tailEnd type="triangle"/>
            </a:ln>
            <a:effectLst/>
          </p:spPr>
        </p:cxnSp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BC07388-2ACB-9F19-D7E5-405802045532}"/>
              </a:ext>
            </a:extLst>
          </p:cNvPr>
          <p:cNvSpPr/>
          <p:nvPr/>
        </p:nvSpPr>
        <p:spPr>
          <a:xfrm>
            <a:off x="10189029" y="2294278"/>
            <a:ext cx="1909879" cy="1180162"/>
          </a:xfrm>
          <a:prstGeom prst="roundRect">
            <a:avLst>
              <a:gd name="adj" fmla="val 5217"/>
            </a:avLst>
          </a:prstGeom>
          <a:solidFill>
            <a:srgbClr val="C5D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Operate at multiple storage tiers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E03F39B-4092-EB11-4DEF-3CBA7C4D8749}"/>
              </a:ext>
            </a:extLst>
          </p:cNvPr>
          <p:cNvSpPr/>
          <p:nvPr/>
        </p:nvSpPr>
        <p:spPr>
          <a:xfrm>
            <a:off x="10189029" y="5024935"/>
            <a:ext cx="1909879" cy="1180162"/>
          </a:xfrm>
          <a:prstGeom prst="roundRect">
            <a:avLst>
              <a:gd name="adj" fmla="val 5217"/>
            </a:avLst>
          </a:prstGeom>
          <a:solidFill>
            <a:srgbClr val="C5D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Inherit elasticity, availability and durability of host DB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AF33795-7D9A-CB69-9914-A69B53F2AAA7}"/>
              </a:ext>
            </a:extLst>
          </p:cNvPr>
          <p:cNvSpPr/>
          <p:nvPr/>
        </p:nvSpPr>
        <p:spPr>
          <a:xfrm>
            <a:off x="306678" y="1177704"/>
            <a:ext cx="4762756" cy="1180162"/>
          </a:xfrm>
          <a:prstGeom prst="roundRect">
            <a:avLst>
              <a:gd name="adj" fmla="val 5217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One branch for Research and Production;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Amplifies reach of new ideas;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As fast as monolithic in-mem &amp; on-disk libs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D944A292-4A09-221B-B6D3-2182DD2C33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7400" y="3200400"/>
            <a:ext cx="457200" cy="4572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5B0F521D-E093-F0E2-7EC4-335F58BFB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7400" y="3200400"/>
            <a:ext cx="457200" cy="4572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834D8EBA-5FF7-E98B-3B49-B929EAAA7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7400" y="3350400"/>
            <a:ext cx="457200" cy="4572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B6A2855D-B6EF-3E17-7D9D-0B0D309C6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7400" y="3500400"/>
            <a:ext cx="457200" cy="4572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96AF931-3EFE-E419-70C6-A3BE04ECFF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7400" y="3650400"/>
            <a:ext cx="457200" cy="4572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F9BADD14-59D3-C050-123E-3DDB3BFAA3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33561" y="1910427"/>
            <a:ext cx="1048164" cy="534399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C78C8ACC-CA0D-48DB-C2B0-1CE401EFE6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27505" y="3757815"/>
            <a:ext cx="677890" cy="815798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2113EF9A-1C99-CCAF-E0A1-D0B9C4198E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75617" y="5249400"/>
            <a:ext cx="706216" cy="906956"/>
          </a:xfrm>
          <a:prstGeom prst="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9A2ABDAD-5B4B-57BD-0D8F-6FF5547D8C5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5627" y="1792364"/>
            <a:ext cx="821647" cy="893541"/>
          </a:xfrm>
          <a:prstGeom prst="rect">
            <a:avLst/>
          </a:prstGeom>
        </p:spPr>
      </p:pic>
      <p:pic>
        <p:nvPicPr>
          <p:cNvPr id="89" name="Picture 88">
            <a:extLst>
              <a:ext uri="{FF2B5EF4-FFF2-40B4-BE49-F238E27FC236}">
                <a16:creationId xmlns:a16="http://schemas.microsoft.com/office/drawing/2014/main" id="{0B84F117-99C7-23EF-822F-1CD00EFB2D5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4769" y="2848810"/>
            <a:ext cx="888971" cy="98391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C941EC70-CE99-224C-C81D-4CF291CB6B1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46923" y="3657601"/>
            <a:ext cx="748886" cy="1045614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A577E935-DE0C-DF64-0102-F9AAB671557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87763" y="2730988"/>
            <a:ext cx="636485" cy="842161"/>
          </a:xfrm>
          <a:prstGeom prst="rect">
            <a:avLst/>
          </a:prstGeom>
        </p:spPr>
      </p:pic>
      <p:sp>
        <p:nvSpPr>
          <p:cNvPr id="96" name="Left Brace 95">
            <a:extLst>
              <a:ext uri="{FF2B5EF4-FFF2-40B4-BE49-F238E27FC236}">
                <a16:creationId xmlns:a16="http://schemas.microsoft.com/office/drawing/2014/main" id="{D35E5F49-B8F3-D85E-CECC-E6472C7B6BA1}"/>
              </a:ext>
            </a:extLst>
          </p:cNvPr>
          <p:cNvSpPr/>
          <p:nvPr/>
        </p:nvSpPr>
        <p:spPr>
          <a:xfrm rot="16200000">
            <a:off x="8923023" y="3948072"/>
            <a:ext cx="320850" cy="1996554"/>
          </a:xfrm>
          <a:prstGeom prst="leftBrace">
            <a:avLst>
              <a:gd name="adj1" fmla="val 8333"/>
              <a:gd name="adj2" fmla="val 4993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B6BAEFA9-D824-C8D0-81B1-345116BD325D}"/>
              </a:ext>
            </a:extLst>
          </p:cNvPr>
          <p:cNvSpPr/>
          <p:nvPr/>
        </p:nvSpPr>
        <p:spPr>
          <a:xfrm>
            <a:off x="4980290" y="4843572"/>
            <a:ext cx="2231419" cy="1361525"/>
          </a:xfrm>
          <a:prstGeom prst="roundRect">
            <a:avLst>
              <a:gd name="adj" fmla="val 5217"/>
            </a:avLst>
          </a:prstGeom>
          <a:solidFill>
            <a:srgbClr val="C5D3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Delegate storage of index terms to DB and access/mutate via Provider abstractions</a:t>
            </a:r>
          </a:p>
        </p:txBody>
      </p:sp>
    </p:spTree>
    <p:extLst>
      <p:ext uri="{BB962C8B-B14F-4D97-AF65-F5344CB8AC3E}">
        <p14:creationId xmlns:p14="http://schemas.microsoft.com/office/powerpoint/2010/main" val="377776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7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98" grpId="0" animBg="1"/>
      <p:bldP spid="98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5899-5294-E525-672F-27C059AE0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Algorithmic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C1512-385C-73EC-59C9-8718A3072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16659"/>
            <a:ext cx="10983163" cy="456030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One Graph – incrementally updated, no merges, no rebuilds</a:t>
            </a:r>
          </a:p>
          <a:p>
            <a:pPr lvl="1"/>
            <a:r>
              <a:rPr lang="en-US" sz="2000" dirty="0"/>
              <a:t>[Xu, Manohar, Bernstein, Chandramouli, Wen, Simhadri’25]</a:t>
            </a:r>
            <a:endParaRPr lang="en-US" dirty="0"/>
          </a:p>
          <a:p>
            <a:endParaRPr lang="en-US" dirty="0"/>
          </a:p>
          <a:p>
            <a:r>
              <a:rPr lang="en-US" dirty="0"/>
              <a:t>Minibatch updates for parallel, deterministic single-writer update</a:t>
            </a:r>
          </a:p>
          <a:p>
            <a:pPr lvl="1"/>
            <a:r>
              <a:rPr lang="en-US" sz="2000" dirty="0"/>
              <a:t>[Manohar, Shen, Blelloch, Dhulipala, Gu, Simhadri, Sun’24]</a:t>
            </a:r>
            <a:endParaRPr lang="en-US" dirty="0"/>
          </a:p>
          <a:p>
            <a:endParaRPr lang="en-US" dirty="0"/>
          </a:p>
          <a:p>
            <a:r>
              <a:rPr lang="en-US" dirty="0"/>
              <a:t>Ingest in quantized space for low cost and high performance</a:t>
            </a:r>
          </a:p>
          <a:p>
            <a:endParaRPr lang="en-US" dirty="0"/>
          </a:p>
          <a:p>
            <a:r>
              <a:rPr lang="en-US" dirty="0"/>
              <a:t>Faster algorithms for vectors + arbitrary predicates that work closely with the database’s query planner</a:t>
            </a:r>
          </a:p>
        </p:txBody>
      </p:sp>
    </p:spTree>
    <p:extLst>
      <p:ext uri="{BB962C8B-B14F-4D97-AF65-F5344CB8AC3E}">
        <p14:creationId xmlns:p14="http://schemas.microsoft.com/office/powerpoint/2010/main" val="28028301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80EC0-F700-5D27-3C95-BFBB888D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6E5F0-E64A-347F-5618-E97C44355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677" y="-10625"/>
            <a:ext cx="11514686" cy="1773588"/>
          </a:xfrm>
        </p:spPr>
        <p:txBody>
          <a:bodyPr>
            <a:normAutofit/>
          </a:bodyPr>
          <a:lstStyle/>
          <a:p>
            <a:r>
              <a:rPr lang="en-US" dirty="0"/>
              <a:t>DiskANN + </a:t>
            </a:r>
            <a:r>
              <a:rPr lang="en-US" b="1" dirty="0"/>
              <a:t>Bf-tree</a:t>
            </a:r>
            <a:r>
              <a:rPr lang="en-US" dirty="0"/>
              <a:t> </a:t>
            </a:r>
            <a:br>
              <a:rPr lang="en-US" dirty="0"/>
            </a:br>
            <a:r>
              <a:rPr lang="en-US" sz="1800" dirty="0" err="1"/>
              <a:t>Bf-Tree</a:t>
            </a:r>
            <a:r>
              <a:rPr lang="en-US" sz="1800" dirty="0"/>
              <a:t>: A Modern Read-Write-Optimized Concurrent Larger-Than-Memory Range Index [Hao, Chandramouli, ‘24]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7A4706-D1B9-2284-7A92-FB394409B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655" y="1762963"/>
            <a:ext cx="5753396" cy="4470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959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B9278-1139-B8CC-3653-E1F1FC217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93BE1-9325-BDB8-01D1-432BD657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DiskANN + </a:t>
            </a:r>
            <a:r>
              <a:rPr lang="en-US" b="1" dirty="0"/>
              <a:t>Cosmos DB NoSQL</a:t>
            </a:r>
          </a:p>
        </p:txBody>
      </p:sp>
      <p:sp>
        <p:nvSpPr>
          <p:cNvPr id="30" name="Content Placeholder 29">
            <a:extLst>
              <a:ext uri="{FF2B5EF4-FFF2-40B4-BE49-F238E27FC236}">
                <a16:creationId xmlns:a16="http://schemas.microsoft.com/office/drawing/2014/main" id="{DFC44147-C3DB-15D6-D2EA-C85A8C1BA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78261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Serverless vector index in an operational database with:</a:t>
            </a:r>
          </a:p>
          <a:p>
            <a:endParaRPr lang="en-US" dirty="0"/>
          </a:p>
          <a:p>
            <a:r>
              <a:rPr lang="en-US" dirty="0"/>
              <a:t>&lt;20ms query latency on 10M vectors</a:t>
            </a:r>
          </a:p>
          <a:p>
            <a:r>
              <a:rPr lang="en-US" dirty="0"/>
              <a:t>Native multi-tenancy and low p99 latency for filtered queries</a:t>
            </a:r>
          </a:p>
          <a:p>
            <a:r>
              <a:rPr lang="en-US" dirty="0"/>
              <a:t>Up to 43x,12x lower query cost than Pinecone and </a:t>
            </a:r>
            <a:r>
              <a:rPr lang="en-US" dirty="0" err="1"/>
              <a:t>Zilliz</a:t>
            </a:r>
            <a:r>
              <a:rPr lang="en-US" dirty="0"/>
              <a:t> serverless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More at Industry Track session this afternoon…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7123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C4FF0-6ECD-0EDD-325C-0CCE8152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8514C-E19E-F6F4-F322-A57697CA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2544"/>
            <a:ext cx="10515600" cy="455441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Graph-based indices and algorithms are efficient and versatile for ANNS</a:t>
            </a:r>
          </a:p>
          <a:p>
            <a:pPr lvl="1"/>
            <a:r>
              <a:rPr lang="en-US" dirty="0"/>
              <a:t>Adapted to different storage tiers, variations of ANNS, streaming workloads, sparse and multi-Vectors</a:t>
            </a:r>
          </a:p>
          <a:p>
            <a:endParaRPr lang="en-US" dirty="0"/>
          </a:p>
          <a:p>
            <a:r>
              <a:rPr lang="en-US" dirty="0"/>
              <a:t>Systems built with graph-indices are deployed at Microsoft scale</a:t>
            </a:r>
          </a:p>
          <a:p>
            <a:pPr lvl="1"/>
            <a:r>
              <a:rPr lang="en-US" dirty="0"/>
              <a:t>Web search, Ads, doc/email search, Windows, Copilots, Azure Databases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Working with real scenarios catalyzed new directions in research and created a positive feedback</a:t>
            </a:r>
          </a:p>
          <a:p>
            <a:pPr lvl="1"/>
            <a:r>
              <a:rPr lang="en-US" dirty="0"/>
              <a:t>We maintain one branch for research &amp; deployments to enable this</a:t>
            </a:r>
          </a:p>
          <a:p>
            <a:pPr lvl="1"/>
            <a:endParaRPr lang="en-US" dirty="0"/>
          </a:p>
          <a:p>
            <a:r>
              <a:rPr lang="en-US" dirty="0"/>
              <a:t>Datasets and benchmarks are often bottlenecks for research</a:t>
            </a:r>
          </a:p>
          <a:p>
            <a:pPr lvl="1"/>
            <a:r>
              <a:rPr lang="en-US" dirty="0"/>
              <a:t>We created and organized NeurIPS’21 and ’23 Big ANN Benchmarks [https://big-ann-benchmarks.com]</a:t>
            </a:r>
          </a:p>
          <a:p>
            <a:pPr lvl="1"/>
            <a:r>
              <a:rPr lang="en-US" dirty="0"/>
              <a:t>Let’s create more datasets and maybe run a 2025 benchmark?</a:t>
            </a:r>
          </a:p>
          <a:p>
            <a:pPr lvl="1"/>
            <a:endParaRPr lang="en-US" dirty="0"/>
          </a:p>
          <a:p>
            <a:r>
              <a:rPr lang="en-US" dirty="0"/>
              <a:t>Possible to build system that works with many databases and offers best-in-class perf</a:t>
            </a:r>
          </a:p>
          <a:p>
            <a:pPr lvl="1"/>
            <a:r>
              <a:rPr lang="en-US" dirty="0"/>
              <a:t>abstract logic away from storage details to allow instantiation cross N algorithms X M stores/DBs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129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C2E6-8B0F-818F-EB9B-7E3E88433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aka.ms/Microsoft_VLDB25</a:t>
            </a:r>
            <a:br>
              <a:rPr lang="en-US" dirty="0"/>
            </a:br>
            <a:r>
              <a:rPr lang="en-US" dirty="0"/>
              <a:t>for papers, demos, talks, job openings</a:t>
            </a:r>
          </a:p>
        </p:txBody>
      </p:sp>
      <p:pic>
        <p:nvPicPr>
          <p:cNvPr id="4" name="drawing">
            <a:extLst>
              <a:ext uri="{FF2B5EF4-FFF2-40B4-BE49-F238E27FC236}">
                <a16:creationId xmlns:a16="http://schemas.microsoft.com/office/drawing/2014/main" id="{81195888-6CDF-9A36-8624-08CFCE764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317" y="1925297"/>
            <a:ext cx="3905250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535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5658-3BA1-4874-AB1C-8C5098E7D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2" y="167797"/>
            <a:ext cx="11714018" cy="949303"/>
          </a:xfrm>
        </p:spPr>
        <p:txBody>
          <a:bodyPr>
            <a:normAutofit/>
          </a:bodyPr>
          <a:lstStyle/>
          <a:p>
            <a:r>
              <a:rPr lang="en-US" sz="2400" b="1" dirty="0" err="1"/>
              <a:t>BigANN</a:t>
            </a:r>
            <a:r>
              <a:rPr lang="en-US" sz="2400" b="1" dirty="0"/>
              <a:t>@ NeurIPS’21: Six 1B scale Datasets from INRIA/IRISA, Meta, Microsoft, Yandex</a:t>
            </a:r>
            <a:br>
              <a:rPr lang="en-US" sz="2400" b="1" dirty="0"/>
            </a:br>
            <a:r>
              <a:rPr lang="en-US" sz="2400" b="1" dirty="0"/>
              <a:t>Software and Hardware Tracks with baselines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42B10A-C159-68E8-E42A-4AFFFEFDC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DE25B3B5-F9C2-4877-A390-4A43FE879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886741"/>
              </p:ext>
            </p:extLst>
          </p:nvPr>
        </p:nvGraphicFramePr>
        <p:xfrm>
          <a:off x="578699" y="1076813"/>
          <a:ext cx="10926855" cy="53471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846">
                  <a:extLst>
                    <a:ext uri="{9D8B030D-6E8A-4147-A177-3AD203B41FA5}">
                      <a16:colId xmlns:a16="http://schemas.microsoft.com/office/drawing/2014/main" val="3301694360"/>
                    </a:ext>
                  </a:extLst>
                </a:gridCol>
                <a:gridCol w="2183023">
                  <a:extLst>
                    <a:ext uri="{9D8B030D-6E8A-4147-A177-3AD203B41FA5}">
                      <a16:colId xmlns:a16="http://schemas.microsoft.com/office/drawing/2014/main" val="1189040515"/>
                    </a:ext>
                  </a:extLst>
                </a:gridCol>
                <a:gridCol w="1677370">
                  <a:extLst>
                    <a:ext uri="{9D8B030D-6E8A-4147-A177-3AD203B41FA5}">
                      <a16:colId xmlns:a16="http://schemas.microsoft.com/office/drawing/2014/main" val="789127063"/>
                    </a:ext>
                  </a:extLst>
                </a:gridCol>
                <a:gridCol w="2910485">
                  <a:extLst>
                    <a:ext uri="{9D8B030D-6E8A-4147-A177-3AD203B41FA5}">
                      <a16:colId xmlns:a16="http://schemas.microsoft.com/office/drawing/2014/main" val="3280574854"/>
                    </a:ext>
                  </a:extLst>
                </a:gridCol>
                <a:gridCol w="2149131">
                  <a:extLst>
                    <a:ext uri="{9D8B030D-6E8A-4147-A177-3AD203B41FA5}">
                      <a16:colId xmlns:a16="http://schemas.microsoft.com/office/drawing/2014/main" val="3720991411"/>
                    </a:ext>
                  </a:extLst>
                </a:gridCol>
              </a:tblGrid>
              <a:tr h="527615">
                <a:tc>
                  <a:txBody>
                    <a:bodyPr/>
                    <a:lstStyle/>
                    <a:p>
                      <a:r>
                        <a:rPr lang="en-US" sz="2400"/>
                        <a:t>Dataset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Source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Encoder/Task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Other notes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741791"/>
                  </a:ext>
                </a:extLst>
              </a:tr>
              <a:tr h="659519">
                <a:tc>
                  <a:txBody>
                    <a:bodyPr/>
                    <a:lstStyle/>
                    <a:p>
                      <a:r>
                        <a:rPr lang="en-US" sz="1800"/>
                        <a:t>BIGANN-1B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CNRS/IRISA</a:t>
                      </a:r>
                    </a:p>
                    <a:p>
                      <a:r>
                        <a:rPr lang="en-US" sz="1100"/>
                        <a:t>http://corpus-texmex.irisa.fr/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128 dims uint8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SIFT descriptors for image 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653594"/>
                  </a:ext>
                </a:extLst>
              </a:tr>
              <a:tr h="6899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SSNPP-1B</a:t>
                      </a:r>
                      <a:r>
                        <a:rPr lang="en-US" sz="18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*</a:t>
                      </a:r>
                    </a:p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Facebook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256 dims uint8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err="1">
                          <a:hlinkClick r:id="rId3"/>
                        </a:rPr>
                        <a:t>SimSearchNet</a:t>
                      </a:r>
                      <a:r>
                        <a:rPr lang="en-US" sz="1600">
                          <a:hlinkClick r:id="rId3"/>
                        </a:rPr>
                        <a:t>++ image encoder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Range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742779"/>
                  </a:ext>
                </a:extLst>
              </a:tr>
              <a:tr h="9436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SpaceV-1B</a:t>
                      </a:r>
                      <a:r>
                        <a:rPr lang="en-US" sz="18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*</a:t>
                      </a:r>
                    </a:p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Microsoft</a:t>
                      </a:r>
                    </a:p>
                    <a:p>
                      <a:r>
                        <a:rPr lang="en-US" sz="900"/>
                        <a:t>https://github.com/microsoft/SPTAG/tree/master/datasets/SPACEV1B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100 dims int8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Docs and queries encoded by Microsoft </a:t>
                      </a:r>
                      <a:r>
                        <a:rPr lang="en-US" sz="1200" b="0" i="0" kern="120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SpaceV</a:t>
                      </a:r>
                      <a:r>
                        <a:rPr lang="en-US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Superior model to capture generic intent representation.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931816"/>
                  </a:ext>
                </a:extLst>
              </a:tr>
              <a:tr h="7203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Turing-ANNS-1B</a:t>
                      </a:r>
                      <a:r>
                        <a:rPr lang="en-US" sz="18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Microsoft Turing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 dims float</a:t>
                      </a:r>
                    </a:p>
                    <a:p>
                      <a:r>
                        <a:rPr lang="en-US" sz="1600" dirty="0"/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Bing queries encoded by Turing AGI v5 encoder.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2605473"/>
                  </a:ext>
                </a:extLst>
              </a:tr>
              <a:tr h="8624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Text2Image-1B</a:t>
                      </a:r>
                      <a:r>
                        <a:rPr lang="en-US" sz="180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*</a:t>
                      </a:r>
                      <a:endParaRPr lang="en-US" sz="160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  <a:p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Yandex</a:t>
                      </a:r>
                    </a:p>
                    <a:p>
                      <a:r>
                        <a:rPr lang="en-US" sz="1100" dirty="0"/>
                        <a:t>https://research.yandex.com/datasets/biganns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200 dims float</a:t>
                      </a:r>
                    </a:p>
                    <a:p>
                      <a:r>
                        <a:rPr lang="en-US" sz="1600"/>
                        <a:t>Inner-product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Images encoded by </a:t>
                      </a: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Se-ResNext-101</a:t>
                      </a:r>
                      <a:r>
                        <a:rPr lang="en-US" sz="12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model, queries are text encoded by a variant of </a:t>
                      </a:r>
                      <a:r>
                        <a:rPr lang="en-US" sz="1200" b="0" i="0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DSSM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Cross-modal; Query distribution different from index set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258375"/>
                  </a:ext>
                </a:extLst>
              </a:tr>
              <a:tr h="9436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/>
                        <a:t>DEEP-1B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Yandex</a:t>
                      </a:r>
                    </a:p>
                    <a:p>
                      <a:r>
                        <a:rPr lang="en-US" sz="800">
                          <a:hlinkClick r:id="rId6"/>
                        </a:rPr>
                        <a:t>https://www.cv-foundation.org/openaccess/content_cvpr_2016/app/S09-38.pdf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96 dims float</a:t>
                      </a:r>
                    </a:p>
                    <a:p>
                      <a:r>
                        <a:rPr lang="en-US" sz="1600"/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GoogLeNet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pretrained for </a:t>
                      </a:r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Imagenet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classification task + PCA + l2 normalized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579608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7E4BB34-7484-43C5-868F-D74CBF31AD56}"/>
              </a:ext>
            </a:extLst>
          </p:cNvPr>
          <p:cNvSpPr txBox="1"/>
          <p:nvPr/>
        </p:nvSpPr>
        <p:spPr>
          <a:xfrm>
            <a:off x="578699" y="6388188"/>
            <a:ext cx="4807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>
                    <a:lumMod val="75000"/>
                  </a:schemeClr>
                </a:solidFill>
              </a:rPr>
              <a:t>[ * new datasets released for the competition]</a:t>
            </a:r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CA16EACF-7273-20F9-9E8B-4691E12E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0979925" y="998539"/>
            <a:ext cx="1904999" cy="365125"/>
          </a:xfrm>
        </p:spPr>
        <p:txBody>
          <a:bodyPr/>
          <a:lstStyle/>
          <a:p>
            <a:fld id="{C4E045B5-7CD6-4D68-B38B-9DC5A4CDEE05}" type="datetime1">
              <a:rPr lang="en-US" smtClean="0"/>
              <a:t>11/13/2025</a:t>
            </a:fld>
            <a:endParaRPr lang="en-US" dirty="0"/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ED816C38-517C-79A7-C054-7D2A40445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7610" y="6172200"/>
            <a:ext cx="549630" cy="593725"/>
          </a:xfrm>
        </p:spPr>
        <p:txBody>
          <a:bodyPr>
            <a:normAutofit/>
          </a:bodyPr>
          <a:lstStyle/>
          <a:p>
            <a:fld id="{7BA31737-66ED-4538-8E4A-5B6F08D0267E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18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4941"/>
    </mc:Choice>
    <mc:Fallback xmlns="">
      <p:transition spd="slow" advTm="16494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C84DD-E5D1-B4FE-457A-5B95540B3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65" y="190991"/>
            <a:ext cx="10515600" cy="1596283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dirty="0"/>
              <a:t>Big ANN @ NeurIPS’23: Variations in Vector Seach</a:t>
            </a:r>
            <a:br>
              <a:rPr lang="en-US" dirty="0"/>
            </a:br>
            <a:br>
              <a:rPr lang="en-US" sz="1600" dirty="0"/>
            </a:br>
            <a:r>
              <a:rPr lang="en-US" sz="1800" b="1" dirty="0"/>
              <a:t>Harsha Simhadri*, Martin Aumüller</a:t>
            </a:r>
            <a:r>
              <a:rPr lang="en-US" sz="1800" b="1" baseline="30000" dirty="0"/>
              <a:t>¤</a:t>
            </a:r>
            <a:r>
              <a:rPr lang="en-US" sz="1800" b="1" dirty="0"/>
              <a:t>, Dmitry Baranchuk</a:t>
            </a:r>
            <a:r>
              <a:rPr lang="en-US" sz="1800" b="1" baseline="30000" dirty="0"/>
              <a:t>‡</a:t>
            </a:r>
            <a:r>
              <a:rPr lang="en-US" sz="1800" b="1" dirty="0"/>
              <a:t>, Matthijs Douze</a:t>
            </a:r>
            <a:r>
              <a:rPr lang="en-US" sz="1800" b="1" baseline="30000" dirty="0"/>
              <a:t>†</a:t>
            </a:r>
            <a:r>
              <a:rPr lang="en-US" sz="1800" b="1" dirty="0"/>
              <a:t>, Amir Ingber*, Edo Liberty*, Frank Liu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aford"/>
                <a:ea typeface="+mj-ea"/>
                <a:cs typeface="+mj-cs"/>
              </a:rPr>
              <a:t> §</a:t>
            </a:r>
            <a:r>
              <a:rPr lang="en-US" sz="1800" b="1" dirty="0"/>
              <a:t>, George Williams**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aford"/>
                <a:ea typeface="+mj-ea"/>
                <a:cs typeface="+mj-cs"/>
              </a:rPr>
              <a:t> </a:t>
            </a:r>
            <a:br>
              <a:rPr lang="en-US" sz="1800" b="1" baseline="30000" noProof="0" dirty="0"/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aford"/>
                <a:ea typeface="+mj-ea"/>
                <a:cs typeface="+mj-cs"/>
              </a:rPr>
              <a:t>*Microsoft, ¤IT University of Copenhagen, †Meta AI Research, *Pinecone, ‡Yandex Labs, 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aford"/>
                <a:ea typeface="+mj-ea"/>
                <a:cs typeface="+mj-cs"/>
              </a:rPr>
              <a:t>§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aford"/>
                <a:ea typeface="+mj-ea"/>
                <a:cs typeface="+mj-cs"/>
              </a:rPr>
              <a:t>Zilliz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aford"/>
                <a:ea typeface="+mj-ea"/>
                <a:cs typeface="+mj-cs"/>
              </a:rPr>
              <a:t>, **Ansible AI</a:t>
            </a:r>
            <a:br>
              <a:rPr lang="en-US" sz="1600" b="1" baseline="30000" dirty="0">
                <a:latin typeface="Helvetica Neue"/>
              </a:rPr>
            </a:br>
            <a:endParaRPr lang="en-US" sz="1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5AD18AE-52C7-2C4D-ED58-CD868290C3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2603066"/>
              </p:ext>
            </p:extLst>
          </p:nvPr>
        </p:nvGraphicFramePr>
        <p:xfrm>
          <a:off x="914740" y="1839765"/>
          <a:ext cx="10515603" cy="4023360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129074740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59604828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6712533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94661909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6061860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10638237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37788650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Track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3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FFFF"/>
                          </a:solidFill>
                          <a:effectLst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3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Dimensions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3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Data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3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Baseline algo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3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QPS @ 90% recall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39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FFFF"/>
                          </a:solidFill>
                          <a:effectLst/>
                        </a:rPr>
                        <a:t>Release terms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3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87104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Filtered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YFCC-10M + CLIP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192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uint8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filter-FAISS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3200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  <a:hlinkClick r:id="rId2"/>
                        </a:rPr>
                        <a:t>CC BY 4.0</a:t>
                      </a:r>
                      <a:endParaRPr lang="en-US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207739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OOD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Text2Image-10M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float32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  <a:hlinkClick r:id="rId3"/>
                        </a:rPr>
                        <a:t>diskann</a:t>
                      </a:r>
                      <a:endParaRPr lang="en-US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4882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  <a:hlinkClick r:id="rId2"/>
                        </a:rPr>
                        <a:t>CC BY 4.0</a:t>
                      </a:r>
                      <a:endParaRPr lang="en-US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6209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Sparse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MS MARCO / SPLADE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~30K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float32, sparse format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  <a:hlinkClick r:id="rId4"/>
                        </a:rPr>
                        <a:t>Linscan</a:t>
                      </a:r>
                      <a:endParaRPr lang="en-US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  <a:hlinkClick r:id="rId5"/>
                        </a:rPr>
                        <a:t>MS-MARCO</a:t>
                      </a:r>
                      <a:r>
                        <a:rPr lang="en-US" sz="1800">
                          <a:effectLst/>
                        </a:rPr>
                        <a:t>: Free NC</a:t>
                      </a:r>
                      <a:br>
                        <a:rPr lang="en-US" sz="1800">
                          <a:effectLst/>
                        </a:rPr>
                      </a:br>
                      <a:r>
                        <a:rPr lang="en-US" sz="1800" u="none" strike="noStrike">
                          <a:effectLst/>
                          <a:hlinkClick r:id="rId6"/>
                        </a:rPr>
                        <a:t>SPLADE</a:t>
                      </a:r>
                      <a:r>
                        <a:rPr lang="en-US" sz="1800">
                          <a:effectLst/>
                        </a:rPr>
                        <a:t>: </a:t>
                      </a:r>
                      <a:r>
                        <a:rPr lang="en-US" sz="1800" u="none" strike="noStrike">
                          <a:effectLst/>
                          <a:hlinkClick r:id="rId7"/>
                        </a:rPr>
                        <a:t>CC BY NC SA</a:t>
                      </a:r>
                      <a:endParaRPr lang="en-US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4088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Streaming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MSTuring-30M-clustered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float32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>
                          <a:effectLst/>
                          <a:hlinkClick r:id="rId8"/>
                        </a:rPr>
                        <a:t>fresh-diskann</a:t>
                      </a:r>
                      <a:endParaRPr lang="en-US" sz="180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0.883 recall@10 (45mins)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u="none" strike="noStrike" dirty="0">
                          <a:effectLst/>
                          <a:hlinkClick r:id="rId9"/>
                        </a:rPr>
                        <a:t>O-UDA</a:t>
                      </a:r>
                      <a:endParaRPr lang="en-US" sz="180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38F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1074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54A3C866-B401-7B97-B126-518244956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67" y="-138499"/>
            <a:ext cx="65" cy="276999"/>
          </a:xfrm>
          <a:prstGeom prst="rect">
            <a:avLst/>
          </a:prstGeom>
          <a:solidFill>
            <a:srgbClr val="F1F5F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5C065B-A597-599C-9EA9-2697D096317F}"/>
              </a:ext>
            </a:extLst>
          </p:cNvPr>
          <p:cNvSpPr txBox="1"/>
          <p:nvPr/>
        </p:nvSpPr>
        <p:spPr>
          <a:xfrm>
            <a:off x="914740" y="6010157"/>
            <a:ext cx="85220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https://big-ann-benchmarks.com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4384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val 44">
            <a:extLst>
              <a:ext uri="{FF2B5EF4-FFF2-40B4-BE49-F238E27FC236}">
                <a16:creationId xmlns:a16="http://schemas.microsoft.com/office/drawing/2014/main" id="{24E1C1A5-9C42-46AB-BE3D-434254ED93DB}"/>
              </a:ext>
            </a:extLst>
          </p:cNvPr>
          <p:cNvSpPr/>
          <p:nvPr/>
        </p:nvSpPr>
        <p:spPr>
          <a:xfrm rot="1542774">
            <a:off x="8240163" y="21092"/>
            <a:ext cx="3191469" cy="369202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D39E25C-4552-4EDD-ABD3-A4C854B7F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92" y="208407"/>
            <a:ext cx="9692640" cy="672704"/>
          </a:xfrm>
        </p:spPr>
        <p:txBody>
          <a:bodyPr>
            <a:normAutofit fontScale="90000"/>
          </a:bodyPr>
          <a:lstStyle/>
          <a:p>
            <a:r>
              <a:rPr lang="en-US" dirty="0"/>
              <a:t>Index build, point by point</a:t>
            </a:r>
            <a:endParaRPr 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9003-5653-498C-8D45-652C0E1E2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98" y="1109973"/>
            <a:ext cx="7187001" cy="2477787"/>
          </a:xfrm>
          <a:solidFill>
            <a:schemeClr val="bg1">
              <a:lumMod val="85000"/>
            </a:schemeClr>
          </a:solidFill>
          <a:ln>
            <a:noFill/>
            <a:prstDash val="sysDash"/>
          </a:ln>
        </p:spPr>
        <p:txBody>
          <a:bodyPr>
            <a:normAutofit lnSpcReduction="10000"/>
          </a:bodyPr>
          <a:lstStyle/>
          <a:p>
            <a:pPr marL="228600" lvl="1" indent="0">
              <a:buNone/>
            </a:pPr>
            <a:r>
              <a:rPr lang="en-US" sz="1800" b="1" dirty="0" err="1">
                <a:latin typeface="Consolas" panose="020B0609020204030204" pitchFamily="49" charset="0"/>
              </a:rPr>
              <a:t>G.insert</a:t>
            </a:r>
            <a:r>
              <a:rPr lang="en-US" sz="1800" b="1" dirty="0">
                <a:latin typeface="Consolas" panose="020B0609020204030204" pitchFamily="49" charset="0"/>
              </a:rPr>
              <a:t>(p, 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R, </a:t>
            </a:r>
            <a:r>
              <a:rPr lang="el-GR" sz="1800" b="1" dirty="0">
                <a:solidFill>
                  <a:schemeClr val="tx1"/>
                </a:solidFill>
              </a:rPr>
              <a:t>α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)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R is degree bound, </a:t>
            </a:r>
            <a:r>
              <a:rPr lang="el-G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α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&gt;=1 constant</a:t>
            </a:r>
            <a:endParaRPr lang="en-US" sz="1800" dirty="0">
              <a:latin typeface="Consolas" panose="020B0609020204030204" pitchFamily="49" charset="0"/>
            </a:endParaRPr>
          </a:p>
          <a:p>
            <a:pPr marL="5715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vertices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visited by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G.search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(p)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|V|~5-10K</a:t>
            </a:r>
          </a:p>
          <a:p>
            <a:pPr marL="5715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V’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Prune(p,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V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, R, </a:t>
            </a:r>
            <a:r>
              <a:rPr lang="el-GR" sz="1800" b="1" dirty="0">
                <a:solidFill>
                  <a:schemeClr val="tx1"/>
                </a:solidFill>
              </a:rPr>
              <a:t>α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)</a:t>
            </a:r>
          </a:p>
          <a:p>
            <a:pPr marL="5715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For all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 ∈ V’</a:t>
            </a:r>
          </a:p>
          <a:p>
            <a:pPr marL="845820" lvl="2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add edges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p,v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 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v,p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 to G</a:t>
            </a:r>
          </a:p>
          <a:p>
            <a:pPr marL="845820" lvl="2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Consolas" panose="020B0609020204030204" pitchFamily="49" charset="0"/>
              </a:rPr>
              <a:t>if </a:t>
            </a:r>
            <a:r>
              <a:rPr lang="en-US" sz="1600" b="1" dirty="0">
                <a:latin typeface="Consolas" panose="020B0609020204030204" pitchFamily="49" charset="0"/>
              </a:rPr>
              <a:t>|</a:t>
            </a:r>
            <a:r>
              <a:rPr lang="en-US" sz="1600" b="1" dirty="0" err="1">
                <a:latin typeface="Consolas" panose="020B0609020204030204" pitchFamily="49" charset="0"/>
              </a:rPr>
              <a:t>N</a:t>
            </a:r>
            <a:r>
              <a:rPr lang="en-US" sz="1600" b="1" baseline="-25000" dirty="0" err="1">
                <a:latin typeface="Consolas" panose="020B0609020204030204" pitchFamily="49" charset="0"/>
              </a:rPr>
              <a:t>out</a:t>
            </a:r>
            <a:r>
              <a:rPr lang="en-US" sz="1600" b="1" dirty="0">
                <a:latin typeface="Consolas" panose="020B0609020204030204" pitchFamily="49" charset="0"/>
              </a:rPr>
              <a:t>(v)| &gt; R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    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b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out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(v) </a:t>
            </a:r>
            <a:r>
              <a:rPr lang="en-US" b="1" dirty="0"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Prune(v,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b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out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(v), R, </a:t>
            </a:r>
            <a:r>
              <a:rPr lang="el-G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α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)</a:t>
            </a:r>
            <a:endParaRPr lang="en-US" sz="1400" b="1" dirty="0">
              <a:latin typeface="Consolas" panose="020B0609020204030204" pitchFamily="49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8219C2-BF76-4FC5-9DB7-556B5D3B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404F0F-5B77-42EA-B7E6-5EB6C14C1D6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11/13/2025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7A0FC-B513-436E-BCC8-71AC3369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A31737-66ED-4538-8E4A-5B6F08D0267E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3F4D5EC8-FE33-4757-BECD-3EDEDA90CED2}"/>
              </a:ext>
            </a:extLst>
          </p:cNvPr>
          <p:cNvSpPr/>
          <p:nvPr/>
        </p:nvSpPr>
        <p:spPr>
          <a:xfrm>
            <a:off x="10038062" y="994803"/>
            <a:ext cx="93306" cy="83975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291166AC-58B7-4B5B-AEF4-41A7F59B29C9}"/>
              </a:ext>
            </a:extLst>
          </p:cNvPr>
          <p:cNvSpPr/>
          <p:nvPr/>
        </p:nvSpPr>
        <p:spPr>
          <a:xfrm>
            <a:off x="9540992" y="2717995"/>
            <a:ext cx="45719" cy="45719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4EC0F6-5CD8-48A8-803C-1AF3391EFCB2}"/>
              </a:ext>
            </a:extLst>
          </p:cNvPr>
          <p:cNvSpPr txBox="1"/>
          <p:nvPr/>
        </p:nvSpPr>
        <p:spPr>
          <a:xfrm>
            <a:off x="10057767" y="793835"/>
            <a:ext cx="198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3AB82D-A86D-4471-BD66-6FFFE462122B}"/>
              </a:ext>
            </a:extLst>
          </p:cNvPr>
          <p:cNvSpPr txBox="1"/>
          <p:nvPr/>
        </p:nvSpPr>
        <p:spPr>
          <a:xfrm>
            <a:off x="9340989" y="2617288"/>
            <a:ext cx="27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5FF7A937-6C98-B403-2EE6-6C376B4D3D9A}"/>
              </a:ext>
            </a:extLst>
          </p:cNvPr>
          <p:cNvSpPr txBox="1"/>
          <p:nvPr/>
        </p:nvSpPr>
        <p:spPr>
          <a:xfrm>
            <a:off x="9800828" y="159004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002958-03F5-02D3-7F48-BC7A7AABA41F}"/>
              </a:ext>
            </a:extLst>
          </p:cNvPr>
          <p:cNvGrpSpPr/>
          <p:nvPr/>
        </p:nvGrpSpPr>
        <p:grpSpPr>
          <a:xfrm>
            <a:off x="9174994" y="1212882"/>
            <a:ext cx="997451" cy="1857728"/>
            <a:chOff x="9179636" y="1215476"/>
            <a:chExt cx="997451" cy="185772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C5EEB53-910B-4726-B8C6-42FD2D2A9551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9179636" y="2595813"/>
              <a:ext cx="368051" cy="12887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03B4D0F-A899-40D0-AFC7-003FE5E53DE5}"/>
                </a:ext>
              </a:extLst>
            </p:cNvPr>
            <p:cNvCxnSpPr>
              <a:cxnSpLocks/>
              <a:endCxn id="13" idx="7"/>
            </p:cNvCxnSpPr>
            <p:nvPr/>
          </p:nvCxnSpPr>
          <p:spPr>
            <a:xfrm flipH="1">
              <a:off x="9580016" y="2587347"/>
              <a:ext cx="38272" cy="13734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DB10F3-A869-41DB-81B8-EE95FAE486D0}"/>
                </a:ext>
              </a:extLst>
            </p:cNvPr>
            <p:cNvCxnSpPr>
              <a:cxnSpLocks/>
              <a:endCxn id="13" idx="6"/>
            </p:cNvCxnSpPr>
            <p:nvPr/>
          </p:nvCxnSpPr>
          <p:spPr>
            <a:xfrm flipH="1">
              <a:off x="9586711" y="2692064"/>
              <a:ext cx="590376" cy="4879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4AFB550F-AF4F-4785-8EA1-423FA648A180}"/>
                </a:ext>
              </a:extLst>
            </p:cNvPr>
            <p:cNvCxnSpPr>
              <a:cxnSpLocks/>
              <a:endCxn id="13" idx="5"/>
            </p:cNvCxnSpPr>
            <p:nvPr/>
          </p:nvCxnSpPr>
          <p:spPr>
            <a:xfrm flipH="1" flipV="1">
              <a:off x="9580016" y="2757019"/>
              <a:ext cx="179682" cy="31618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D295372-933E-5AFF-71E5-E6FF0F2FE4CB}"/>
                </a:ext>
              </a:extLst>
            </p:cNvPr>
            <p:cNvCxnSpPr>
              <a:cxnSpLocks/>
              <a:endCxn id="13" idx="0"/>
            </p:cNvCxnSpPr>
            <p:nvPr/>
          </p:nvCxnSpPr>
          <p:spPr>
            <a:xfrm>
              <a:off x="9182985" y="1215476"/>
              <a:ext cx="380867" cy="150251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A146B0F4-49A8-DA47-EEEE-3106A178EFB1}"/>
              </a:ext>
            </a:extLst>
          </p:cNvPr>
          <p:cNvGrpSpPr/>
          <p:nvPr/>
        </p:nvGrpSpPr>
        <p:grpSpPr>
          <a:xfrm>
            <a:off x="9042546" y="1066480"/>
            <a:ext cx="1478191" cy="2008772"/>
            <a:chOff x="9042546" y="1066480"/>
            <a:chExt cx="1478191" cy="200877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783E01E-F229-4F8F-B3EB-A6C7543AD7CC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 flipH="1">
              <a:off x="9829056" y="1066480"/>
              <a:ext cx="222670" cy="72034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E14F9C9-B2EE-46D8-9513-D64CAEEEAE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3499" y="1779694"/>
              <a:ext cx="152399" cy="32004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E586F11-0717-4D07-A4C4-0BBCF04FB0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42115" y="2104232"/>
              <a:ext cx="41384" cy="16618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9798CFE-EC70-403E-B438-F5B6E4D071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46268" y="2547790"/>
              <a:ext cx="53766" cy="15389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B15D7CF-D1B7-41D3-AEC4-8E2A0B0FBE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0034" y="2270420"/>
              <a:ext cx="242081" cy="27737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A8C8B5F-DCD7-07E7-4ACB-D536A6BAB8D9}"/>
                </a:ext>
              </a:extLst>
            </p:cNvPr>
            <p:cNvCxnSpPr>
              <a:cxnSpLocks/>
              <a:stCxn id="12" idx="4"/>
            </p:cNvCxnSpPr>
            <p:nvPr/>
          </p:nvCxnSpPr>
          <p:spPr>
            <a:xfrm>
              <a:off x="10084715" y="1078778"/>
              <a:ext cx="245418" cy="78460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256D89A-9852-3F9A-5CCB-2F1FD0DDA61E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 flipH="1">
              <a:off x="9175918" y="1066480"/>
              <a:ext cx="875808" cy="15500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6011BCF-225E-68DC-A92A-1985C1422A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0881" y="1708388"/>
              <a:ext cx="191896" cy="370954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97E637C-5341-1428-D316-1D0A52E55F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5918" y="2070399"/>
              <a:ext cx="34107" cy="53595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B36E677A-0400-5475-1833-E15EFCD2A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24563" y="2277270"/>
              <a:ext cx="14017" cy="30768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A86CB7BC-46D7-2FDE-5D46-1FBC494452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5148" y="1863991"/>
              <a:ext cx="225814" cy="62896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C86AFB1-6879-B899-BE92-4FF4057BD7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9056" y="2471448"/>
              <a:ext cx="292708" cy="22061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31718E9-3552-3148-E729-A92D9A9E4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9698" y="2692064"/>
              <a:ext cx="76200" cy="38318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8B19043E-4973-4830-DA6F-E2AA43EF1A3A}"/>
                </a:ext>
              </a:extLst>
            </p:cNvPr>
            <p:cNvCxnSpPr>
              <a:cxnSpLocks/>
            </p:cNvCxnSpPr>
            <p:nvPr/>
          </p:nvCxnSpPr>
          <p:spPr>
            <a:xfrm>
              <a:off x="10115148" y="2471448"/>
              <a:ext cx="61939" cy="22061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9694F97F-07FF-94BE-BD8A-720BA3C29E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9761" y="1748275"/>
              <a:ext cx="180976" cy="125385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A269199-8091-2748-0689-DA7FFA39B2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7934" y="1770466"/>
              <a:ext cx="159930" cy="1636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0219E9B-FB47-839E-5284-A1DBE91F4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77185" y="1584622"/>
              <a:ext cx="159930" cy="1636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014407CA-157D-60A8-1DB0-7733DD41CB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89984" y="1234313"/>
              <a:ext cx="219792" cy="48145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3C16D83-C861-4352-EE20-7E92C73F00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2546" y="1225120"/>
              <a:ext cx="140439" cy="17365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ED9CEB1-65E2-8226-E077-2311EEC599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2115" y="1513253"/>
              <a:ext cx="150060" cy="18431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5597916F-1F88-33EF-7B08-BAB9ED6612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0043" y="1948470"/>
              <a:ext cx="107908" cy="117172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AD3499F2-4B97-5FEA-FEEB-7A3F904B6BFC}"/>
                </a:ext>
              </a:extLst>
            </p:cNvPr>
            <p:cNvCxnSpPr>
              <a:cxnSpLocks/>
            </p:cNvCxnSpPr>
            <p:nvPr/>
          </p:nvCxnSpPr>
          <p:spPr>
            <a:xfrm>
              <a:off x="9496117" y="1889878"/>
              <a:ext cx="173740" cy="222255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92CE5B79-CFD4-7B2F-028F-B4C5767EA782}"/>
                </a:ext>
              </a:extLst>
            </p:cNvPr>
            <p:cNvCxnSpPr>
              <a:cxnSpLocks/>
            </p:cNvCxnSpPr>
            <p:nvPr/>
          </p:nvCxnSpPr>
          <p:spPr>
            <a:xfrm>
              <a:off x="9777911" y="2492403"/>
              <a:ext cx="52764" cy="19966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763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197"/>
    </mc:Choice>
    <mc:Fallback xmlns="">
      <p:transition spd="slow" advTm="641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59003-5653-498C-8D45-652C0E1E2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398" y="1109973"/>
            <a:ext cx="7187001" cy="2477787"/>
          </a:xfrm>
          <a:solidFill>
            <a:schemeClr val="bg1">
              <a:lumMod val="85000"/>
            </a:schemeClr>
          </a:solidFill>
          <a:ln>
            <a:noFill/>
            <a:prstDash val="sysDash"/>
          </a:ln>
        </p:spPr>
        <p:txBody>
          <a:bodyPr>
            <a:normAutofit lnSpcReduction="10000"/>
          </a:bodyPr>
          <a:lstStyle/>
          <a:p>
            <a:pPr marL="228600" lvl="1" indent="0">
              <a:buNone/>
            </a:pPr>
            <a:r>
              <a:rPr lang="en-US" sz="1800" b="1" dirty="0" err="1">
                <a:latin typeface="Consolas" panose="020B0609020204030204" pitchFamily="49" charset="0"/>
              </a:rPr>
              <a:t>G.insert</a:t>
            </a:r>
            <a:r>
              <a:rPr lang="en-US" sz="1800" b="1" dirty="0">
                <a:latin typeface="Consolas" panose="020B0609020204030204" pitchFamily="49" charset="0"/>
              </a:rPr>
              <a:t>(p, 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R, </a:t>
            </a:r>
            <a:r>
              <a:rPr lang="el-GR" sz="1800" b="1" dirty="0">
                <a:solidFill>
                  <a:schemeClr val="tx1"/>
                </a:solidFill>
              </a:rPr>
              <a:t>α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) 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// R is degree bound, </a:t>
            </a:r>
            <a:r>
              <a:rPr lang="el-GR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α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&gt;=1 constant</a:t>
            </a:r>
            <a:endParaRPr lang="en-US" sz="1800" dirty="0">
              <a:latin typeface="Consolas" panose="020B0609020204030204" pitchFamily="49" charset="0"/>
            </a:endParaRPr>
          </a:p>
          <a:p>
            <a:pPr marL="5715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</a:rPr>
              <a:t>vertices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visited by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G.search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(p)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// |V|~5-10K</a:t>
            </a:r>
          </a:p>
          <a:p>
            <a:pPr marL="5715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1"/>
                </a:solidFill>
                <a:latin typeface="Consolas" panose="020B0609020204030204" pitchFamily="49" charset="0"/>
              </a:rPr>
              <a:t>V’</a:t>
            </a:r>
            <a:r>
              <a:rPr lang="en-US" sz="1800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 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Prune(p, </a:t>
            </a:r>
            <a:r>
              <a:rPr lang="en-US" sz="1800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V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, R, </a:t>
            </a:r>
            <a:r>
              <a:rPr lang="el-GR" sz="1800" b="1" dirty="0">
                <a:solidFill>
                  <a:schemeClr val="tx1"/>
                </a:solidFill>
              </a:rPr>
              <a:t>α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)</a:t>
            </a:r>
          </a:p>
          <a:p>
            <a:pPr marL="571500" lvl="1" indent="-342900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dirty="0">
                <a:latin typeface="Consolas" panose="020B0609020204030204" pitchFamily="49" charset="0"/>
              </a:rPr>
              <a:t>For all </a:t>
            </a: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 ∈ V’</a:t>
            </a:r>
          </a:p>
          <a:p>
            <a:pPr marL="845820" lvl="2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Consolas" panose="020B0609020204030204" pitchFamily="49" charset="0"/>
              </a:rPr>
              <a:t>add edges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p,v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 and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v,p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</a:rPr>
              <a:t> to G</a:t>
            </a:r>
          </a:p>
          <a:p>
            <a:pPr marL="845820" lvl="2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Consolas" panose="020B0609020204030204" pitchFamily="49" charset="0"/>
              </a:rPr>
              <a:t>if </a:t>
            </a:r>
            <a:r>
              <a:rPr lang="en-US" sz="1600" b="1" dirty="0">
                <a:latin typeface="Consolas" panose="020B0609020204030204" pitchFamily="49" charset="0"/>
              </a:rPr>
              <a:t>|</a:t>
            </a:r>
            <a:r>
              <a:rPr lang="en-US" sz="1600" b="1" dirty="0" err="1">
                <a:latin typeface="Consolas" panose="020B0609020204030204" pitchFamily="49" charset="0"/>
              </a:rPr>
              <a:t>N</a:t>
            </a:r>
            <a:r>
              <a:rPr lang="en-US" sz="1600" b="1" baseline="-25000" dirty="0" err="1">
                <a:latin typeface="Consolas" panose="020B0609020204030204" pitchFamily="49" charset="0"/>
              </a:rPr>
              <a:t>out</a:t>
            </a:r>
            <a:r>
              <a:rPr lang="en-US" sz="1600" b="1" dirty="0">
                <a:latin typeface="Consolas" panose="020B0609020204030204" pitchFamily="49" charset="0"/>
              </a:rPr>
              <a:t>(v)| &gt; R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    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b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out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(v) </a:t>
            </a:r>
            <a:r>
              <a:rPr lang="en-US" b="1" dirty="0">
                <a:latin typeface="Consolas" panose="020B0609020204030204" pitchFamily="49" charset="0"/>
                <a:sym typeface="Wingdings" panose="05000000000000000000" pitchFamily="2" charset="2"/>
              </a:rPr>
              <a:t>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Prune(v,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N</a:t>
            </a:r>
            <a:r>
              <a:rPr lang="en-US" b="1" baseline="-25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out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(v), R, </a:t>
            </a:r>
            <a:r>
              <a:rPr lang="el-G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α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)</a:t>
            </a:r>
            <a:endParaRPr lang="en-US" sz="1400" b="1" dirty="0">
              <a:latin typeface="Consolas" panose="020B0609020204030204" pitchFamily="49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8219C2-BF76-4FC5-9DB7-556B5D3BA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404F0F-5B77-42EA-B7E6-5EB6C14C1D69}" type="datetime1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11/13/2025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20000"/>
                  <a:lumOff val="8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7A0FC-B513-436E-BCC8-71AC3369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6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A31737-66ED-4538-8E4A-5B6F08D0267E}" type="slidenum">
              <a:rPr kumimoji="0" lang="en-US" sz="320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60000"/>
                    <a:lumOff val="4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60000"/>
                  <a:lumOff val="4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040F8C62-94D5-4BD7-96DC-3300F0045242}"/>
              </a:ext>
            </a:extLst>
          </p:cNvPr>
          <p:cNvSpPr txBox="1">
            <a:spLocks/>
          </p:cNvSpPr>
          <p:nvPr/>
        </p:nvSpPr>
        <p:spPr>
          <a:xfrm>
            <a:off x="3827751" y="4380940"/>
            <a:ext cx="7692552" cy="194491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Prune(p, V, R, </a:t>
            </a:r>
            <a:r>
              <a:rPr kumimoji="0" lang="el-G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α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) returns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V’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 |V’|&lt;R is degree, </a:t>
            </a:r>
            <a:r>
              <a:rPr kumimoji="0" lang="el-G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α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typically 1.2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  <a:sym typeface="Wingdings" panose="05000000000000000000" pitchFamily="2" charset="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Sort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V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 in increasing order of distance from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p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V’ {v</a:t>
            </a:r>
            <a:r>
              <a:rPr kumimoji="0" lang="en-US" sz="1600" b="1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  <a:sym typeface="Wingdings" panose="05000000000000000000" pitchFamily="2" charset="2"/>
              </a:rPr>
              <a:t>}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for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∈ {2, …, |V|}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while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|V’| &lt; R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 for any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</a:t>
            </a:r>
            <a:r>
              <a:rPr kumimoji="0" lang="en-US" sz="1600" b="1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∈ V’, d(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</a:t>
            </a:r>
            <a:r>
              <a:rPr kumimoji="0" lang="en-US" sz="1600" b="1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j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,v</a:t>
            </a:r>
            <a:r>
              <a:rPr kumimoji="0" lang="en-US" sz="1600" b="1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&lt; d(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p,v</a:t>
            </a:r>
            <a:r>
              <a:rPr kumimoji="0" lang="en-US" sz="1600" b="1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)/</a:t>
            </a:r>
            <a:r>
              <a:rPr kumimoji="0" lang="el-G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α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, skip i &amp; continue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else, add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</a:t>
            </a:r>
            <a:r>
              <a:rPr kumimoji="0" lang="en-US" sz="1600" b="1" i="0" u="none" strike="noStrike" kern="1200" cap="none" spc="0" normalizeH="0" baseline="-2500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AD47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to V’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0AD47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3B4EEB1-CD1F-4950-872F-FD0CB13496A7}"/>
              </a:ext>
            </a:extLst>
          </p:cNvPr>
          <p:cNvCxnSpPr>
            <a:cxnSpLocks/>
            <a:stCxn id="192" idx="5"/>
            <a:endCxn id="205" idx="1"/>
          </p:cNvCxnSpPr>
          <p:nvPr/>
        </p:nvCxnSpPr>
        <p:spPr>
          <a:xfrm flipV="1">
            <a:off x="1914391" y="5266230"/>
            <a:ext cx="1395467" cy="16940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Multiplication Sign 51">
            <a:extLst>
              <a:ext uri="{FF2B5EF4-FFF2-40B4-BE49-F238E27FC236}">
                <a16:creationId xmlns:a16="http://schemas.microsoft.com/office/drawing/2014/main" id="{B4F7939F-83D2-4FFF-A9B2-43ABCC9D0D09}"/>
              </a:ext>
            </a:extLst>
          </p:cNvPr>
          <p:cNvSpPr/>
          <p:nvPr/>
        </p:nvSpPr>
        <p:spPr>
          <a:xfrm>
            <a:off x="1973934" y="4904112"/>
            <a:ext cx="340844" cy="332816"/>
          </a:xfrm>
          <a:prstGeom prst="mathMultiply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1939D95-D37F-7C36-C7A8-BBD729EE9C95}"/>
              </a:ext>
            </a:extLst>
          </p:cNvPr>
          <p:cNvSpPr txBox="1"/>
          <p:nvPr/>
        </p:nvSpPr>
        <p:spPr>
          <a:xfrm>
            <a:off x="1680761" y="5209489"/>
            <a:ext cx="27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73100A8E-BD34-DEBF-3E77-93F110D1DC0A}"/>
              </a:ext>
            </a:extLst>
          </p:cNvPr>
          <p:cNvSpPr/>
          <p:nvPr/>
        </p:nvSpPr>
        <p:spPr>
          <a:xfrm>
            <a:off x="1875367" y="524414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F25BB60-1879-1CAB-DC63-F50A08A45F5F}"/>
              </a:ext>
            </a:extLst>
          </p:cNvPr>
          <p:cNvGrpSpPr/>
          <p:nvPr/>
        </p:nvGrpSpPr>
        <p:grpSpPr>
          <a:xfrm>
            <a:off x="1205346" y="5105199"/>
            <a:ext cx="360969" cy="338554"/>
            <a:chOff x="1205346" y="5105199"/>
            <a:chExt cx="360969" cy="338554"/>
          </a:xfrm>
        </p:grpSpPr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F781769-35EC-408B-5F68-DB9DB00C9AE8}"/>
                </a:ext>
              </a:extLst>
            </p:cNvPr>
            <p:cNvSpPr txBox="1"/>
            <p:nvPr/>
          </p:nvSpPr>
          <p:spPr>
            <a:xfrm>
              <a:off x="1205346" y="5105199"/>
              <a:ext cx="3609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v</a:t>
              </a:r>
              <a:r>
                <a:rPr kumimoji="0" lang="en-US" sz="16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1</a:t>
              </a:r>
              <a:endParaRPr kumimoji="0" lang="en-US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92C34FE1-CFBA-68E5-92AD-856B9BB94C63}"/>
                </a:ext>
              </a:extLst>
            </p:cNvPr>
            <p:cNvSpPr/>
            <p:nvPr/>
          </p:nvSpPr>
          <p:spPr>
            <a:xfrm>
              <a:off x="1493432" y="537026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B79F3319-F94F-A006-526F-F17C42C48147}"/>
              </a:ext>
            </a:extLst>
          </p:cNvPr>
          <p:cNvCxnSpPr>
            <a:cxnSpLocks/>
            <a:stCxn id="192" idx="4"/>
            <a:endCxn id="197" idx="0"/>
          </p:cNvCxnSpPr>
          <p:nvPr/>
        </p:nvCxnSpPr>
        <p:spPr>
          <a:xfrm>
            <a:off x="1898227" y="5289865"/>
            <a:ext cx="189481" cy="449727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Arrow Connector 210">
            <a:extLst>
              <a:ext uri="{FF2B5EF4-FFF2-40B4-BE49-F238E27FC236}">
                <a16:creationId xmlns:a16="http://schemas.microsoft.com/office/drawing/2014/main" id="{B2DECDEF-D0A1-6F72-111F-DE5F0F627952}"/>
              </a:ext>
            </a:extLst>
          </p:cNvPr>
          <p:cNvCxnSpPr>
            <a:cxnSpLocks/>
            <a:stCxn id="192" idx="2"/>
          </p:cNvCxnSpPr>
          <p:nvPr/>
        </p:nvCxnSpPr>
        <p:spPr>
          <a:xfrm flipH="1">
            <a:off x="1550788" y="5267006"/>
            <a:ext cx="324579" cy="120197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EEA5CC33-A528-C92A-5825-EBEE63427729}"/>
              </a:ext>
            </a:extLst>
          </p:cNvPr>
          <p:cNvCxnSpPr>
            <a:cxnSpLocks/>
            <a:stCxn id="192" idx="0"/>
            <a:endCxn id="203" idx="5"/>
          </p:cNvCxnSpPr>
          <p:nvPr/>
        </p:nvCxnSpPr>
        <p:spPr>
          <a:xfrm flipH="1" flipV="1">
            <a:off x="1871133" y="4701285"/>
            <a:ext cx="27094" cy="542861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Straight Arrow Connector 212">
            <a:extLst>
              <a:ext uri="{FF2B5EF4-FFF2-40B4-BE49-F238E27FC236}">
                <a16:creationId xmlns:a16="http://schemas.microsoft.com/office/drawing/2014/main" id="{D79DCB11-94BD-20AE-7769-641CF6517610}"/>
              </a:ext>
            </a:extLst>
          </p:cNvPr>
          <p:cNvCxnSpPr>
            <a:cxnSpLocks/>
            <a:stCxn id="192" idx="1"/>
            <a:endCxn id="201" idx="5"/>
          </p:cNvCxnSpPr>
          <p:nvPr/>
        </p:nvCxnSpPr>
        <p:spPr>
          <a:xfrm flipH="1" flipV="1">
            <a:off x="1198651" y="4075542"/>
            <a:ext cx="683411" cy="1175299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D4A4C052-5C51-1226-4BF4-296E076B4D45}"/>
              </a:ext>
            </a:extLst>
          </p:cNvPr>
          <p:cNvCxnSpPr>
            <a:cxnSpLocks/>
            <a:stCxn id="192" idx="4"/>
          </p:cNvCxnSpPr>
          <p:nvPr/>
        </p:nvCxnSpPr>
        <p:spPr>
          <a:xfrm flipH="1">
            <a:off x="1854401" y="5289865"/>
            <a:ext cx="43826" cy="882335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Arrow Connector 214">
            <a:extLst>
              <a:ext uri="{FF2B5EF4-FFF2-40B4-BE49-F238E27FC236}">
                <a16:creationId xmlns:a16="http://schemas.microsoft.com/office/drawing/2014/main" id="{BD06616A-3E1F-8D57-FE55-926A5CA33B4D}"/>
              </a:ext>
            </a:extLst>
          </p:cNvPr>
          <p:cNvCxnSpPr>
            <a:cxnSpLocks/>
            <a:stCxn id="192" idx="6"/>
            <a:endCxn id="199" idx="3"/>
          </p:cNvCxnSpPr>
          <p:nvPr/>
        </p:nvCxnSpPr>
        <p:spPr>
          <a:xfrm flipV="1">
            <a:off x="1921086" y="4811553"/>
            <a:ext cx="508424" cy="455453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1C8C2C8-FDD6-E700-BA9F-09B4C4417923}"/>
              </a:ext>
            </a:extLst>
          </p:cNvPr>
          <p:cNvGrpSpPr/>
          <p:nvPr/>
        </p:nvGrpSpPr>
        <p:grpSpPr>
          <a:xfrm>
            <a:off x="1820220" y="6115973"/>
            <a:ext cx="360969" cy="338554"/>
            <a:chOff x="1820220" y="6115973"/>
            <a:chExt cx="360969" cy="338554"/>
          </a:xfrm>
        </p:grpSpPr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2BD3146B-46BB-EAA7-3363-50336DA9DC91}"/>
                </a:ext>
              </a:extLst>
            </p:cNvPr>
            <p:cNvSpPr/>
            <p:nvPr/>
          </p:nvSpPr>
          <p:spPr>
            <a:xfrm>
              <a:off x="1825414" y="6165505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3" name="TextBox 232">
              <a:extLst>
                <a:ext uri="{FF2B5EF4-FFF2-40B4-BE49-F238E27FC236}">
                  <a16:creationId xmlns:a16="http://schemas.microsoft.com/office/drawing/2014/main" id="{FE960C7D-A995-5324-50FB-2CB6C16673A0}"/>
                </a:ext>
              </a:extLst>
            </p:cNvPr>
            <p:cNvSpPr txBox="1"/>
            <p:nvPr/>
          </p:nvSpPr>
          <p:spPr>
            <a:xfrm>
              <a:off x="1820220" y="6115973"/>
              <a:ext cx="3609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v</a:t>
              </a:r>
              <a:r>
                <a:rPr kumimoji="0" lang="en-US" sz="16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5</a:t>
              </a:r>
              <a:endParaRPr kumimoji="0" lang="en-US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939E2B-7B0B-9C02-08D5-E1875374D729}"/>
              </a:ext>
            </a:extLst>
          </p:cNvPr>
          <p:cNvGrpSpPr/>
          <p:nvPr/>
        </p:nvGrpSpPr>
        <p:grpSpPr>
          <a:xfrm>
            <a:off x="1809000" y="4359893"/>
            <a:ext cx="360969" cy="348087"/>
            <a:chOff x="1809000" y="4359893"/>
            <a:chExt cx="360969" cy="348087"/>
          </a:xfrm>
        </p:grpSpPr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C4B25E8A-4874-DD52-B4FC-BE8F44E15666}"/>
                </a:ext>
              </a:extLst>
            </p:cNvPr>
            <p:cNvSpPr/>
            <p:nvPr/>
          </p:nvSpPr>
          <p:spPr>
            <a:xfrm>
              <a:off x="1832109" y="466226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4" name="TextBox 233">
              <a:extLst>
                <a:ext uri="{FF2B5EF4-FFF2-40B4-BE49-F238E27FC236}">
                  <a16:creationId xmlns:a16="http://schemas.microsoft.com/office/drawing/2014/main" id="{F571EC31-0A86-9317-2219-0C8D0D1E29AD}"/>
                </a:ext>
              </a:extLst>
            </p:cNvPr>
            <p:cNvSpPr txBox="1"/>
            <p:nvPr/>
          </p:nvSpPr>
          <p:spPr>
            <a:xfrm>
              <a:off x="1809000" y="4359893"/>
              <a:ext cx="3609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v</a:t>
              </a:r>
              <a:r>
                <a:rPr kumimoji="0" lang="en-US" sz="16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3</a:t>
              </a:r>
              <a:endParaRPr kumimoji="0" lang="en-US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473A49E-3F70-A01B-B53D-1712A4FAD17E}"/>
              </a:ext>
            </a:extLst>
          </p:cNvPr>
          <p:cNvGrpSpPr/>
          <p:nvPr/>
        </p:nvGrpSpPr>
        <p:grpSpPr>
          <a:xfrm>
            <a:off x="2422815" y="4529466"/>
            <a:ext cx="383828" cy="338554"/>
            <a:chOff x="2422815" y="4529466"/>
            <a:chExt cx="383828" cy="338554"/>
          </a:xfrm>
        </p:grpSpPr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BBD19A2F-91B3-25BA-3098-1230C10434C6}"/>
                </a:ext>
              </a:extLst>
            </p:cNvPr>
            <p:cNvSpPr/>
            <p:nvPr/>
          </p:nvSpPr>
          <p:spPr>
            <a:xfrm>
              <a:off x="2422815" y="477252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23957549-D2FB-4B83-6CB6-6241E1976486}"/>
                </a:ext>
              </a:extLst>
            </p:cNvPr>
            <p:cNvSpPr txBox="1"/>
            <p:nvPr/>
          </p:nvSpPr>
          <p:spPr>
            <a:xfrm>
              <a:off x="2445674" y="4529466"/>
              <a:ext cx="3609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v</a:t>
              </a:r>
              <a:r>
                <a:rPr kumimoji="0" lang="en-US" sz="16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4</a:t>
              </a:r>
              <a:endParaRPr kumimoji="0" lang="en-US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DDD6B60-68F9-AD34-1738-972D67A0A065}"/>
              </a:ext>
            </a:extLst>
          </p:cNvPr>
          <p:cNvGrpSpPr/>
          <p:nvPr/>
        </p:nvGrpSpPr>
        <p:grpSpPr>
          <a:xfrm>
            <a:off x="3303163" y="5097728"/>
            <a:ext cx="392825" cy="338554"/>
            <a:chOff x="3194925" y="5451671"/>
            <a:chExt cx="392825" cy="338554"/>
          </a:xfrm>
        </p:grpSpPr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A8091A8C-0EEB-8E1B-7D49-ACDBBB762E3A}"/>
                </a:ext>
              </a:extLst>
            </p:cNvPr>
            <p:cNvSpPr/>
            <p:nvPr/>
          </p:nvSpPr>
          <p:spPr>
            <a:xfrm>
              <a:off x="3194925" y="561347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6" name="TextBox 235">
              <a:extLst>
                <a:ext uri="{FF2B5EF4-FFF2-40B4-BE49-F238E27FC236}">
                  <a16:creationId xmlns:a16="http://schemas.microsoft.com/office/drawing/2014/main" id="{24BC68BB-393A-C941-B3BE-4C917F82AE70}"/>
                </a:ext>
              </a:extLst>
            </p:cNvPr>
            <p:cNvSpPr txBox="1"/>
            <p:nvPr/>
          </p:nvSpPr>
          <p:spPr>
            <a:xfrm>
              <a:off x="3226781" y="5451671"/>
              <a:ext cx="3609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v</a:t>
              </a:r>
              <a:r>
                <a:rPr kumimoji="0" lang="en-US" sz="16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6</a:t>
              </a:r>
              <a:endParaRPr kumimoji="0" lang="en-US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2862B65-1D74-B241-F6F9-BCA4A7788A6F}"/>
              </a:ext>
            </a:extLst>
          </p:cNvPr>
          <p:cNvGrpSpPr/>
          <p:nvPr/>
        </p:nvGrpSpPr>
        <p:grpSpPr>
          <a:xfrm>
            <a:off x="1141104" y="3747204"/>
            <a:ext cx="360969" cy="338554"/>
            <a:chOff x="1141104" y="3747204"/>
            <a:chExt cx="360969" cy="338554"/>
          </a:xfrm>
        </p:grpSpPr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706284EB-D2F8-82D1-A026-09DF58B45BF2}"/>
                </a:ext>
              </a:extLst>
            </p:cNvPr>
            <p:cNvSpPr/>
            <p:nvPr/>
          </p:nvSpPr>
          <p:spPr>
            <a:xfrm>
              <a:off x="1159627" y="40365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7" name="TextBox 236">
              <a:extLst>
                <a:ext uri="{FF2B5EF4-FFF2-40B4-BE49-F238E27FC236}">
                  <a16:creationId xmlns:a16="http://schemas.microsoft.com/office/drawing/2014/main" id="{30C9BDC3-8846-62B1-01C5-B4684FD3D389}"/>
                </a:ext>
              </a:extLst>
            </p:cNvPr>
            <p:cNvSpPr txBox="1"/>
            <p:nvPr/>
          </p:nvSpPr>
          <p:spPr>
            <a:xfrm>
              <a:off x="1141104" y="3747204"/>
              <a:ext cx="3609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v</a:t>
              </a:r>
              <a:r>
                <a:rPr kumimoji="0" lang="en-US" sz="16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7</a:t>
              </a:r>
              <a:endParaRPr kumimoji="0" lang="en-US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E42488FB-0F4A-CCC2-B467-78CF24003B65}"/>
              </a:ext>
            </a:extLst>
          </p:cNvPr>
          <p:cNvGrpSpPr/>
          <p:nvPr/>
        </p:nvGrpSpPr>
        <p:grpSpPr>
          <a:xfrm>
            <a:off x="2061846" y="5583686"/>
            <a:ext cx="360969" cy="338554"/>
            <a:chOff x="2061846" y="5583686"/>
            <a:chExt cx="360969" cy="338554"/>
          </a:xfrm>
        </p:grpSpPr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200FEF20-57F4-CD90-E769-B3F6D6E031DD}"/>
                </a:ext>
              </a:extLst>
            </p:cNvPr>
            <p:cNvSpPr/>
            <p:nvPr/>
          </p:nvSpPr>
          <p:spPr>
            <a:xfrm>
              <a:off x="2064848" y="573959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8" name="TextBox 237">
              <a:extLst>
                <a:ext uri="{FF2B5EF4-FFF2-40B4-BE49-F238E27FC236}">
                  <a16:creationId xmlns:a16="http://schemas.microsoft.com/office/drawing/2014/main" id="{221A3BCE-9CFB-3122-39A4-019BDBC503D9}"/>
                </a:ext>
              </a:extLst>
            </p:cNvPr>
            <p:cNvSpPr txBox="1"/>
            <p:nvPr/>
          </p:nvSpPr>
          <p:spPr>
            <a:xfrm>
              <a:off x="2061846" y="5583686"/>
              <a:ext cx="3609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v</a:t>
              </a:r>
              <a:r>
                <a:rPr kumimoji="0" lang="en-US" sz="1600" b="1" i="1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2</a:t>
              </a:r>
              <a:endParaRPr kumimoji="0" lang="en-US" sz="2400" b="1" i="1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239" name="Multiplication Sign 238">
            <a:extLst>
              <a:ext uri="{FF2B5EF4-FFF2-40B4-BE49-F238E27FC236}">
                <a16:creationId xmlns:a16="http://schemas.microsoft.com/office/drawing/2014/main" id="{387A8BCC-3796-4701-02CF-072A8E6A6645}"/>
              </a:ext>
            </a:extLst>
          </p:cNvPr>
          <p:cNvSpPr/>
          <p:nvPr/>
        </p:nvSpPr>
        <p:spPr>
          <a:xfrm>
            <a:off x="1659860" y="5687779"/>
            <a:ext cx="340844" cy="332816"/>
          </a:xfrm>
          <a:prstGeom prst="mathMultiply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0" name="Multiplication Sign 239">
            <a:extLst>
              <a:ext uri="{FF2B5EF4-FFF2-40B4-BE49-F238E27FC236}">
                <a16:creationId xmlns:a16="http://schemas.microsoft.com/office/drawing/2014/main" id="{D5B69CA8-926B-BF37-5E11-95424E3E571B}"/>
              </a:ext>
            </a:extLst>
          </p:cNvPr>
          <p:cNvSpPr/>
          <p:nvPr/>
        </p:nvSpPr>
        <p:spPr>
          <a:xfrm>
            <a:off x="1275939" y="4284601"/>
            <a:ext cx="340844" cy="332816"/>
          </a:xfrm>
          <a:prstGeom prst="mathMultiply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7BA076D-D4E3-C6B7-99AD-6B4B45BFA951}"/>
              </a:ext>
            </a:extLst>
          </p:cNvPr>
          <p:cNvSpPr/>
          <p:nvPr/>
        </p:nvSpPr>
        <p:spPr>
          <a:xfrm rot="1542774">
            <a:off x="8240163" y="21092"/>
            <a:ext cx="3191469" cy="369202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382328F9-1C22-9E2A-F92C-5254D49A12C3}"/>
              </a:ext>
            </a:extLst>
          </p:cNvPr>
          <p:cNvSpPr/>
          <p:nvPr/>
        </p:nvSpPr>
        <p:spPr>
          <a:xfrm>
            <a:off x="10038062" y="994803"/>
            <a:ext cx="93306" cy="83975"/>
          </a:xfrm>
          <a:prstGeom prst="flowChartConnector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24945FA1-0FDE-4B15-ADAB-8C5573812B0D}"/>
              </a:ext>
            </a:extLst>
          </p:cNvPr>
          <p:cNvSpPr/>
          <p:nvPr/>
        </p:nvSpPr>
        <p:spPr>
          <a:xfrm>
            <a:off x="9540992" y="2717995"/>
            <a:ext cx="45719" cy="45719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4117D-8B8E-9030-F564-71C02B48EE79}"/>
              </a:ext>
            </a:extLst>
          </p:cNvPr>
          <p:cNvSpPr txBox="1"/>
          <p:nvPr/>
        </p:nvSpPr>
        <p:spPr>
          <a:xfrm>
            <a:off x="10057767" y="793835"/>
            <a:ext cx="198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23210D-3B87-8A97-7079-A57C9BC7A262}"/>
              </a:ext>
            </a:extLst>
          </p:cNvPr>
          <p:cNvSpPr txBox="1"/>
          <p:nvPr/>
        </p:nvSpPr>
        <p:spPr>
          <a:xfrm>
            <a:off x="9340989" y="2617288"/>
            <a:ext cx="278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</a:t>
            </a:r>
            <a:endParaRPr kumimoji="0" lang="en-US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2F7E1C-482E-5F74-D0DF-2179896D5A53}"/>
              </a:ext>
            </a:extLst>
          </p:cNvPr>
          <p:cNvSpPr txBox="1"/>
          <p:nvPr/>
        </p:nvSpPr>
        <p:spPr>
          <a:xfrm>
            <a:off x="9800828" y="159004"/>
            <a:ext cx="346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1F2F6DF-BD49-888B-B703-69593FD3FDA9}"/>
              </a:ext>
            </a:extLst>
          </p:cNvPr>
          <p:cNvGrpSpPr/>
          <p:nvPr/>
        </p:nvGrpSpPr>
        <p:grpSpPr>
          <a:xfrm>
            <a:off x="9174994" y="1212882"/>
            <a:ext cx="997451" cy="1857728"/>
            <a:chOff x="9179636" y="1215476"/>
            <a:chExt cx="997451" cy="185772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BA73894-597C-A5C4-A7F7-02A7DD2067E3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9179636" y="2595813"/>
              <a:ext cx="368051" cy="128877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05389418-BD18-5F87-E18B-B6DC8D3D49D1}"/>
                </a:ext>
              </a:extLst>
            </p:cNvPr>
            <p:cNvCxnSpPr>
              <a:cxnSpLocks/>
              <a:endCxn id="9" idx="7"/>
            </p:cNvCxnSpPr>
            <p:nvPr/>
          </p:nvCxnSpPr>
          <p:spPr>
            <a:xfrm flipH="1">
              <a:off x="9580016" y="2587347"/>
              <a:ext cx="38272" cy="137343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E029B5E-4B7C-0AE0-ADAA-A200E2A72270}"/>
                </a:ext>
              </a:extLst>
            </p:cNvPr>
            <p:cNvCxnSpPr>
              <a:cxnSpLocks/>
              <a:endCxn id="9" idx="6"/>
            </p:cNvCxnSpPr>
            <p:nvPr/>
          </p:nvCxnSpPr>
          <p:spPr>
            <a:xfrm flipH="1">
              <a:off x="9586711" y="2692064"/>
              <a:ext cx="590376" cy="48791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5EF117A-C25C-C8FB-E966-91EC1FAEAB46}"/>
                </a:ext>
              </a:extLst>
            </p:cNvPr>
            <p:cNvCxnSpPr>
              <a:cxnSpLocks/>
              <a:endCxn id="9" idx="5"/>
            </p:cNvCxnSpPr>
            <p:nvPr/>
          </p:nvCxnSpPr>
          <p:spPr>
            <a:xfrm flipH="1" flipV="1">
              <a:off x="9580016" y="2757019"/>
              <a:ext cx="179682" cy="316185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6D19957-FF41-8C16-FC8F-8161B4DD32A9}"/>
                </a:ext>
              </a:extLst>
            </p:cNvPr>
            <p:cNvCxnSpPr>
              <a:cxnSpLocks/>
              <a:endCxn id="9" idx="0"/>
            </p:cNvCxnSpPr>
            <p:nvPr/>
          </p:nvCxnSpPr>
          <p:spPr>
            <a:xfrm>
              <a:off x="9182985" y="1215476"/>
              <a:ext cx="380867" cy="1502519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FCC395-55DE-EE34-167A-E295C4FCE9CF}"/>
              </a:ext>
            </a:extLst>
          </p:cNvPr>
          <p:cNvGrpSpPr/>
          <p:nvPr/>
        </p:nvGrpSpPr>
        <p:grpSpPr>
          <a:xfrm>
            <a:off x="9042546" y="1066480"/>
            <a:ext cx="1478191" cy="2008772"/>
            <a:chOff x="9042546" y="1066480"/>
            <a:chExt cx="1478191" cy="2008772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668082-2F7A-2FC7-E274-F430139A40D3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9829056" y="1066480"/>
              <a:ext cx="222670" cy="72034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F95E4A47-AAE7-23AD-4F61-5C43974265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3499" y="1779694"/>
              <a:ext cx="152399" cy="32004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AE8F14AD-8BBE-F0AF-9301-A1D5860449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42115" y="2104232"/>
              <a:ext cx="41384" cy="16618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6BE07A51-1659-93F7-9D8D-BDC771476F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46268" y="2547790"/>
              <a:ext cx="53766" cy="15389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2573CBDA-1566-44ED-6CC2-749D6B457A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0034" y="2270420"/>
              <a:ext cx="242081" cy="27737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956F2CB8-C345-259C-42B9-B7157838FF4A}"/>
                </a:ext>
              </a:extLst>
            </p:cNvPr>
            <p:cNvCxnSpPr>
              <a:cxnSpLocks/>
              <a:stCxn id="7" idx="4"/>
            </p:cNvCxnSpPr>
            <p:nvPr/>
          </p:nvCxnSpPr>
          <p:spPr>
            <a:xfrm>
              <a:off x="10084715" y="1078778"/>
              <a:ext cx="245418" cy="78460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66588F2F-7182-EFF7-443D-5504FDFAC6EF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9175918" y="1066480"/>
              <a:ext cx="875808" cy="15500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731D91BE-AF47-4443-DEE3-A22E88669F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0881" y="1708388"/>
              <a:ext cx="191896" cy="370954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A03AD21D-FE7F-3AEC-EEB5-EFCAD4BB87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75918" y="2070399"/>
              <a:ext cx="34107" cy="53595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0FD0F5DF-5541-0014-0BEF-57E8701794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24563" y="2277270"/>
              <a:ext cx="14017" cy="30768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59323B0D-EDD9-9E34-2131-E73BAE3AC6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5148" y="1863991"/>
              <a:ext cx="225814" cy="62896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46B5A834-9BCF-AF41-6496-936A5B7D45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29056" y="2471448"/>
              <a:ext cx="292708" cy="22061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730E54E6-6F0E-F8EE-0289-2185FDA035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59698" y="2692064"/>
              <a:ext cx="76200" cy="383188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F17A73BB-72F6-CB51-CB64-C01C743DDC2F}"/>
                </a:ext>
              </a:extLst>
            </p:cNvPr>
            <p:cNvCxnSpPr>
              <a:cxnSpLocks/>
            </p:cNvCxnSpPr>
            <p:nvPr/>
          </p:nvCxnSpPr>
          <p:spPr>
            <a:xfrm>
              <a:off x="10115148" y="2471448"/>
              <a:ext cx="61939" cy="22061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73BCE374-308A-8693-7286-290D60EE0A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9761" y="1748275"/>
              <a:ext cx="180976" cy="125385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621C3655-41DE-ECC6-396F-3D1AE6333B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7934" y="1770466"/>
              <a:ext cx="159930" cy="1636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ACF2FEE3-2AC9-F959-BE8D-A4FF848122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77185" y="1584622"/>
              <a:ext cx="159930" cy="16363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07C36BB-1B0A-71C9-8766-47E01C9E17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89984" y="1234313"/>
              <a:ext cx="219792" cy="481456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AFB7209A-558F-2323-7D78-1C1784103A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42546" y="1225120"/>
              <a:ext cx="140439" cy="173650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FCEB0D52-0303-63AA-BDA4-73EB88A7167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2115" y="1513253"/>
              <a:ext cx="150060" cy="18431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D646D28-7CB8-53A4-25DF-4941FFBA1A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90043" y="1948470"/>
              <a:ext cx="107908" cy="117172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FE315BC4-2AD2-A641-75C1-E7FCE967FF09}"/>
                </a:ext>
              </a:extLst>
            </p:cNvPr>
            <p:cNvCxnSpPr>
              <a:cxnSpLocks/>
            </p:cNvCxnSpPr>
            <p:nvPr/>
          </p:nvCxnSpPr>
          <p:spPr>
            <a:xfrm>
              <a:off x="9496117" y="1889878"/>
              <a:ext cx="173740" cy="222255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7BCBE5A8-380E-F639-5FCB-109AFE175C23}"/>
                </a:ext>
              </a:extLst>
            </p:cNvPr>
            <p:cNvCxnSpPr>
              <a:cxnSpLocks/>
            </p:cNvCxnSpPr>
            <p:nvPr/>
          </p:nvCxnSpPr>
          <p:spPr>
            <a:xfrm>
              <a:off x="9777911" y="2492403"/>
              <a:ext cx="52764" cy="199661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5" name="Title 1">
            <a:extLst>
              <a:ext uri="{FF2B5EF4-FFF2-40B4-BE49-F238E27FC236}">
                <a16:creationId xmlns:a16="http://schemas.microsoft.com/office/drawing/2014/main" id="{B7EF940E-49BC-56E1-2DA7-5FABE09B975E}"/>
              </a:ext>
            </a:extLst>
          </p:cNvPr>
          <p:cNvSpPr txBox="1">
            <a:spLocks/>
          </p:cNvSpPr>
          <p:nvPr/>
        </p:nvSpPr>
        <p:spPr>
          <a:xfrm>
            <a:off x="563892" y="249105"/>
            <a:ext cx="9692640" cy="6727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Index build: prune candidates to size</a:t>
            </a:r>
            <a:endParaRPr kumimoji="0" lang="en-US" sz="5400" b="0" i="0" u="none" strike="noStrike" kern="1200" cap="none" spc="-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2D44F77-2D39-296A-6AEC-1CDCC8B964D9}"/>
              </a:ext>
            </a:extLst>
          </p:cNvPr>
          <p:cNvCxnSpPr>
            <a:cxnSpLocks/>
          </p:cNvCxnSpPr>
          <p:nvPr/>
        </p:nvCxnSpPr>
        <p:spPr>
          <a:xfrm>
            <a:off x="1848273" y="4681846"/>
            <a:ext cx="593167" cy="139240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prstDash val="sysDot"/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87784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197"/>
    </mc:Choice>
    <mc:Fallback xmlns="">
      <p:transition spd="slow" advTm="641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239" grpId="0" animBg="1"/>
      <p:bldP spid="24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6B5F5-0C77-5623-F283-3D117744A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1"/>
            <a:ext cx="9692640" cy="881148"/>
          </a:xfrm>
        </p:spPr>
        <p:txBody>
          <a:bodyPr>
            <a:normAutofit fontScale="90000"/>
          </a:bodyPr>
          <a:lstStyle/>
          <a:p>
            <a:r>
              <a:rPr lang="en-US" dirty="0"/>
              <a:t>Upper Bound on Query Complexity</a:t>
            </a:r>
            <a:br>
              <a:rPr lang="en-US" dirty="0"/>
            </a:br>
            <a:r>
              <a:rPr lang="en-US" sz="2700" dirty="0"/>
              <a:t>[Indyk, Xu’23, arXiv:2310.19126]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99CC4-F829-0DEF-658C-696A6F88F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1872" y="1741139"/>
                <a:ext cx="8595360" cy="47511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For a data set with doubling dimension </a:t>
                </a:r>
                <a:r>
                  <a:rPr lang="en-US" b="1" i="1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d</a:t>
                </a:r>
                <a:r>
                  <a:rPr lang="en-US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 , 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and aspect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 (ratio of diameter to the distance between closest pair)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836967"/>
                    </a:solidFill>
                    <a:latin typeface="Cambria Math" panose="02040503050406030204" pitchFamily="18" charset="0"/>
                  </a:rPr>
                  <a:t>Greedy Search provides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𝑎𝑝𝑝𝑟𝑜𝑥𝑖𝑚𝑎𝑡𝑖𝑜𝑛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b>
                            </m:sSub>
                          </m:fName>
                          <m:e>
                            <m:f>
                              <m:f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num>
                              <m:den>
                                <m:d>
                                  <m:dPr>
                                    <m:ctrlPr>
                                      <a:rPr lang="en-US" i="1" dirty="0">
                                        <a:solidFill>
                                          <a:srgbClr val="83696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  <m:r>
                                      <a:rPr lang="en-US" i="0" dirty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den>
                            </m:f>
                          </m:e>
                        </m:func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𝑠𝑡𝑒𝑝𝑠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0</m:t>
                    </m:r>
                    <m:d>
                      <m:d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e>
                            </m:d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n-US" i="0" dirty="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</m:func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𝑑𝑒𝑔𝑟𝑒𝑒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799CC4-F829-0DEF-658C-696A6F88F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1872" y="1741139"/>
                <a:ext cx="8595360" cy="4751100"/>
              </a:xfrm>
              <a:blipFill>
                <a:blip r:embed="rId3"/>
                <a:stretch>
                  <a:fillRect l="-567" t="-11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3958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8C97B-CE6F-463B-9823-66B35FC0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627" y="283179"/>
            <a:ext cx="9692640" cy="672704"/>
          </a:xfrm>
        </p:spPr>
        <p:txBody>
          <a:bodyPr>
            <a:normAutofit fontScale="90000"/>
          </a:bodyPr>
          <a:lstStyle/>
          <a:p>
            <a:r>
              <a:rPr lang="en-US" dirty="0"/>
              <a:t>Delete (p)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F3DFF-D965-454A-B1AB-0B2A43102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228638"/>
            <a:ext cx="8595360" cy="47511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+mj-lt"/>
              </a:rPr>
              <a:t>For all </a:t>
            </a:r>
            <a:r>
              <a:rPr lang="en-US" sz="2400" b="1" i="1" dirty="0">
                <a:latin typeface="+mj-lt"/>
              </a:rPr>
              <a:t>u</a:t>
            </a:r>
            <a:r>
              <a:rPr lang="en-US" sz="2400" dirty="0">
                <a:latin typeface="+mj-lt"/>
              </a:rPr>
              <a:t>, that are in-neighbors of </a:t>
            </a:r>
            <a:r>
              <a:rPr lang="en-US" sz="2400" b="1" i="1" dirty="0">
                <a:latin typeface="+mj-lt"/>
              </a:rPr>
              <a:t>p</a:t>
            </a:r>
            <a:r>
              <a:rPr lang="en-US" sz="2400" dirty="0">
                <a:latin typeface="+mj-lt"/>
              </a:rPr>
              <a:t>, </a:t>
            </a:r>
          </a:p>
          <a:p>
            <a:pPr marL="0" indent="0">
              <a:buNone/>
            </a:pPr>
            <a:endParaRPr lang="en-US" sz="2400" dirty="0">
              <a:latin typeface="+mj-lt"/>
            </a:endParaRP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	</a:t>
            </a:r>
          </a:p>
          <a:p>
            <a:pPr marL="0" indent="0">
              <a:buNone/>
            </a:pPr>
            <a:r>
              <a:rPr lang="en-US" sz="2400" b="1" i="1" dirty="0">
                <a:latin typeface="+mj-lt"/>
              </a:rPr>
              <a:t>	N(u) </a:t>
            </a:r>
            <a:r>
              <a:rPr lang="en-US" sz="2400" b="1" i="1" dirty="0">
                <a:latin typeface="+mj-lt"/>
                <a:sym typeface="Wingdings" panose="05000000000000000000" pitchFamily="2" charset="2"/>
              </a:rPr>
              <a:t> N(u) U  N(p)</a:t>
            </a:r>
          </a:p>
          <a:p>
            <a:pPr marL="0" indent="0">
              <a:buNone/>
            </a:pPr>
            <a:endParaRPr lang="en-US" sz="2400" dirty="0">
              <a:latin typeface="+mj-lt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400" dirty="0">
              <a:latin typeface="+mj-lt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 dirty="0">
                <a:latin typeface="+mj-lt"/>
                <a:sym typeface="Wingdings" panose="05000000000000000000" pitchFamily="2" charset="2"/>
              </a:rPr>
              <a:t>	If </a:t>
            </a:r>
            <a:r>
              <a:rPr lang="en-US" sz="2400" b="1" dirty="0">
                <a:latin typeface="+mj-lt"/>
                <a:sym typeface="Wingdings" panose="05000000000000000000" pitchFamily="2" charset="2"/>
              </a:rPr>
              <a:t>|</a:t>
            </a:r>
            <a:r>
              <a:rPr lang="en-US" sz="2400" b="1" i="1" dirty="0">
                <a:latin typeface="+mj-lt"/>
                <a:sym typeface="Wingdings" panose="05000000000000000000" pitchFamily="2" charset="2"/>
              </a:rPr>
              <a:t>N(u)</a:t>
            </a:r>
            <a:r>
              <a:rPr lang="en-US" sz="2400" b="1" dirty="0">
                <a:latin typeface="+mj-lt"/>
                <a:sym typeface="Wingdings" panose="05000000000000000000" pitchFamily="2" charset="2"/>
              </a:rPr>
              <a:t>| </a:t>
            </a:r>
            <a:r>
              <a:rPr lang="en-US" sz="2400" dirty="0">
                <a:latin typeface="+mj-lt"/>
                <a:sym typeface="Wingdings" panose="05000000000000000000" pitchFamily="2" charset="2"/>
              </a:rPr>
              <a:t>exceeds budget</a:t>
            </a:r>
          </a:p>
          <a:p>
            <a:pPr marL="0" indent="0">
              <a:buNone/>
            </a:pPr>
            <a:r>
              <a:rPr lang="en-US" sz="2400" dirty="0">
                <a:latin typeface="+mj-lt"/>
                <a:sym typeface="Wingdings" panose="05000000000000000000" pitchFamily="2" charset="2"/>
              </a:rPr>
              <a:t>		prune </a:t>
            </a:r>
            <a:r>
              <a:rPr lang="en-US" sz="2400" b="1" i="1" dirty="0">
                <a:latin typeface="+mj-lt"/>
                <a:sym typeface="Wingdings" panose="05000000000000000000" pitchFamily="2" charset="2"/>
              </a:rPr>
              <a:t>N(u) </a:t>
            </a:r>
            <a:r>
              <a:rPr lang="en-US" sz="2400" dirty="0">
                <a:sym typeface="Wingdings" panose="05000000000000000000" pitchFamily="2" charset="2"/>
              </a:rPr>
              <a:t>with </a:t>
            </a:r>
            <a:r>
              <a:rPr lang="el-GR" sz="2400" b="1" i="1" dirty="0">
                <a:latin typeface="Consolas" panose="020B0609020204030204" pitchFamily="49" charset="0"/>
              </a:rPr>
              <a:t>α</a:t>
            </a:r>
            <a:r>
              <a:rPr lang="en-US" sz="2400" b="1" i="1" dirty="0">
                <a:latin typeface="Consolas" panose="020B0609020204030204" pitchFamily="49" charset="0"/>
              </a:rPr>
              <a:t>&gt;1</a:t>
            </a:r>
            <a:endParaRPr lang="en-US" sz="2400" i="1" dirty="0"/>
          </a:p>
          <a:p>
            <a:pPr marL="0" indent="0">
              <a:buNone/>
            </a:pPr>
            <a:endParaRPr lang="en-US" sz="2400" b="1" i="1" dirty="0">
              <a:latin typeface="+mj-lt"/>
              <a:sym typeface="Wingdings" panose="05000000000000000000" pitchFamily="2" charset="2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883DDE4-0B7B-4460-B53A-245B1E7DB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8CA98-4B3E-45B8-86CF-0AF560487EB6}" type="datetime1">
              <a:rPr lang="en-US" smtClean="0"/>
              <a:t>11/13/2025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6B59E71-5BF3-4CBE-8D09-D560C21CB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7BA31737-66ED-4538-8E4A-5B6F08D0267E}" type="slidenum">
              <a:rPr lang="en-US" smtClean="0"/>
              <a:t>33</a:t>
            </a:fld>
            <a:endParaRPr lang="en-US"/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1387599-4C9C-4E99-B6ED-CEEC4165EF76}"/>
              </a:ext>
            </a:extLst>
          </p:cNvPr>
          <p:cNvGrpSpPr/>
          <p:nvPr/>
        </p:nvGrpSpPr>
        <p:grpSpPr>
          <a:xfrm>
            <a:off x="5838724" y="776665"/>
            <a:ext cx="2391821" cy="1425312"/>
            <a:chOff x="6486081" y="1632437"/>
            <a:chExt cx="2391821" cy="1425312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2306F32-C3EE-4819-AED9-929713D70564}"/>
                </a:ext>
              </a:extLst>
            </p:cNvPr>
            <p:cNvSpPr/>
            <p:nvPr/>
          </p:nvSpPr>
          <p:spPr>
            <a:xfrm>
              <a:off x="6866527" y="1952298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27157D7-B0FB-4E07-8AAE-0BE496E3C6A3}"/>
                </a:ext>
              </a:extLst>
            </p:cNvPr>
            <p:cNvSpPr txBox="1"/>
            <p:nvPr/>
          </p:nvSpPr>
          <p:spPr>
            <a:xfrm flipH="1">
              <a:off x="6486081" y="1690688"/>
              <a:ext cx="3804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dirty="0">
                  <a:latin typeface="+mj-lt"/>
                </a:rPr>
                <a:t>u</a:t>
              </a:r>
              <a:endParaRPr lang="en-US" b="1" i="1" baseline="-25000" dirty="0">
                <a:latin typeface="+mj-lt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ABF71C0-F948-46F4-8E8A-1C1C68E7036D}"/>
                </a:ext>
              </a:extLst>
            </p:cNvPr>
            <p:cNvCxnSpPr>
              <a:cxnSpLocks/>
              <a:stCxn id="4" idx="5"/>
              <a:endCxn id="10" idx="1"/>
            </p:cNvCxnSpPr>
            <p:nvPr/>
          </p:nvCxnSpPr>
          <p:spPr>
            <a:xfrm>
              <a:off x="6940353" y="2034208"/>
              <a:ext cx="1014847" cy="436379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BF8D3C9-F5F5-4DAB-8DF3-0C6E4E39D75C}"/>
                </a:ext>
              </a:extLst>
            </p:cNvPr>
            <p:cNvSpPr txBox="1"/>
            <p:nvPr/>
          </p:nvSpPr>
          <p:spPr>
            <a:xfrm>
              <a:off x="7847502" y="2527767"/>
              <a:ext cx="36304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dirty="0">
                  <a:latin typeface="+mj-lt"/>
                </a:rPr>
                <a:t>p</a:t>
              </a:r>
              <a:endParaRPr lang="en-US" b="1" i="1" baseline="-25000" dirty="0"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7337D45-6814-4EED-ADDC-F8F1342CEDF8}"/>
                </a:ext>
              </a:extLst>
            </p:cNvPr>
            <p:cNvSpPr/>
            <p:nvPr/>
          </p:nvSpPr>
          <p:spPr>
            <a:xfrm>
              <a:off x="7942533" y="2456533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1E89B1B-1808-4F91-9F81-3842555AAF13}"/>
                </a:ext>
              </a:extLst>
            </p:cNvPr>
            <p:cNvSpPr/>
            <p:nvPr/>
          </p:nvSpPr>
          <p:spPr>
            <a:xfrm>
              <a:off x="8100548" y="1833754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CD30D17-E46E-47F2-AB74-9AF8DD0F3AE8}"/>
                </a:ext>
              </a:extLst>
            </p:cNvPr>
            <p:cNvSpPr/>
            <p:nvPr/>
          </p:nvSpPr>
          <p:spPr>
            <a:xfrm>
              <a:off x="8791409" y="2360569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FDE2DE8-E79A-4FB8-96D3-E37E24211983}"/>
                </a:ext>
              </a:extLst>
            </p:cNvPr>
            <p:cNvSpPr/>
            <p:nvPr/>
          </p:nvSpPr>
          <p:spPr>
            <a:xfrm>
              <a:off x="7584850" y="2961785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9289FBA-A6B5-4B11-8E43-CA0713D4BBA8}"/>
                </a:ext>
              </a:extLst>
            </p:cNvPr>
            <p:cNvCxnSpPr>
              <a:cxnSpLocks/>
              <a:stCxn id="10" idx="0"/>
              <a:endCxn id="11" idx="4"/>
            </p:cNvCxnSpPr>
            <p:nvPr/>
          </p:nvCxnSpPr>
          <p:spPr>
            <a:xfrm flipV="1">
              <a:off x="7985780" y="1929718"/>
              <a:ext cx="158015" cy="526815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CA91A19-1E26-4165-9B5A-9ECB6A6F121C}"/>
                </a:ext>
              </a:extLst>
            </p:cNvPr>
            <p:cNvCxnSpPr>
              <a:cxnSpLocks/>
              <a:stCxn id="10" idx="6"/>
              <a:endCxn id="12" idx="2"/>
            </p:cNvCxnSpPr>
            <p:nvPr/>
          </p:nvCxnSpPr>
          <p:spPr>
            <a:xfrm flipV="1">
              <a:off x="8029026" y="2408551"/>
              <a:ext cx="762383" cy="95964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6D71667-EDD9-4E31-B7AA-8352BD172B3D}"/>
                </a:ext>
              </a:extLst>
            </p:cNvPr>
            <p:cNvCxnSpPr>
              <a:cxnSpLocks/>
              <a:stCxn id="10" idx="3"/>
              <a:endCxn id="13" idx="7"/>
            </p:cNvCxnSpPr>
            <p:nvPr/>
          </p:nvCxnSpPr>
          <p:spPr>
            <a:xfrm flipH="1">
              <a:off x="7658676" y="2538443"/>
              <a:ext cx="296524" cy="437396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25CA36A-6E83-4B9B-BF54-49F4F223A5B4}"/>
                </a:ext>
              </a:extLst>
            </p:cNvPr>
            <p:cNvSpPr/>
            <p:nvPr/>
          </p:nvSpPr>
          <p:spPr>
            <a:xfrm>
              <a:off x="6817859" y="2730779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E1227B2-2AD1-4E82-952E-633B8D1BD400}"/>
                </a:ext>
              </a:extLst>
            </p:cNvPr>
            <p:cNvSpPr/>
            <p:nvPr/>
          </p:nvSpPr>
          <p:spPr>
            <a:xfrm>
              <a:off x="7658676" y="1632437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9A952C6-E8BC-4648-9216-F6930D66725D}"/>
                </a:ext>
              </a:extLst>
            </p:cNvPr>
            <p:cNvCxnSpPr>
              <a:cxnSpLocks/>
              <a:stCxn id="4" idx="4"/>
              <a:endCxn id="23" idx="0"/>
            </p:cNvCxnSpPr>
            <p:nvPr/>
          </p:nvCxnSpPr>
          <p:spPr>
            <a:xfrm flipH="1">
              <a:off x="6861106" y="2048262"/>
              <a:ext cx="48668" cy="682517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E55E9947-AD92-46B3-9D2E-DA9650D7F3CF}"/>
                </a:ext>
              </a:extLst>
            </p:cNvPr>
            <p:cNvCxnSpPr>
              <a:cxnSpLocks/>
              <a:stCxn id="4" idx="7"/>
              <a:endCxn id="24" idx="3"/>
            </p:cNvCxnSpPr>
            <p:nvPr/>
          </p:nvCxnSpPr>
          <p:spPr>
            <a:xfrm flipV="1">
              <a:off x="6940353" y="1714347"/>
              <a:ext cx="730990" cy="252005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E252E8EB-C88E-41E8-B4DA-8228D685DE11}"/>
              </a:ext>
            </a:extLst>
          </p:cNvPr>
          <p:cNvGrpSpPr/>
          <p:nvPr/>
        </p:nvGrpSpPr>
        <p:grpSpPr>
          <a:xfrm>
            <a:off x="5815408" y="2538046"/>
            <a:ext cx="2391821" cy="1425312"/>
            <a:chOff x="6399588" y="3569606"/>
            <a:chExt cx="2391821" cy="1425312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7D3B33E-6FCA-461D-9D36-208E368151F7}"/>
                </a:ext>
              </a:extLst>
            </p:cNvPr>
            <p:cNvSpPr/>
            <p:nvPr/>
          </p:nvSpPr>
          <p:spPr>
            <a:xfrm>
              <a:off x="6780034" y="3889467"/>
              <a:ext cx="86493" cy="9596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359F9615-BA63-441A-BF3C-F47097BE6216}"/>
                </a:ext>
              </a:extLst>
            </p:cNvPr>
            <p:cNvSpPr txBox="1"/>
            <p:nvPr/>
          </p:nvSpPr>
          <p:spPr>
            <a:xfrm flipH="1">
              <a:off x="6399588" y="3627857"/>
              <a:ext cx="3804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dirty="0">
                  <a:latin typeface="+mj-lt"/>
                </a:rPr>
                <a:t>u</a:t>
              </a:r>
              <a:endParaRPr lang="en-US" b="1" i="1" baseline="-25000" dirty="0">
                <a:latin typeface="+mj-lt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78CA715A-350E-43B7-9D23-A9A83F83DA8C}"/>
                </a:ext>
              </a:extLst>
            </p:cNvPr>
            <p:cNvSpPr/>
            <p:nvPr/>
          </p:nvSpPr>
          <p:spPr>
            <a:xfrm>
              <a:off x="8014055" y="3770923"/>
              <a:ext cx="86493" cy="9596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AAE43A46-0649-4A2F-BAA2-BBAAB988B951}"/>
                </a:ext>
              </a:extLst>
            </p:cNvPr>
            <p:cNvSpPr/>
            <p:nvPr/>
          </p:nvSpPr>
          <p:spPr>
            <a:xfrm>
              <a:off x="8704916" y="4297738"/>
              <a:ext cx="86493" cy="9596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8AF0FEA-FAF8-4362-B1B2-7CE23F3307AA}"/>
                </a:ext>
              </a:extLst>
            </p:cNvPr>
            <p:cNvSpPr/>
            <p:nvPr/>
          </p:nvSpPr>
          <p:spPr>
            <a:xfrm>
              <a:off x="7498357" y="4898954"/>
              <a:ext cx="86493" cy="9596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B3C4B3F3-F4CC-4B88-BD22-B799F5EA5396}"/>
                </a:ext>
              </a:extLst>
            </p:cNvPr>
            <p:cNvCxnSpPr>
              <a:cxnSpLocks/>
              <a:stCxn id="68" idx="6"/>
              <a:endCxn id="73" idx="2"/>
            </p:cNvCxnSpPr>
            <p:nvPr/>
          </p:nvCxnSpPr>
          <p:spPr>
            <a:xfrm flipV="1">
              <a:off x="6866527" y="3818905"/>
              <a:ext cx="1147528" cy="118544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4D8229F5-7090-4EAE-9562-DBB12368C67D}"/>
                </a:ext>
              </a:extLst>
            </p:cNvPr>
            <p:cNvCxnSpPr>
              <a:cxnSpLocks/>
              <a:stCxn id="68" idx="5"/>
              <a:endCxn id="74" idx="2"/>
            </p:cNvCxnSpPr>
            <p:nvPr/>
          </p:nvCxnSpPr>
          <p:spPr>
            <a:xfrm>
              <a:off x="6853860" y="3971377"/>
              <a:ext cx="1851056" cy="374343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7F7AD79C-640A-4671-91D4-2ABC4225EB6F}"/>
                </a:ext>
              </a:extLst>
            </p:cNvPr>
            <p:cNvCxnSpPr>
              <a:cxnSpLocks/>
              <a:stCxn id="68" idx="5"/>
              <a:endCxn id="75" idx="1"/>
            </p:cNvCxnSpPr>
            <p:nvPr/>
          </p:nvCxnSpPr>
          <p:spPr>
            <a:xfrm>
              <a:off x="6853860" y="3971377"/>
              <a:ext cx="657164" cy="941631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50ABDC7-BAB2-4E8A-9F4D-F4FD2CF99B2C}"/>
                </a:ext>
              </a:extLst>
            </p:cNvPr>
            <p:cNvSpPr/>
            <p:nvPr/>
          </p:nvSpPr>
          <p:spPr>
            <a:xfrm>
              <a:off x="6731366" y="4667948"/>
              <a:ext cx="86493" cy="9596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ED9E251A-5BB4-4D8C-8680-E3029767326F}"/>
                </a:ext>
              </a:extLst>
            </p:cNvPr>
            <p:cNvSpPr/>
            <p:nvPr/>
          </p:nvSpPr>
          <p:spPr>
            <a:xfrm>
              <a:off x="7572183" y="3569606"/>
              <a:ext cx="86493" cy="9596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6D2A4907-1CA6-4288-A79E-B9A4E4B28887}"/>
                </a:ext>
              </a:extLst>
            </p:cNvPr>
            <p:cNvCxnSpPr>
              <a:cxnSpLocks/>
              <a:stCxn id="68" idx="4"/>
              <a:endCxn id="79" idx="0"/>
            </p:cNvCxnSpPr>
            <p:nvPr/>
          </p:nvCxnSpPr>
          <p:spPr>
            <a:xfrm flipH="1">
              <a:off x="6774613" y="3985431"/>
              <a:ext cx="48668" cy="682517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72958AA7-47AE-49F8-AAF1-E11B99841F7B}"/>
                </a:ext>
              </a:extLst>
            </p:cNvPr>
            <p:cNvCxnSpPr>
              <a:cxnSpLocks/>
              <a:stCxn id="68" idx="7"/>
              <a:endCxn id="80" idx="2"/>
            </p:cNvCxnSpPr>
            <p:nvPr/>
          </p:nvCxnSpPr>
          <p:spPr>
            <a:xfrm flipV="1">
              <a:off x="6853860" y="3617588"/>
              <a:ext cx="718323" cy="285933"/>
            </a:xfrm>
            <a:prstGeom prst="straightConnector1">
              <a:avLst/>
            </a:prstGeom>
            <a:ln w="22225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E04E76E2-79D9-498D-865B-4A89859B3F48}"/>
              </a:ext>
            </a:extLst>
          </p:cNvPr>
          <p:cNvGrpSpPr/>
          <p:nvPr/>
        </p:nvGrpSpPr>
        <p:grpSpPr>
          <a:xfrm>
            <a:off x="5858654" y="4369791"/>
            <a:ext cx="2391821" cy="1425312"/>
            <a:chOff x="6399588" y="5266875"/>
            <a:chExt cx="2391821" cy="1425312"/>
          </a:xfrm>
        </p:grpSpPr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F15EBA72-A65F-4E4B-8281-37012884BA0A}"/>
                </a:ext>
              </a:extLst>
            </p:cNvPr>
            <p:cNvSpPr/>
            <p:nvPr/>
          </p:nvSpPr>
          <p:spPr>
            <a:xfrm>
              <a:off x="6780034" y="5586736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6489E1E8-372C-4D60-82C2-B98ED1A6676B}"/>
                </a:ext>
              </a:extLst>
            </p:cNvPr>
            <p:cNvSpPr txBox="1"/>
            <p:nvPr/>
          </p:nvSpPr>
          <p:spPr>
            <a:xfrm flipH="1">
              <a:off x="6399588" y="5325126"/>
              <a:ext cx="3804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i="1" dirty="0">
                  <a:latin typeface="+mj-lt"/>
                </a:rPr>
                <a:t>u</a:t>
              </a:r>
              <a:endParaRPr lang="en-US" b="1" i="1" baseline="-25000" dirty="0">
                <a:latin typeface="+mj-lt"/>
              </a:endParaRP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526495B1-ACBB-4870-971C-BE1ECC91B5D7}"/>
                </a:ext>
              </a:extLst>
            </p:cNvPr>
            <p:cNvSpPr/>
            <p:nvPr/>
          </p:nvSpPr>
          <p:spPr>
            <a:xfrm>
              <a:off x="8014055" y="5468192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3EC426CC-3923-451C-9CBF-0063CB88BC6C}"/>
                </a:ext>
              </a:extLst>
            </p:cNvPr>
            <p:cNvSpPr/>
            <p:nvPr/>
          </p:nvSpPr>
          <p:spPr>
            <a:xfrm>
              <a:off x="8704916" y="5995007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F943A2FF-3D85-4920-9BE9-B7195677BF31}"/>
                </a:ext>
              </a:extLst>
            </p:cNvPr>
            <p:cNvSpPr/>
            <p:nvPr/>
          </p:nvSpPr>
          <p:spPr>
            <a:xfrm>
              <a:off x="7498357" y="6596223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F63B3A0E-1704-47EE-9507-E819D5252BE2}"/>
                </a:ext>
              </a:extLst>
            </p:cNvPr>
            <p:cNvCxnSpPr>
              <a:cxnSpLocks/>
              <a:stCxn id="86" idx="6"/>
              <a:endCxn id="89" idx="2"/>
            </p:cNvCxnSpPr>
            <p:nvPr/>
          </p:nvCxnSpPr>
          <p:spPr>
            <a:xfrm>
              <a:off x="6866527" y="5634718"/>
              <a:ext cx="1838389" cy="408271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0868E88C-4936-47D5-AA51-DBD035DE03C3}"/>
                </a:ext>
              </a:extLst>
            </p:cNvPr>
            <p:cNvSpPr/>
            <p:nvPr/>
          </p:nvSpPr>
          <p:spPr>
            <a:xfrm>
              <a:off x="6731366" y="6365217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C1757A3D-83D3-445A-9FDC-5358DDED4BBD}"/>
                </a:ext>
              </a:extLst>
            </p:cNvPr>
            <p:cNvSpPr/>
            <p:nvPr/>
          </p:nvSpPr>
          <p:spPr>
            <a:xfrm>
              <a:off x="7572183" y="5266875"/>
              <a:ext cx="86493" cy="95964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79E7735C-1184-44AC-A3F7-1BBA0F12896B}"/>
                </a:ext>
              </a:extLst>
            </p:cNvPr>
            <p:cNvCxnSpPr>
              <a:cxnSpLocks/>
              <a:stCxn id="86" idx="4"/>
              <a:endCxn id="94" idx="0"/>
            </p:cNvCxnSpPr>
            <p:nvPr/>
          </p:nvCxnSpPr>
          <p:spPr>
            <a:xfrm flipH="1">
              <a:off x="6774613" y="5682700"/>
              <a:ext cx="48668" cy="682517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7EF604C3-1453-40A2-BF3C-47C5B7A5E066}"/>
                </a:ext>
              </a:extLst>
            </p:cNvPr>
            <p:cNvCxnSpPr>
              <a:cxnSpLocks/>
              <a:stCxn id="86" idx="7"/>
              <a:endCxn id="95" idx="2"/>
            </p:cNvCxnSpPr>
            <p:nvPr/>
          </p:nvCxnSpPr>
          <p:spPr>
            <a:xfrm flipV="1">
              <a:off x="6853860" y="5314857"/>
              <a:ext cx="718323" cy="285933"/>
            </a:xfrm>
            <a:prstGeom prst="straightConnector1">
              <a:avLst/>
            </a:prstGeom>
            <a:ln w="19050">
              <a:solidFill>
                <a:schemeClr val="accent1"/>
              </a:solidFill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1C185A5-7F58-E058-CD65-4FA2304E4C4A}"/>
              </a:ext>
            </a:extLst>
          </p:cNvPr>
          <p:cNvSpPr txBox="1"/>
          <p:nvPr/>
        </p:nvSpPr>
        <p:spPr>
          <a:xfrm>
            <a:off x="1863074" y="5938458"/>
            <a:ext cx="723363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Eager execution requires in-graph, which doubles memory footprint</a:t>
            </a:r>
          </a:p>
          <a:p>
            <a:pPr algn="ctr"/>
            <a:r>
              <a:rPr lang="en-US" dirty="0"/>
              <a:t>In practice, do lazily, to avoid in-graph and amortize cost better</a:t>
            </a:r>
            <a:endParaRPr 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088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68"/>
    </mc:Choice>
    <mc:Fallback xmlns="">
      <p:transition spd="slow" advTm="3446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2.6|1.4|1.5|5.7|11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19.2|13.1|24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|1.3|1.2|1|4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9|13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|2.3|4.1|11|6.5|2.9|3.6|4.7|1.5|2.4|2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15.8|1.2|8.5|3|13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15.8|1.2|8.5|3|13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9|5.6|5.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Aptos Display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3060</TotalTime>
  <Words>2963</Words>
  <Application>Microsoft Office PowerPoint</Application>
  <PresentationFormat>Widescreen</PresentationFormat>
  <Paragraphs>575</Paragraphs>
  <Slides>33</Slides>
  <Notes>17</Notes>
  <HiddenSlides>7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8" baseType="lpstr">
      <vt:lpstr>Abadi Extra Light</vt:lpstr>
      <vt:lpstr>-apple-system</vt:lpstr>
      <vt:lpstr>Aptos</vt:lpstr>
      <vt:lpstr>Aptos Display</vt:lpstr>
      <vt:lpstr>Arial</vt:lpstr>
      <vt:lpstr>Calibri</vt:lpstr>
      <vt:lpstr>Calibri Light</vt:lpstr>
      <vt:lpstr>Cambria Math</vt:lpstr>
      <vt:lpstr>Century Schoolbook</vt:lpstr>
      <vt:lpstr>Consolas</vt:lpstr>
      <vt:lpstr>Helvetica Neue</vt:lpstr>
      <vt:lpstr>Seaford</vt:lpstr>
      <vt:lpstr>Segoe UI</vt:lpstr>
      <vt:lpstr>Wingdings</vt:lpstr>
      <vt:lpstr>Office Theme</vt:lpstr>
      <vt:lpstr>  The DiskANN Vector Indexing Library:  From Ideas to Microsoft Scale</vt:lpstr>
      <vt:lpstr>Outline</vt:lpstr>
      <vt:lpstr>Semantic retrieval with embeddings + ANNS</vt:lpstr>
      <vt:lpstr>Long history of work.. In academia and industry</vt:lpstr>
      <vt:lpstr>The scale and scope of vector search at Microsoft</vt:lpstr>
      <vt:lpstr>The DiskANN project: Algorithmic Innovations</vt:lpstr>
      <vt:lpstr>PowerPoint Presentation</vt:lpstr>
      <vt:lpstr>LSH, Clustering and Graph-based indices at 100M scale</vt:lpstr>
      <vt:lpstr>DiskANN: High recall, low latency via hybrid DRAM+SSD index [Subramanya, Devvrit, Kadekodi, Krishnaswamy, Simhadri’19]</vt:lpstr>
      <vt:lpstr>DiskANN graph (right) has a mix of nearest neighbors and diverse long-range edges for fast navigation</vt:lpstr>
      <vt:lpstr>90+% points 6-hops from start  Fewer SSD Round Trips</vt:lpstr>
      <vt:lpstr>Recall, latency, QPS and IO/s for 100-degree graph </vt:lpstr>
      <vt:lpstr>Scale further to 50B vector index [Adams, Li, Zhang, Tan, Chen, Li, Li, Risvik, Simhadri’25]</vt:lpstr>
      <vt:lpstr>Problem 2: Recall with deletes and distribution drift</vt:lpstr>
      <vt:lpstr>In place Updates for DiskANN with Stable Recall [Xu, Manohar, Bernstein, Chandramouli, Wen, Simhadri’25]</vt:lpstr>
      <vt:lpstr>Fresh-DiskANN System reduces write amplification [Singh, Subramanya, Krishnaswamy, Simhadri’21]</vt:lpstr>
      <vt:lpstr>Problem 3: Vector queries with predicates are slow and inaccurate</vt:lpstr>
      <vt:lpstr>Index using filter information + vector geometry</vt:lpstr>
      <vt:lpstr>OSS Release (~2023) and Industry Impact</vt:lpstr>
      <vt:lpstr>Lessons learnt from deployments</vt:lpstr>
      <vt:lpstr>Emergence of Specialized Vector Databases</vt:lpstr>
      <vt:lpstr>DiskANN as in-process stateless library for any DB</vt:lpstr>
      <vt:lpstr>New Algorithmic Challenges</vt:lpstr>
      <vt:lpstr>DiskANN + Bf-tree  Bf-Tree: A Modern Read-Write-Optimized Concurrent Larger-Than-Memory Range Index [Hao, Chandramouli, ‘24]</vt:lpstr>
      <vt:lpstr>DiskANN + Cosmos DB NoSQL</vt:lpstr>
      <vt:lpstr>Conclusion</vt:lpstr>
      <vt:lpstr>aka.ms/Microsoft_VLDB25 for papers, demos, talks, job openings</vt:lpstr>
      <vt:lpstr>BigANN@ NeurIPS’21: Six 1B scale Datasets from INRIA/IRISA, Meta, Microsoft, Yandex Software and Hardware Tracks with baselines</vt:lpstr>
      <vt:lpstr>Big ANN @ NeurIPS’23: Variations in Vector Seach  Harsha Simhadri*, Martin Aumüller¤, Dmitry Baranchuk‡, Matthijs Douze†, Amir Ingber*, Edo Liberty*, Frank Liu §, George Williams**  *Microsoft, ¤IT University of Copenhagen, †Meta AI Research, *Pinecone, ‡Yandex Labs, §Zilliz, **Ansible AI </vt:lpstr>
      <vt:lpstr>Index build, point by point</vt:lpstr>
      <vt:lpstr>PowerPoint Presentation</vt:lpstr>
      <vt:lpstr>Upper Bound on Query Complexity [Indyk, Xu’23, arXiv:2310.19126]</vt:lpstr>
      <vt:lpstr>Delete (p)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Vardhan Simhadri</dc:creator>
  <cp:lastModifiedBy>Harsha Vardhan Simhadri</cp:lastModifiedBy>
  <cp:revision>3</cp:revision>
  <dcterms:created xsi:type="dcterms:W3CDTF">2025-08-24T19:10:52Z</dcterms:created>
  <dcterms:modified xsi:type="dcterms:W3CDTF">2025-11-13T15:59:26Z</dcterms:modified>
</cp:coreProperties>
</file>